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7"/>
  </p:notesMasterIdLst>
  <p:sldIdLst>
    <p:sldId id="264" r:id="rId5"/>
    <p:sldId id="26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AF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5A6815-BAA7-47E9-B8D9-43DB94943FB5}" v="3" dt="2025-11-18T17:56:20.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2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1ED0B-613F-418D-A07B-FBE2BBCB604B}"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C24B-5B2E-43D4-832F-1EA2B34114F2}" type="slidenum">
              <a:rPr lang="en-US" smtClean="0"/>
              <a:t>‹#›</a:t>
            </a:fld>
            <a:endParaRPr lang="en-US"/>
          </a:p>
        </p:txBody>
      </p:sp>
    </p:spTree>
    <p:extLst>
      <p:ext uri="{BB962C8B-B14F-4D97-AF65-F5344CB8AC3E}">
        <p14:creationId xmlns:p14="http://schemas.microsoft.com/office/powerpoint/2010/main" val="2717135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A1579-815D-C309-CC6C-2C897EA448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1CB984-BCBA-239F-48F1-62CAEDD9B2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E93133-363F-4F58-7450-0897FA9C0562}"/>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5" name="Footer Placeholder 4">
            <a:extLst>
              <a:ext uri="{FF2B5EF4-FFF2-40B4-BE49-F238E27FC236}">
                <a16:creationId xmlns:a16="http://schemas.microsoft.com/office/drawing/2014/main" id="{890CEA02-18C7-107E-9AD3-6A412543A2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24A61-9AD7-455A-AF42-A161EC69507F}"/>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2941105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F377-F3EE-ED92-9110-D3EE3EF47C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EDCF50-EE73-B377-0F94-ED19EB586B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A5DBC7-E996-73B1-311B-7E3E4AF49B89}"/>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5" name="Footer Placeholder 4">
            <a:extLst>
              <a:ext uri="{FF2B5EF4-FFF2-40B4-BE49-F238E27FC236}">
                <a16:creationId xmlns:a16="http://schemas.microsoft.com/office/drawing/2014/main" id="{71925C17-363E-8E52-580C-D00D3180A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86B12-C927-6D31-2A32-A509B2D41D5A}"/>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3790555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A3D0-F8B4-CA15-8040-BC4656590A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97AFB4-C2E5-7F37-0238-8664CDAD8C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921B3C-C029-47E7-DA22-B252390B3FE5}"/>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5" name="Footer Placeholder 4">
            <a:extLst>
              <a:ext uri="{FF2B5EF4-FFF2-40B4-BE49-F238E27FC236}">
                <a16:creationId xmlns:a16="http://schemas.microsoft.com/office/drawing/2014/main" id="{F1A05C8F-C94F-2CAB-FE17-876AC1226F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FAD8E-782B-1B0E-71D6-4A5966309E3B}"/>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1314302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4C760-7CBA-CF4B-4F4C-2AD039C777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51788D-4057-150F-3489-616311217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EFE081-716D-E733-1ACE-12A9ECB8DA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82E748-CC5C-91BC-1AB6-5C5A57FD6425}"/>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6" name="Footer Placeholder 5">
            <a:extLst>
              <a:ext uri="{FF2B5EF4-FFF2-40B4-BE49-F238E27FC236}">
                <a16:creationId xmlns:a16="http://schemas.microsoft.com/office/drawing/2014/main" id="{B9003DE3-796D-25F1-47F5-8DAA41A19F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6A3A1-D811-5C0E-7FEB-B541CDC5FDCD}"/>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246383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5E81-CD40-ABAF-BC2B-35B16FA91F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4F0F68-9412-0426-CF45-44A3D93DFD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0C0531-2976-A7C1-526B-29DC2F92C3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D1473C-29C1-CB7A-27C8-9C01E5E6AB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326F9A-C64F-F79C-FD38-6941981702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EB03C7-FD24-1484-5ADF-2EA954CE4225}"/>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8" name="Footer Placeholder 7">
            <a:extLst>
              <a:ext uri="{FF2B5EF4-FFF2-40B4-BE49-F238E27FC236}">
                <a16:creationId xmlns:a16="http://schemas.microsoft.com/office/drawing/2014/main" id="{C3F9BC48-04AE-F8C9-8E90-088F1141F3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4E81C4-3FD2-54E3-2231-E0455B145FEC}"/>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1645302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32D39-588B-1214-9E4A-35E16BF9A1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A1A55B-FA44-B48D-D1E5-FBB8DD62ACCE}"/>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4" name="Footer Placeholder 3">
            <a:extLst>
              <a:ext uri="{FF2B5EF4-FFF2-40B4-BE49-F238E27FC236}">
                <a16:creationId xmlns:a16="http://schemas.microsoft.com/office/drawing/2014/main" id="{BA3DF720-C06E-D810-B670-6DC627F3B5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0FBCCB-B60D-5932-0250-B8337E767280}"/>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343763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B188AB-C1E3-252B-A3F2-0EDF9F2D602A}"/>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3" name="Footer Placeholder 2">
            <a:extLst>
              <a:ext uri="{FF2B5EF4-FFF2-40B4-BE49-F238E27FC236}">
                <a16:creationId xmlns:a16="http://schemas.microsoft.com/office/drawing/2014/main" id="{A6915EDD-AE4F-FCC6-EE44-4FF5178B87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661E9E-B1FC-AF54-EE05-F1C36F4A20D9}"/>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1339593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B42F8-7E57-7C72-F552-2C331D6AC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CA0FD7-B063-CCB8-DEE0-A6F85F2D08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8D44AB-7660-1169-4644-BE281605F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127438-F094-B694-32B6-67C6EB7B2019}"/>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6" name="Footer Placeholder 5">
            <a:extLst>
              <a:ext uri="{FF2B5EF4-FFF2-40B4-BE49-F238E27FC236}">
                <a16:creationId xmlns:a16="http://schemas.microsoft.com/office/drawing/2014/main" id="{7C9D3509-3234-1021-720D-3A8A8CD7D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AF3E4B-E619-6F51-0DAB-6EFBCCCCEDF0}"/>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1954030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54114-46C2-6D92-C79A-E1BE5139E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6DB3FF-044A-05CA-6176-1D8D06DD94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5472CC-B998-6163-EE11-45D96E0A6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842DC-522F-8799-312A-87BCC48F14C6}"/>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6" name="Footer Placeholder 5">
            <a:extLst>
              <a:ext uri="{FF2B5EF4-FFF2-40B4-BE49-F238E27FC236}">
                <a16:creationId xmlns:a16="http://schemas.microsoft.com/office/drawing/2014/main" id="{3C0C51AA-D28D-B4BB-29D5-5C29083B62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EAE847-805A-E513-5E69-5222C81177EE}"/>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2283022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044E-0C4F-3A58-F0C3-10D3629F6B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02CF30-0F8E-A599-D792-95F5AD3E12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3076A5-6FB2-BDFE-0600-B675EEC9FB15}"/>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5" name="Footer Placeholder 4">
            <a:extLst>
              <a:ext uri="{FF2B5EF4-FFF2-40B4-BE49-F238E27FC236}">
                <a16:creationId xmlns:a16="http://schemas.microsoft.com/office/drawing/2014/main" id="{30980B55-F12B-604C-94EA-21A72CB8C3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99CA6-0F51-36D2-3E97-8107470AEAFE}"/>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363066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0703B5-A41A-88EA-E8C8-2EA17E1D6C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863DE-324C-08E9-BB04-84F38756ED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559C6-7BEF-02E4-89A8-FB3E9D4CBE85}"/>
              </a:ext>
            </a:extLst>
          </p:cNvPr>
          <p:cNvSpPr>
            <a:spLocks noGrp="1"/>
          </p:cNvSpPr>
          <p:nvPr>
            <p:ph type="dt" sz="half" idx="10"/>
          </p:nvPr>
        </p:nvSpPr>
        <p:spPr/>
        <p:txBody>
          <a:bodyPr/>
          <a:lstStyle/>
          <a:p>
            <a:fld id="{4766A1A8-3082-4DF1-ADAD-5B744A3F187E}" type="datetimeFigureOut">
              <a:rPr lang="en-US" smtClean="0"/>
              <a:t>2/18/2026</a:t>
            </a:fld>
            <a:endParaRPr lang="en-US"/>
          </a:p>
        </p:txBody>
      </p:sp>
      <p:sp>
        <p:nvSpPr>
          <p:cNvPr id="5" name="Footer Placeholder 4">
            <a:extLst>
              <a:ext uri="{FF2B5EF4-FFF2-40B4-BE49-F238E27FC236}">
                <a16:creationId xmlns:a16="http://schemas.microsoft.com/office/drawing/2014/main" id="{35489018-0005-17EA-CFC1-B4E59B0593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24102-8FD3-AB44-D9CC-82C32332825B}"/>
              </a:ext>
            </a:extLst>
          </p:cNvPr>
          <p:cNvSpPr>
            <a:spLocks noGrp="1"/>
          </p:cNvSpPr>
          <p:nvPr>
            <p:ph type="sldNum" sz="quarter" idx="12"/>
          </p:nvPr>
        </p:nvSpPr>
        <p:spPr/>
        <p:txBody>
          <a:bodyPr/>
          <a:lstStyle/>
          <a:p>
            <a:fld id="{6A4DCE18-3EC0-4138-88C9-DC5F2DFDEFD8}" type="slidenum">
              <a:rPr lang="en-US" smtClean="0"/>
              <a:t>‹#›</a:t>
            </a:fld>
            <a:endParaRPr lang="en-US"/>
          </a:p>
        </p:txBody>
      </p:sp>
    </p:spTree>
    <p:extLst>
      <p:ext uri="{BB962C8B-B14F-4D97-AF65-F5344CB8AC3E}">
        <p14:creationId xmlns:p14="http://schemas.microsoft.com/office/powerpoint/2010/main" val="999054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0E35F-9EC6-8247-2AE4-2A57AA6E98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CF6DEE-D59F-4860-4D82-105D554C4C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9C57FB-839A-FDD9-E002-733395100C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66A1A8-3082-4DF1-ADAD-5B744A3F187E}" type="datetimeFigureOut">
              <a:rPr lang="en-US" smtClean="0"/>
              <a:t>2/18/2026</a:t>
            </a:fld>
            <a:endParaRPr lang="en-US"/>
          </a:p>
        </p:txBody>
      </p:sp>
      <p:sp>
        <p:nvSpPr>
          <p:cNvPr id="5" name="Footer Placeholder 4">
            <a:extLst>
              <a:ext uri="{FF2B5EF4-FFF2-40B4-BE49-F238E27FC236}">
                <a16:creationId xmlns:a16="http://schemas.microsoft.com/office/drawing/2014/main" id="{E0F11CA0-B15F-5D55-6910-0151E5BB59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5F5856-1FC6-6EE4-F08B-0527AB9F48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4DCE18-3EC0-4138-88C9-DC5F2DFDEFD8}" type="slidenum">
              <a:rPr lang="en-US" smtClean="0"/>
              <a:t>‹#›</a:t>
            </a:fld>
            <a:endParaRPr lang="en-US"/>
          </a:p>
        </p:txBody>
      </p:sp>
    </p:spTree>
    <p:extLst>
      <p:ext uri="{BB962C8B-B14F-4D97-AF65-F5344CB8AC3E}">
        <p14:creationId xmlns:p14="http://schemas.microsoft.com/office/powerpoint/2010/main" val="4212111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F48B-7E1B-D963-21DD-9989E483CA5B}"/>
            </a:ext>
          </a:extLst>
        </p:cNvPr>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CB6AB1AD-879C-441A-3FE4-CC658BDBEE9E}"/>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l="7570" r="11356" b="19942"/>
          <a:stretch>
            <a:fillRect/>
          </a:stretch>
        </p:blipFill>
        <p:spPr>
          <a:xfrm>
            <a:off x="1579264" y="540858"/>
            <a:ext cx="10399265" cy="5776279"/>
          </a:xfrm>
          <a:prstGeom prst="rect">
            <a:avLst/>
          </a:prstGeom>
        </p:spPr>
      </p:pic>
      <p:sp>
        <p:nvSpPr>
          <p:cNvPr id="10" name="TextBox 9">
            <a:extLst>
              <a:ext uri="{FF2B5EF4-FFF2-40B4-BE49-F238E27FC236}">
                <a16:creationId xmlns:a16="http://schemas.microsoft.com/office/drawing/2014/main" id="{72371E2A-4C53-8236-0789-F454723F4357}"/>
              </a:ext>
            </a:extLst>
          </p:cNvPr>
          <p:cNvSpPr txBox="1"/>
          <p:nvPr/>
        </p:nvSpPr>
        <p:spPr>
          <a:xfrm>
            <a:off x="2015256" y="1630921"/>
            <a:ext cx="4033122" cy="3323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2400" spc="-30" dirty="0">
                <a:solidFill>
                  <a:srgbClr val="2B436F"/>
                </a:solidFill>
                <a:latin typeface="Segoe Sans Display Semibold" pitchFamily="2" charset="0"/>
                <a:cs typeface="Segoe Sans Display Semibold" pitchFamily="2" charset="0"/>
              </a:rPr>
              <a:t>Introducing</a:t>
            </a:r>
            <a:endParaRPr kumimoji="0" lang="en-US" sz="2400" b="0" i="0" u="none" strike="noStrike" kern="1200" cap="none" spc="-30" normalizeH="0" baseline="0" noProof="0" dirty="0">
              <a:ln>
                <a:noFill/>
              </a:ln>
              <a:solidFill>
                <a:srgbClr val="2B436F"/>
              </a:solidFill>
              <a:effectLst/>
              <a:uLnTx/>
              <a:uFillTx/>
              <a:latin typeface="Segoe Sans Display Semibold" pitchFamily="2" charset="0"/>
              <a:ea typeface="+mn-ea"/>
              <a:cs typeface="Segoe Sans Display Semibold" pitchFamily="2" charset="0"/>
            </a:endParaRPr>
          </a:p>
        </p:txBody>
      </p:sp>
      <p:sp>
        <p:nvSpPr>
          <p:cNvPr id="11" name="Rectangle: Rounded Corners 10">
            <a:extLst>
              <a:ext uri="{FF2B5EF4-FFF2-40B4-BE49-F238E27FC236}">
                <a16:creationId xmlns:a16="http://schemas.microsoft.com/office/drawing/2014/main" id="{40BF0E34-BC61-8FAF-8F99-17DF35C3F2DA}"/>
              </a:ext>
            </a:extLst>
          </p:cNvPr>
          <p:cNvSpPr/>
          <p:nvPr/>
        </p:nvSpPr>
        <p:spPr>
          <a:xfrm>
            <a:off x="2015256" y="3616300"/>
            <a:ext cx="4587956" cy="170752"/>
          </a:xfrm>
          <a:prstGeom prst="roundRect">
            <a:avLst>
              <a:gd name="adj" fmla="val 50000"/>
            </a:avLst>
          </a:prstGeom>
          <a:gradFill flip="none" rotWithShape="1">
            <a:gsLst>
              <a:gs pos="70000">
                <a:srgbClr val="D66DFF"/>
              </a:gs>
              <a:gs pos="52000">
                <a:srgbClr val="818EFF"/>
              </a:gs>
              <a:gs pos="35000">
                <a:srgbClr val="2DB4FF"/>
              </a:gs>
              <a:gs pos="30000">
                <a:srgbClr val="2DB4FF"/>
              </a:gs>
              <a:gs pos="3000">
                <a:srgbClr val="0078D4"/>
              </a:gs>
              <a:gs pos="97000">
                <a:srgbClr val="FEA87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6CA67D55-E888-3E86-50D6-874640C3CCFE}"/>
              </a:ext>
            </a:extLst>
          </p:cNvPr>
          <p:cNvSpPr txBox="1"/>
          <p:nvPr/>
        </p:nvSpPr>
        <p:spPr>
          <a:xfrm>
            <a:off x="2015256" y="2224348"/>
            <a:ext cx="4723977" cy="1477328"/>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800" b="0" i="0" u="none" strike="noStrike" cap="none" normalizeH="0" noProof="0" dirty="0">
                <a:ln>
                  <a:noFill/>
                </a:ln>
                <a:solidFill>
                  <a:srgbClr val="2B436F"/>
                </a:solidFill>
                <a:effectLst/>
                <a:uLnTx/>
                <a:uFillTx/>
                <a:latin typeface="Segoe Sans Display Semibold" pitchFamily="2" charset="0"/>
                <a:ea typeface="+mn-ea"/>
                <a:cs typeface="Segoe Sans Display Semibold" pitchFamily="2" charset="0"/>
              </a:rPr>
              <a:t>Microsoft 365</a:t>
            </a:r>
            <a:br>
              <a:rPr kumimoji="0" lang="en-US" sz="4800" b="0" i="0" u="none" strike="noStrike" cap="none" normalizeH="0" noProof="0" dirty="0">
                <a:ln>
                  <a:noFill/>
                </a:ln>
                <a:solidFill>
                  <a:srgbClr val="2B436F"/>
                </a:solidFill>
                <a:effectLst/>
                <a:uLnTx/>
                <a:uFillTx/>
                <a:latin typeface="Segoe Sans Display Semibold" pitchFamily="2" charset="0"/>
                <a:ea typeface="+mn-ea"/>
                <a:cs typeface="Segoe Sans Display Semibold" pitchFamily="2" charset="0"/>
              </a:rPr>
            </a:br>
            <a:r>
              <a:rPr kumimoji="0" lang="en-US" sz="4800" b="0" i="0" u="none" strike="noStrike" cap="none" normalizeH="0" noProof="0" dirty="0">
                <a:ln>
                  <a:noFill/>
                </a:ln>
                <a:solidFill>
                  <a:srgbClr val="2B436F"/>
                </a:solidFill>
                <a:effectLst/>
                <a:uLnTx/>
                <a:uFillTx/>
                <a:latin typeface="Segoe Sans Display Semibold" pitchFamily="2" charset="0"/>
                <a:ea typeface="+mn-ea"/>
                <a:cs typeface="Segoe Sans Display Semibold" pitchFamily="2" charset="0"/>
              </a:rPr>
              <a:t>Copilot Business</a:t>
            </a:r>
          </a:p>
        </p:txBody>
      </p:sp>
      <p:sp>
        <p:nvSpPr>
          <p:cNvPr id="45" name="TextBox 44">
            <a:extLst>
              <a:ext uri="{FF2B5EF4-FFF2-40B4-BE49-F238E27FC236}">
                <a16:creationId xmlns:a16="http://schemas.microsoft.com/office/drawing/2014/main" id="{42024C76-1C9E-47FE-C01E-9F6D3C3FD2AC}"/>
              </a:ext>
            </a:extLst>
          </p:cNvPr>
          <p:cNvSpPr txBox="1"/>
          <p:nvPr/>
        </p:nvSpPr>
        <p:spPr>
          <a:xfrm>
            <a:off x="2072057" y="5965757"/>
            <a:ext cx="5363002" cy="246221"/>
          </a:xfrm>
          <a:prstGeom prst="rect">
            <a:avLst/>
          </a:prstGeom>
          <a:noFill/>
        </p:spPr>
        <p:txBody>
          <a:bodyPr wrap="square" lIns="0" tIns="0" rIns="0" bIns="0" rtlCol="0" anchor="b">
            <a:spAutoFit/>
          </a:bodyPr>
          <a:lstStyle/>
          <a:p>
            <a:pPr>
              <a:defRPr/>
            </a:pPr>
            <a:r>
              <a:rPr lang="en-US" sz="800" dirty="0">
                <a:solidFill>
                  <a:srgbClr val="2B436F"/>
                </a:solidFill>
                <a:latin typeface="Segoe Sans Display"/>
                <a:cs typeface="Segoe Sans Display"/>
              </a:rPr>
              <a:t>*Lock in the promotional pricing for 12 months, allowing the addition of 10 to 300 licenses throughout </a:t>
            </a:r>
            <a:r>
              <a:rPr kumimoji="0" lang="en-US" sz="800" b="0" i="0" u="none" strike="noStrike" kern="1200" cap="none" spc="0" normalizeH="0" noProof="0" dirty="0">
                <a:ln>
                  <a:noFill/>
                </a:ln>
                <a:solidFill>
                  <a:srgbClr val="2B436F"/>
                </a:solidFill>
                <a:effectLst/>
                <a:uLnTx/>
                <a:uFillTx/>
                <a:latin typeface="Segoe Sans Display"/>
                <a:cs typeface="Segoe Sans Display"/>
              </a:rPr>
              <a:t>the </a:t>
            </a:r>
            <a:r>
              <a:rPr lang="en-US" sz="800" dirty="0">
                <a:solidFill>
                  <a:srgbClr val="2B436F"/>
                </a:solidFill>
                <a:latin typeface="Segoe Sans Display"/>
                <a:cs typeface="Segoe Sans Display"/>
              </a:rPr>
              <a:t>duration </a:t>
            </a:r>
            <a:r>
              <a:rPr kumimoji="0" lang="en-US" sz="800" b="0" i="0" u="none" strike="noStrike" kern="1200" cap="none" spc="0" normalizeH="0" noProof="0" dirty="0">
                <a:ln>
                  <a:noFill/>
                </a:ln>
                <a:solidFill>
                  <a:srgbClr val="2B436F"/>
                </a:solidFill>
                <a:effectLst/>
                <a:uLnTx/>
                <a:uFillTx/>
                <a:latin typeface="Segoe Sans Display"/>
                <a:cs typeface="Segoe Sans Display"/>
              </a:rPr>
              <a:t>of </a:t>
            </a:r>
            <a:r>
              <a:rPr lang="en-US" sz="800" dirty="0">
                <a:solidFill>
                  <a:srgbClr val="2B436F"/>
                </a:solidFill>
                <a:latin typeface="Segoe Sans Display"/>
                <a:cs typeface="Segoe Sans Display"/>
              </a:rPr>
              <a:t>the </a:t>
            </a:r>
            <a:r>
              <a:rPr kumimoji="0" lang="en-US" sz="800" b="0" i="0" u="none" strike="noStrike" kern="1200" cap="none" spc="0" normalizeH="0" noProof="0" dirty="0">
                <a:ln>
                  <a:noFill/>
                </a:ln>
                <a:solidFill>
                  <a:srgbClr val="2B436F"/>
                </a:solidFill>
                <a:effectLst/>
                <a:uLnTx/>
                <a:uFillTx/>
                <a:latin typeface="Segoe Sans Display"/>
                <a:cs typeface="Segoe Sans Display"/>
              </a:rPr>
              <a:t>subscription</a:t>
            </a:r>
            <a:r>
              <a:rPr lang="en-US" sz="800" dirty="0">
                <a:solidFill>
                  <a:srgbClr val="2B436F"/>
                </a:solidFill>
                <a:latin typeface="Segoe Sans Display"/>
                <a:cs typeface="Segoe Sans Display"/>
              </a:rPr>
              <a:t> term. Offer available December 1, 2025, through March 31, 2026, </a:t>
            </a:r>
          </a:p>
        </p:txBody>
      </p:sp>
      <p:pic>
        <p:nvPicPr>
          <p:cNvPr id="19" name="Picture 18" descr="People at work">
            <a:extLst>
              <a:ext uri="{FF2B5EF4-FFF2-40B4-BE49-F238E27FC236}">
                <a16:creationId xmlns:a16="http://schemas.microsoft.com/office/drawing/2014/main" id="{FE0797A2-2D12-2A26-DC00-4038CFF203A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7224026" y="540858"/>
            <a:ext cx="4754503" cy="4276234"/>
          </a:xfrm>
          <a:custGeom>
            <a:avLst/>
            <a:gdLst>
              <a:gd name="connsiteX0" fmla="*/ 0 w 4754503"/>
              <a:gd name="connsiteY0" fmla="*/ 0 h 4276234"/>
              <a:gd name="connsiteX1" fmla="*/ 4754503 w 4754503"/>
              <a:gd name="connsiteY1" fmla="*/ 0 h 4276234"/>
              <a:gd name="connsiteX2" fmla="*/ 4754503 w 4754503"/>
              <a:gd name="connsiteY2" fmla="*/ 4276234 h 4276234"/>
              <a:gd name="connsiteX3" fmla="*/ 239655 w 4754503"/>
              <a:gd name="connsiteY3" fmla="*/ 4276234 h 4276234"/>
              <a:gd name="connsiteX4" fmla="*/ 0 w 4754503"/>
              <a:gd name="connsiteY4" fmla="*/ 4059738 h 4276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4503" h="4276234">
                <a:moveTo>
                  <a:pt x="0" y="0"/>
                </a:moveTo>
                <a:lnTo>
                  <a:pt x="4754503" y="0"/>
                </a:lnTo>
                <a:lnTo>
                  <a:pt x="4754503" y="4276234"/>
                </a:lnTo>
                <a:lnTo>
                  <a:pt x="239655" y="4276234"/>
                </a:lnTo>
                <a:cubicBezTo>
                  <a:pt x="107298" y="4276234"/>
                  <a:pt x="0" y="4179305"/>
                  <a:pt x="0" y="4059738"/>
                </a:cubicBezTo>
                <a:close/>
              </a:path>
            </a:pathLst>
          </a:custGeom>
        </p:spPr>
      </p:pic>
      <p:sp>
        <p:nvSpPr>
          <p:cNvPr id="4" name="Rectangle 3">
            <a:extLst>
              <a:ext uri="{FF2B5EF4-FFF2-40B4-BE49-F238E27FC236}">
                <a16:creationId xmlns:a16="http://schemas.microsoft.com/office/drawing/2014/main" id="{E0A14F4F-9D24-5E36-2B74-68D3D9570061}"/>
              </a:ext>
            </a:extLst>
          </p:cNvPr>
          <p:cNvSpPr/>
          <p:nvPr/>
        </p:nvSpPr>
        <p:spPr>
          <a:xfrm>
            <a:off x="1776652" y="741687"/>
            <a:ext cx="1123922" cy="429904"/>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endParaRPr lang="en-US" sz="800">
              <a:solidFill>
                <a:schemeClr val="tx1"/>
              </a:solidFill>
              <a:latin typeface="Segoe Sans Display" pitchFamily="2" charset="0"/>
              <a:cs typeface="Segoe Sans Display" pitchFamily="2" charset="0"/>
            </a:endParaRPr>
          </a:p>
        </p:txBody>
      </p:sp>
      <p:cxnSp>
        <p:nvCxnSpPr>
          <p:cNvPr id="5" name="Straight Arrow Connector 4">
            <a:extLst>
              <a:ext uri="{FF2B5EF4-FFF2-40B4-BE49-F238E27FC236}">
                <a16:creationId xmlns:a16="http://schemas.microsoft.com/office/drawing/2014/main" id="{19EA9F48-D9C9-4AC1-6305-1CC79C5D4914}"/>
              </a:ext>
            </a:extLst>
          </p:cNvPr>
          <p:cNvCxnSpPr>
            <a:cxnSpLocks/>
          </p:cNvCxnSpPr>
          <p:nvPr/>
        </p:nvCxnSpPr>
        <p:spPr>
          <a:xfrm>
            <a:off x="1282528" y="998848"/>
            <a:ext cx="168715" cy="0"/>
          </a:xfrm>
          <a:prstGeom prst="straightConnector1">
            <a:avLst/>
          </a:prstGeom>
          <a:ln w="19050">
            <a:solidFill>
              <a:srgbClr val="FF0000"/>
            </a:solidFill>
            <a:tailEnd type="arrow" w="med" len="sm"/>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419CB350-C5BB-B957-78A9-BAA2590632CF}"/>
              </a:ext>
            </a:extLst>
          </p:cNvPr>
          <p:cNvSpPr/>
          <p:nvPr/>
        </p:nvSpPr>
        <p:spPr>
          <a:xfrm>
            <a:off x="213469" y="776282"/>
            <a:ext cx="1069059" cy="4299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r>
              <a:rPr lang="en-US" sz="800">
                <a:solidFill>
                  <a:schemeClr val="tx1"/>
                </a:solidFill>
                <a:latin typeface="Segoe Sans Display" pitchFamily="2" charset="0"/>
                <a:cs typeface="Segoe Sans Display" pitchFamily="2" charset="0"/>
              </a:rPr>
              <a:t>Fit partner logo to this red-outlined box, then delete the box</a:t>
            </a:r>
          </a:p>
        </p:txBody>
      </p:sp>
      <p:sp>
        <p:nvSpPr>
          <p:cNvPr id="7" name="Rectangle 6">
            <a:extLst>
              <a:ext uri="{FF2B5EF4-FFF2-40B4-BE49-F238E27FC236}">
                <a16:creationId xmlns:a16="http://schemas.microsoft.com/office/drawing/2014/main" id="{E6137200-0C40-5B66-6CE6-EEFD8D06E033}"/>
              </a:ext>
            </a:extLst>
          </p:cNvPr>
          <p:cNvSpPr/>
          <p:nvPr/>
        </p:nvSpPr>
        <p:spPr>
          <a:xfrm>
            <a:off x="213470" y="1527773"/>
            <a:ext cx="1237773" cy="16927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5720" rIns="45720" rtlCol="0" anchor="t">
            <a:spAutoFit/>
          </a:bodyPr>
          <a:lstStyle/>
          <a:p>
            <a:r>
              <a:rPr lang="en-US" sz="800">
                <a:solidFill>
                  <a:schemeClr val="tx1"/>
                </a:solidFill>
                <a:latin typeface="Segoe Sans Display" pitchFamily="2" charset="0"/>
                <a:cs typeface="Segoe Sans Display" pitchFamily="2" charset="0"/>
              </a:rPr>
              <a:t>To save this graphic as an image to use in social media posts, select all elements—do not include these text boxes or red arrow outside of the graphic—group them, right-click the grouped graphic, and select “Save as Picture.” Make sure to choose the file type that’s best for your post.</a:t>
            </a:r>
          </a:p>
        </p:txBody>
      </p:sp>
      <p:pic>
        <p:nvPicPr>
          <p:cNvPr id="16" name="Picture 15" descr="A logo on a black background&#10;&#10;AI-generated content may be incorrect.">
            <a:extLst>
              <a:ext uri="{FF2B5EF4-FFF2-40B4-BE49-F238E27FC236}">
                <a16:creationId xmlns:a16="http://schemas.microsoft.com/office/drawing/2014/main" id="{3554DADA-4C00-4768-B801-B23E7169C67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10612736" y="594790"/>
            <a:ext cx="1232899" cy="361849"/>
          </a:xfrm>
          <a:prstGeom prst="rect">
            <a:avLst/>
          </a:prstGeom>
        </p:spPr>
      </p:pic>
      <p:sp>
        <p:nvSpPr>
          <p:cNvPr id="3" name="TextBox 2">
            <a:extLst>
              <a:ext uri="{FF2B5EF4-FFF2-40B4-BE49-F238E27FC236}">
                <a16:creationId xmlns:a16="http://schemas.microsoft.com/office/drawing/2014/main" id="{C38BA147-7DCA-7F12-9973-4E639649280A}"/>
              </a:ext>
            </a:extLst>
          </p:cNvPr>
          <p:cNvSpPr txBox="1"/>
          <p:nvPr/>
        </p:nvSpPr>
        <p:spPr>
          <a:xfrm>
            <a:off x="1959184" y="4187065"/>
            <a:ext cx="5264842" cy="1107996"/>
          </a:xfrm>
          <a:prstGeom prst="rect">
            <a:avLst/>
          </a:prstGeom>
          <a:noFill/>
        </p:spPr>
        <p:txBody>
          <a:bodyPr wrap="square" lIns="0" tIns="0" rIns="0" bIns="0">
            <a:spAutoFit/>
          </a:bodyPr>
          <a:lstStyle/>
          <a:p>
            <a:pPr marL="285750" indent="-285750">
              <a:buFont typeface="Arial" panose="020B0604020202020204" pitchFamily="34" charset="0"/>
              <a:buChar char="•"/>
            </a:pPr>
            <a:r>
              <a:rPr lang="en-US" spc="-20" dirty="0">
                <a:solidFill>
                  <a:srgbClr val="2B436F"/>
                </a:solidFill>
                <a:latin typeface="Segoe Sans Display" pitchFamily="2" charset="0"/>
                <a:cs typeface="Segoe Sans Display" pitchFamily="2" charset="0"/>
              </a:rPr>
              <a:t>Stay secure. Work smarter.</a:t>
            </a:r>
          </a:p>
          <a:p>
            <a:pPr marL="285750" indent="-285750">
              <a:buFont typeface="Arial" panose="020B0604020202020204" pitchFamily="34" charset="0"/>
              <a:buChar char="•"/>
            </a:pPr>
            <a:r>
              <a:rPr lang="en-US" spc="-20" dirty="0">
                <a:solidFill>
                  <a:srgbClr val="2B436F"/>
                </a:solidFill>
                <a:latin typeface="Segoe Sans Display" pitchFamily="2" charset="0"/>
                <a:cs typeface="Segoe Sans Display" pitchFamily="2" charset="0"/>
              </a:rPr>
              <a:t>Built on your privacy and compliance settings.</a:t>
            </a:r>
          </a:p>
          <a:p>
            <a:pPr marL="285750" indent="-285750">
              <a:buFont typeface="Arial" panose="020B0604020202020204" pitchFamily="34" charset="0"/>
              <a:buChar char="•"/>
            </a:pPr>
            <a:r>
              <a:rPr lang="en-US" b="1" spc="-20" dirty="0">
                <a:solidFill>
                  <a:srgbClr val="2B436F"/>
                </a:solidFill>
                <a:latin typeface="Segoe Sans Display" pitchFamily="2" charset="0"/>
                <a:cs typeface="Segoe Sans Display" pitchFamily="2" charset="0"/>
              </a:rPr>
              <a:t>Save up to 35% </a:t>
            </a:r>
            <a:r>
              <a:rPr lang="en-US" spc="-20" dirty="0">
                <a:solidFill>
                  <a:srgbClr val="2B436F"/>
                </a:solidFill>
                <a:latin typeface="Segoe Sans Display" pitchFamily="2" charset="0"/>
                <a:cs typeface="Segoe Sans Display" pitchFamily="2" charset="0"/>
              </a:rPr>
              <a:t>when you bundle Copilot Business with Microsoft 365 Standard or Premium.</a:t>
            </a:r>
          </a:p>
        </p:txBody>
      </p:sp>
    </p:spTree>
    <p:extLst>
      <p:ext uri="{BB962C8B-B14F-4D97-AF65-F5344CB8AC3E}">
        <p14:creationId xmlns:p14="http://schemas.microsoft.com/office/powerpoint/2010/main" val="2718355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940D-CD31-93B1-1297-8D989FA02982}"/>
            </a:ext>
          </a:extLst>
        </p:cNvPr>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52140F0B-9092-038C-59DC-0180F6E32622}"/>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l="7570" r="11356" b="19942"/>
          <a:stretch>
            <a:fillRect/>
          </a:stretch>
        </p:blipFill>
        <p:spPr>
          <a:xfrm>
            <a:off x="1579264" y="540858"/>
            <a:ext cx="10399265" cy="5776279"/>
          </a:xfrm>
          <a:prstGeom prst="rect">
            <a:avLst/>
          </a:prstGeom>
        </p:spPr>
      </p:pic>
      <p:sp>
        <p:nvSpPr>
          <p:cNvPr id="10" name="TextBox 9">
            <a:extLst>
              <a:ext uri="{FF2B5EF4-FFF2-40B4-BE49-F238E27FC236}">
                <a16:creationId xmlns:a16="http://schemas.microsoft.com/office/drawing/2014/main" id="{D69E89DF-D580-FD67-B31A-DE3E69DED686}"/>
              </a:ext>
            </a:extLst>
          </p:cNvPr>
          <p:cNvSpPr txBox="1"/>
          <p:nvPr/>
        </p:nvSpPr>
        <p:spPr>
          <a:xfrm>
            <a:off x="2015256" y="1630921"/>
            <a:ext cx="4033122" cy="3323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30" normalizeH="0" baseline="0" noProof="0">
                <a:ln>
                  <a:noFill/>
                </a:ln>
                <a:solidFill>
                  <a:srgbClr val="2B436F"/>
                </a:solidFill>
                <a:effectLst/>
                <a:uLnTx/>
                <a:uFillTx/>
                <a:latin typeface="Segoe Sans Display Semibold" pitchFamily="2" charset="0"/>
                <a:ea typeface="+mn-ea"/>
                <a:cs typeface="Segoe Sans Display Semibold" pitchFamily="2" charset="0"/>
              </a:rPr>
              <a:t>Introducing</a:t>
            </a:r>
          </a:p>
        </p:txBody>
      </p:sp>
      <p:sp>
        <p:nvSpPr>
          <p:cNvPr id="11" name="Rectangle: Rounded Corners 10">
            <a:extLst>
              <a:ext uri="{FF2B5EF4-FFF2-40B4-BE49-F238E27FC236}">
                <a16:creationId xmlns:a16="http://schemas.microsoft.com/office/drawing/2014/main" id="{0A737065-96DD-626C-2038-EDB45BF213FB}"/>
              </a:ext>
            </a:extLst>
          </p:cNvPr>
          <p:cNvSpPr/>
          <p:nvPr/>
        </p:nvSpPr>
        <p:spPr>
          <a:xfrm>
            <a:off x="2015256" y="3589447"/>
            <a:ext cx="4819712" cy="191356"/>
          </a:xfrm>
          <a:prstGeom prst="roundRect">
            <a:avLst>
              <a:gd name="adj" fmla="val 50000"/>
            </a:avLst>
          </a:prstGeom>
          <a:gradFill flip="none" rotWithShape="1">
            <a:gsLst>
              <a:gs pos="70000">
                <a:srgbClr val="D66DFF"/>
              </a:gs>
              <a:gs pos="52000">
                <a:srgbClr val="818EFF"/>
              </a:gs>
              <a:gs pos="35000">
                <a:srgbClr val="2DB4FF"/>
              </a:gs>
              <a:gs pos="30000">
                <a:srgbClr val="2DB4FF"/>
              </a:gs>
              <a:gs pos="3000">
                <a:srgbClr val="0078D4"/>
              </a:gs>
              <a:gs pos="97000">
                <a:srgbClr val="FEA87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A84D455F-9882-A360-C4D3-2F4D7ECE77C2}"/>
              </a:ext>
            </a:extLst>
          </p:cNvPr>
          <p:cNvSpPr txBox="1"/>
          <p:nvPr/>
        </p:nvSpPr>
        <p:spPr>
          <a:xfrm>
            <a:off x="2015256" y="2506166"/>
            <a:ext cx="4976094" cy="1107996"/>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0" i="0" u="none" strike="noStrike" cap="none" normalizeH="0" noProof="0" dirty="0">
                <a:ln>
                  <a:noFill/>
                </a:ln>
                <a:solidFill>
                  <a:srgbClr val="2B436F"/>
                </a:solidFill>
                <a:effectLst/>
                <a:uLnTx/>
                <a:uFillTx/>
                <a:latin typeface="Segoe Sans Display Semibold" pitchFamily="2" charset="0"/>
                <a:ea typeface="+mn-ea"/>
                <a:cs typeface="Segoe Sans Display Semibold" pitchFamily="2" charset="0"/>
              </a:rPr>
              <a:t>Microsoft 365 Copilot </a:t>
            </a:r>
            <a:br>
              <a:rPr kumimoji="0" lang="en-US" sz="3600" b="0" i="0" u="none" strike="noStrike" cap="none" normalizeH="0" noProof="0" dirty="0">
                <a:ln>
                  <a:noFill/>
                </a:ln>
                <a:solidFill>
                  <a:srgbClr val="2B436F"/>
                </a:solidFill>
                <a:effectLst/>
                <a:uLnTx/>
                <a:uFillTx/>
                <a:latin typeface="Segoe Sans Display Semibold" pitchFamily="2" charset="0"/>
                <a:ea typeface="+mn-ea"/>
                <a:cs typeface="Segoe Sans Display Semibold" pitchFamily="2" charset="0"/>
              </a:rPr>
            </a:br>
            <a:r>
              <a:rPr kumimoji="0" lang="en-US" sz="3600" b="0" i="0" u="none" strike="noStrike" cap="none" normalizeH="0" noProof="0" dirty="0">
                <a:ln>
                  <a:noFill/>
                </a:ln>
                <a:solidFill>
                  <a:srgbClr val="2B436F"/>
                </a:solidFill>
                <a:effectLst/>
                <a:uLnTx/>
                <a:uFillTx/>
                <a:latin typeface="Segoe Sans Display Semibold" pitchFamily="2" charset="0"/>
                <a:ea typeface="+mn-ea"/>
                <a:cs typeface="Segoe Sans Display Semibold" pitchFamily="2" charset="0"/>
              </a:rPr>
              <a:t>Business Bundles</a:t>
            </a:r>
          </a:p>
        </p:txBody>
      </p:sp>
      <p:sp>
        <p:nvSpPr>
          <p:cNvPr id="14" name="TextBox 13">
            <a:extLst>
              <a:ext uri="{FF2B5EF4-FFF2-40B4-BE49-F238E27FC236}">
                <a16:creationId xmlns:a16="http://schemas.microsoft.com/office/drawing/2014/main" id="{39A94095-BAF0-9312-55F4-C3638F4D9265}"/>
              </a:ext>
            </a:extLst>
          </p:cNvPr>
          <p:cNvSpPr txBox="1"/>
          <p:nvPr/>
        </p:nvSpPr>
        <p:spPr>
          <a:xfrm>
            <a:off x="2015256" y="4271443"/>
            <a:ext cx="5208770" cy="1107996"/>
          </a:xfrm>
          <a:prstGeom prst="rect">
            <a:avLst/>
          </a:prstGeom>
          <a:noFill/>
        </p:spPr>
        <p:txBody>
          <a:bodyPr wrap="square" lIns="0" tIns="0" rIns="0" bIns="0">
            <a:spAutoFit/>
          </a:bodyPr>
          <a:lstStyle/>
          <a:p>
            <a:pPr marL="285750" indent="-285750">
              <a:buFont typeface="Arial" panose="020B0604020202020204" pitchFamily="34" charset="0"/>
              <a:buChar char="•"/>
            </a:pPr>
            <a:r>
              <a:rPr lang="en-US" spc="-20" dirty="0">
                <a:solidFill>
                  <a:srgbClr val="2B436F"/>
                </a:solidFill>
                <a:latin typeface="Segoe Sans Display" pitchFamily="2" charset="0"/>
                <a:cs typeface="Segoe Sans Display" pitchFamily="2" charset="0"/>
              </a:rPr>
              <a:t>Stay secure. Work smarter.</a:t>
            </a:r>
          </a:p>
          <a:p>
            <a:pPr marL="285750" indent="-285750">
              <a:buFont typeface="Arial" panose="020B0604020202020204" pitchFamily="34" charset="0"/>
              <a:buChar char="•"/>
            </a:pPr>
            <a:r>
              <a:rPr lang="en-US" spc="-20" dirty="0">
                <a:solidFill>
                  <a:srgbClr val="2B436F"/>
                </a:solidFill>
                <a:latin typeface="Segoe Sans Display" pitchFamily="2" charset="0"/>
                <a:cs typeface="Segoe Sans Display" pitchFamily="2" charset="0"/>
              </a:rPr>
              <a:t>Built on your privacy and compliance settings.</a:t>
            </a:r>
          </a:p>
          <a:p>
            <a:pPr marL="285750" indent="-285750">
              <a:buFont typeface="Arial" panose="020B0604020202020204" pitchFamily="34" charset="0"/>
              <a:buChar char="•"/>
            </a:pPr>
            <a:r>
              <a:rPr lang="en-US" b="1" spc="-20" dirty="0">
                <a:solidFill>
                  <a:srgbClr val="2B436F"/>
                </a:solidFill>
                <a:latin typeface="Segoe Sans Display" pitchFamily="2" charset="0"/>
                <a:cs typeface="Segoe Sans Display" pitchFamily="2" charset="0"/>
              </a:rPr>
              <a:t>Save up to 35% </a:t>
            </a:r>
            <a:r>
              <a:rPr lang="en-US" spc="-20" dirty="0">
                <a:solidFill>
                  <a:srgbClr val="2B436F"/>
                </a:solidFill>
                <a:latin typeface="Segoe Sans Display" pitchFamily="2" charset="0"/>
                <a:cs typeface="Segoe Sans Display" pitchFamily="2" charset="0"/>
              </a:rPr>
              <a:t>when you bundle Copilot Business with Microsoft 365 Standard or Premium.</a:t>
            </a:r>
          </a:p>
        </p:txBody>
      </p:sp>
      <p:sp>
        <p:nvSpPr>
          <p:cNvPr id="45" name="TextBox 44">
            <a:extLst>
              <a:ext uri="{FF2B5EF4-FFF2-40B4-BE49-F238E27FC236}">
                <a16:creationId xmlns:a16="http://schemas.microsoft.com/office/drawing/2014/main" id="{4AC8A000-AC64-843E-AFBB-690EB5A6BE9B}"/>
              </a:ext>
            </a:extLst>
          </p:cNvPr>
          <p:cNvSpPr txBox="1"/>
          <p:nvPr/>
        </p:nvSpPr>
        <p:spPr>
          <a:xfrm>
            <a:off x="2072057" y="5965757"/>
            <a:ext cx="5363002" cy="246221"/>
          </a:xfrm>
          <a:prstGeom prst="rect">
            <a:avLst/>
          </a:prstGeom>
          <a:noFill/>
        </p:spPr>
        <p:txBody>
          <a:bodyPr wrap="square" lIns="0" tIns="0" rIns="0" bIns="0" rtlCol="0" anchor="b">
            <a:spAutoFit/>
          </a:bodyPr>
          <a:lstStyle/>
          <a:p>
            <a:pPr>
              <a:defRPr/>
            </a:pPr>
            <a:r>
              <a:rPr lang="en-US" sz="800" dirty="0">
                <a:solidFill>
                  <a:srgbClr val="2B436F"/>
                </a:solidFill>
                <a:latin typeface="Segoe Sans Display"/>
                <a:cs typeface="Segoe Sans Display"/>
              </a:rPr>
              <a:t>*Lock in the promotional pricing for 12 months, allowing the addition of 10 to 300 licenses throughout the duration of the subscription term. Offer available December 1, 2025, through March 31, 2026, </a:t>
            </a:r>
          </a:p>
        </p:txBody>
      </p:sp>
      <p:pic>
        <p:nvPicPr>
          <p:cNvPr id="19" name="Picture 18" descr="People at work">
            <a:extLst>
              <a:ext uri="{FF2B5EF4-FFF2-40B4-BE49-F238E27FC236}">
                <a16:creationId xmlns:a16="http://schemas.microsoft.com/office/drawing/2014/main" id="{7ED3C544-33FC-4727-4B96-AA701C3A89A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7224026" y="540858"/>
            <a:ext cx="4754503" cy="4276234"/>
          </a:xfrm>
          <a:custGeom>
            <a:avLst/>
            <a:gdLst>
              <a:gd name="connsiteX0" fmla="*/ 0 w 4754503"/>
              <a:gd name="connsiteY0" fmla="*/ 0 h 4276234"/>
              <a:gd name="connsiteX1" fmla="*/ 4754503 w 4754503"/>
              <a:gd name="connsiteY1" fmla="*/ 0 h 4276234"/>
              <a:gd name="connsiteX2" fmla="*/ 4754503 w 4754503"/>
              <a:gd name="connsiteY2" fmla="*/ 4276234 h 4276234"/>
              <a:gd name="connsiteX3" fmla="*/ 239655 w 4754503"/>
              <a:gd name="connsiteY3" fmla="*/ 4276234 h 4276234"/>
              <a:gd name="connsiteX4" fmla="*/ 0 w 4754503"/>
              <a:gd name="connsiteY4" fmla="*/ 4059738 h 4276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4503" h="4276234">
                <a:moveTo>
                  <a:pt x="0" y="0"/>
                </a:moveTo>
                <a:lnTo>
                  <a:pt x="4754503" y="0"/>
                </a:lnTo>
                <a:lnTo>
                  <a:pt x="4754503" y="4276234"/>
                </a:lnTo>
                <a:lnTo>
                  <a:pt x="239655" y="4276234"/>
                </a:lnTo>
                <a:cubicBezTo>
                  <a:pt x="107298" y="4276234"/>
                  <a:pt x="0" y="4179305"/>
                  <a:pt x="0" y="4059738"/>
                </a:cubicBezTo>
                <a:close/>
              </a:path>
            </a:pathLst>
          </a:custGeom>
        </p:spPr>
      </p:pic>
      <p:sp>
        <p:nvSpPr>
          <p:cNvPr id="4" name="Rectangle 3">
            <a:extLst>
              <a:ext uri="{FF2B5EF4-FFF2-40B4-BE49-F238E27FC236}">
                <a16:creationId xmlns:a16="http://schemas.microsoft.com/office/drawing/2014/main" id="{07EB5F87-1B4D-F1CE-A9A7-7F9E36C55045}"/>
              </a:ext>
            </a:extLst>
          </p:cNvPr>
          <p:cNvSpPr/>
          <p:nvPr/>
        </p:nvSpPr>
        <p:spPr>
          <a:xfrm>
            <a:off x="1776652" y="741687"/>
            <a:ext cx="1123922" cy="429904"/>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endParaRPr lang="en-US" sz="800">
              <a:solidFill>
                <a:schemeClr val="tx1"/>
              </a:solidFill>
              <a:latin typeface="Segoe Sans Display" pitchFamily="2" charset="0"/>
              <a:cs typeface="Segoe Sans Display" pitchFamily="2" charset="0"/>
            </a:endParaRPr>
          </a:p>
        </p:txBody>
      </p:sp>
      <p:cxnSp>
        <p:nvCxnSpPr>
          <p:cNvPr id="5" name="Straight Arrow Connector 4">
            <a:extLst>
              <a:ext uri="{FF2B5EF4-FFF2-40B4-BE49-F238E27FC236}">
                <a16:creationId xmlns:a16="http://schemas.microsoft.com/office/drawing/2014/main" id="{B7E98296-2A79-0744-F896-C5C0463819D1}"/>
              </a:ext>
            </a:extLst>
          </p:cNvPr>
          <p:cNvCxnSpPr>
            <a:cxnSpLocks/>
          </p:cNvCxnSpPr>
          <p:nvPr/>
        </p:nvCxnSpPr>
        <p:spPr>
          <a:xfrm>
            <a:off x="1282528" y="998848"/>
            <a:ext cx="168715" cy="0"/>
          </a:xfrm>
          <a:prstGeom prst="straightConnector1">
            <a:avLst/>
          </a:prstGeom>
          <a:ln w="19050">
            <a:solidFill>
              <a:srgbClr val="FF0000"/>
            </a:solidFill>
            <a:tailEnd type="arrow" w="med" len="sm"/>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6856F6CB-8CF5-9456-1B51-0E0CCDC49566}"/>
              </a:ext>
            </a:extLst>
          </p:cNvPr>
          <p:cNvSpPr/>
          <p:nvPr/>
        </p:nvSpPr>
        <p:spPr>
          <a:xfrm>
            <a:off x="213469" y="776282"/>
            <a:ext cx="1069059" cy="4299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r>
              <a:rPr lang="en-US" sz="800">
                <a:solidFill>
                  <a:schemeClr val="tx1"/>
                </a:solidFill>
                <a:latin typeface="Segoe Sans Display" pitchFamily="2" charset="0"/>
                <a:cs typeface="Segoe Sans Display" pitchFamily="2" charset="0"/>
              </a:rPr>
              <a:t>Fit partner logo to this red-outlined box, then delete the box</a:t>
            </a:r>
          </a:p>
        </p:txBody>
      </p:sp>
      <p:sp>
        <p:nvSpPr>
          <p:cNvPr id="7" name="Rectangle 6">
            <a:extLst>
              <a:ext uri="{FF2B5EF4-FFF2-40B4-BE49-F238E27FC236}">
                <a16:creationId xmlns:a16="http://schemas.microsoft.com/office/drawing/2014/main" id="{D5253CB7-719C-046F-7554-6798C0877A83}"/>
              </a:ext>
            </a:extLst>
          </p:cNvPr>
          <p:cNvSpPr/>
          <p:nvPr/>
        </p:nvSpPr>
        <p:spPr>
          <a:xfrm>
            <a:off x="213470" y="1527773"/>
            <a:ext cx="1237773" cy="16927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5720" rIns="45720" rtlCol="0" anchor="t">
            <a:spAutoFit/>
          </a:bodyPr>
          <a:lstStyle/>
          <a:p>
            <a:r>
              <a:rPr lang="en-US" sz="800">
                <a:solidFill>
                  <a:schemeClr val="tx1"/>
                </a:solidFill>
                <a:latin typeface="Segoe Sans Display" pitchFamily="2" charset="0"/>
                <a:cs typeface="Segoe Sans Display" pitchFamily="2" charset="0"/>
              </a:rPr>
              <a:t>To save this graphic as an image to use in social media posts, select all elements—do not include these text boxes or red arrow outside of the graphic—group them, right-click the grouped graphic, and select “Save as Picture.” Make sure to choose the file type that’s best for your post.</a:t>
            </a:r>
          </a:p>
        </p:txBody>
      </p:sp>
      <p:pic>
        <p:nvPicPr>
          <p:cNvPr id="16" name="Picture 15" descr="A logo on a black background&#10;&#10;AI-generated content may be incorrect.">
            <a:extLst>
              <a:ext uri="{FF2B5EF4-FFF2-40B4-BE49-F238E27FC236}">
                <a16:creationId xmlns:a16="http://schemas.microsoft.com/office/drawing/2014/main" id="{D451E3C5-E2A0-6DA0-F889-230A4A282C5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10612736" y="594790"/>
            <a:ext cx="1232899" cy="361849"/>
          </a:xfrm>
          <a:prstGeom prst="rect">
            <a:avLst/>
          </a:prstGeom>
        </p:spPr>
      </p:pic>
    </p:spTree>
    <p:extLst>
      <p:ext uri="{BB962C8B-B14F-4D97-AF65-F5344CB8AC3E}">
        <p14:creationId xmlns:p14="http://schemas.microsoft.com/office/powerpoint/2010/main" val="189199415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mageTagsTaxHTField xmlns="5a69c1ac-c916-4f5e-9023-48da1b1a0d0f">
      <Terms xmlns="http://schemas.microsoft.com/office/infopath/2007/PartnerControls"/>
    </ImageTagsTaxHTField>
    <_ip_UnifiedCompliancePolicyUIAction xmlns="http://schemas.microsoft.com/sharepoint/v3" xsi:nil="true"/>
    <_ip_UnifiedCompliancePolicyProperties xmlns="http://schemas.microsoft.com/sharepoint/v3" xsi:nil="true"/>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5E4FF88926DE4D8EBFD40472F33552" ma:contentTypeVersion="33" ma:contentTypeDescription="Create a new document." ma:contentTypeScope="" ma:versionID="948f0e1a1505ade759f8839cc957d66a">
  <xsd:schema xmlns:xsd="http://www.w3.org/2001/XMLSchema" xmlns:xs="http://www.w3.org/2001/XMLSchema" xmlns:p="http://schemas.microsoft.com/office/2006/metadata/properties" xmlns:ns1="http://schemas.microsoft.com/sharepoint/v3" xmlns:ns2="45b0b320-c1ad-4efd-8138-0825bb5fbbc0" xmlns:ns3="5a69c1ac-c916-4f5e-9023-48da1b1a0d0f" xmlns:ns4="230e9df3-be65-4c73-a93b-d1236ebd677e" targetNamespace="http://schemas.microsoft.com/office/2006/metadata/properties" ma:root="true" ma:fieldsID="c5737a4ebadb61f3d2cbf74be68e67d2" ns1:_="" ns2:_="" ns3:_="" ns4:_="">
    <xsd:import namespace="http://schemas.microsoft.com/sharepoint/v3"/>
    <xsd:import namespace="45b0b320-c1ad-4efd-8138-0825bb5fbbc0"/>
    <xsd:import namespace="5a69c1ac-c916-4f5e-9023-48da1b1a0d0f"/>
    <xsd:import namespace="230e9df3-be65-4c73-a93b-d1236ebd677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ImageTagsTaxHTField" minOccurs="0"/>
                <xsd:element ref="ns4:TaxCatchAll" minOccurs="0"/>
                <xsd:element ref="ns3:MediaServiceAutoKeyPoints" minOccurs="0"/>
                <xsd:element ref="ns3:MediaServiceKeyPoints" minOccurs="0"/>
                <xsd:element ref="ns3:MediaServiceDateTaken" minOccurs="0"/>
                <xsd:element ref="ns3:MediaLengthInSeconds" minOccurs="0"/>
                <xsd:element ref="ns1:_ip_UnifiedCompliancePolicyProperties" minOccurs="0"/>
                <xsd:element ref="ns1:_ip_UnifiedCompliancePolicyUIAction" minOccurs="0"/>
                <xsd:element ref="ns3:MediaServiceSearchProperties"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ServiceBillingMetadata" minOccurs="0"/>
                <xsd:element ref="ns3:HasDigitalSignature" minOccurs="0"/>
                <xsd:element ref="ns3: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b0b320-c1ad-4efd-8138-0825bb5fbbc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a69c1ac-c916-4f5e-9023-48da1b1a0d0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ImageTagsTaxHTField" ma:index="13"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Location" ma:index="26" nillable="true" ma:displayName="Location" ma:indexed="true" ma:internalName="MediaServiceLocation"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Text"/>
      </xsd:simpleType>
    </xsd:element>
    <xsd:element name="HasDigitalSignature" ma:index="28" nillable="true" ma:displayName="Signed electronically" ma:internalName="HasDigitalSignature" ma:readOnly="true">
      <xsd:simpleType>
        <xsd:restriction base="dms:Boolean"/>
      </xsd:simpleType>
    </xsd:element>
    <xsd:element name="DigitalSignatureProvider" ma:index="29"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8af803c-be60-400c-9f91-58d5646696aa}" ma:internalName="TaxCatchAll" ma:showField="CatchAllData" ma:web="45b0b320-c1ad-4efd-8138-0825bb5fbb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F61CEA-35AC-4774-BD99-7EBDF4B6ECE8}">
  <ds:schemaRefs>
    <ds:schemaRef ds:uri="http://schemas.microsoft.com/sharepoint/v3/contenttype/forms"/>
  </ds:schemaRefs>
</ds:datastoreItem>
</file>

<file path=customXml/itemProps2.xml><?xml version="1.0" encoding="utf-8"?>
<ds:datastoreItem xmlns:ds="http://schemas.openxmlformats.org/officeDocument/2006/customXml" ds:itemID="{CDB3DB46-F234-4E8B-B4A8-0806C1811A36}">
  <ds:schemaRefs>
    <ds:schemaRef ds:uri="http://schemas.microsoft.com/office/2006/metadata/properties"/>
    <ds:schemaRef ds:uri="http://schemas.microsoft.com/office/infopath/2007/PartnerControls"/>
    <ds:schemaRef ds:uri="5a69c1ac-c916-4f5e-9023-48da1b1a0d0f"/>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24642D8-3F69-40DF-9A7F-56AFE5FC6F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b0b320-c1ad-4efd-8138-0825bb5fbbc0"/>
    <ds:schemaRef ds:uri="5a69c1ac-c916-4f5e-9023-48da1b1a0d0f"/>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297</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Segoe Sans Display</vt:lpstr>
      <vt:lpstr>Segoe Sans Display Semibold</vt:lpstr>
      <vt:lpstr>1_Office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2025-11-18T17:56:20Z</dcterms:created>
  <dcterms:modified xsi:type="dcterms:W3CDTF">2026-02-18T16:48:04Z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0x010100E55E4FF88926DE4D8EBFD40472F33552</vt:lpwstr>
  </property>
  <property fmtid="{D5CDD505-2E9C-101B-9397-08002B2CF9AE}" pid="3" name="MediaServiceImageTags">
    <vt:lpwstr/>
  </property>
</Properties>
</file>