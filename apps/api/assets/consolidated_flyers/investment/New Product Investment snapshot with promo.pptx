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147470028" r:id="rId2"/>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13376D-71F9-2A13-5828-13D5AA09433D}" v="14" dt="2026-07-15T14:29:30.3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2443" y="43"/>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97566-5DA3-4FD3-6ABA-08FDBAE388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714D10-E112-FE89-18F0-5816FE368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B7F7E-1950-7068-03DD-373A84F250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422716-80CE-0279-DE28-A04A338745E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9449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6C7D0ED-795F-7210-E2EF-EE37319CAB15}"/>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E40C23C6-6AC0-EF7F-5A95-3EE2E871110C}"/>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36C152FF-9715-B577-982B-5F425FBFE1C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202D7E1A-C991-394D-3780-483818805B66}"/>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AE2D533A-27E7-A5D2-CFFA-36D4BF2E839A}"/>
              </a:ext>
            </a:extLst>
          </p:cNvPr>
          <p:cNvSpPr/>
          <p:nvPr/>
        </p:nvSpPr>
        <p:spPr>
          <a:xfrm>
            <a:off x="409575" y="7369396"/>
            <a:ext cx="4848225" cy="731525"/>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 name="Table 2">
            <a:extLst>
              <a:ext uri="{FF2B5EF4-FFF2-40B4-BE49-F238E27FC236}">
                <a16:creationId xmlns:a16="http://schemas.microsoft.com/office/drawing/2014/main" id="{B3EA9381-0FCE-A3DF-89EF-C9A28D126C30}"/>
              </a:ext>
            </a:extLst>
          </p:cNvPr>
          <p:cNvGraphicFramePr>
            <a:graphicFrameLocks noGrp="1"/>
          </p:cNvGraphicFramePr>
          <p:nvPr>
            <p:extLst>
              <p:ext uri="{D42A27DB-BD31-4B8C-83A1-F6EECF244321}">
                <p14:modId xmlns:p14="http://schemas.microsoft.com/office/powerpoint/2010/main" val="2945475941"/>
              </p:ext>
            </p:extLst>
          </p:nvPr>
        </p:nvGraphicFramePr>
        <p:xfrm>
          <a:off x="409574" y="1178510"/>
          <a:ext cx="4848226" cy="2825277"/>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a:ea typeface="Segoe UI Bold" pitchFamily="34" charset="-122"/>
                          <a:cs typeface="Segoe UI Semibold"/>
                        </a:rPr>
                        <a:t>Proposed solution​</a:t>
                      </a:r>
                      <a:endParaRPr kumimoji="0" lang="en-US" sz="1200" b="0" i="0" u="none" strike="noStrike" kern="1200" cap="none" spc="0" normalizeH="0" baseline="0" noProof="0" dirty="0">
                        <a:ln>
                          <a:noFill/>
                        </a:ln>
                        <a:solidFill>
                          <a:srgbClr val="8A226F"/>
                        </a:solidFill>
                        <a:effectLst/>
                        <a:uLnTx/>
                        <a:uFillTx/>
                        <a:latin typeface="Segoe UI Semibold"/>
                        <a:ea typeface="+mn-ea"/>
                        <a:cs typeface="Segoe UI Semibold"/>
                      </a:endParaRPr>
                    </a:p>
                  </a:txBody>
                  <a:tcPr marL="114680" marR="114680" marT="57340" marB="5734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spc="0" normalizeH="0" baseline="0" dirty="0">
                          <a:ln>
                            <a:noFill/>
                          </a:ln>
                          <a:solidFill>
                            <a:srgbClr val="8A226F"/>
                          </a:solidFill>
                          <a:effectLst/>
                          <a:uLnTx/>
                          <a:uFillTx/>
                          <a:latin typeface="Segoe UI Semibold"/>
                          <a:ea typeface="+mn-ea"/>
                          <a:cs typeface="Segoe UI Semibold"/>
                        </a:rPr>
                        <a:t>{</a:t>
                      </a:r>
                      <a:r>
                        <a:rPr kumimoji="0" lang="en-US" sz="1200" b="1" i="0" u="none" strike="noStrike" kern="1200" cap="none" spc="0" normalizeH="0" baseline="0" dirty="0" err="1">
                          <a:ln>
                            <a:noFill/>
                          </a:ln>
                          <a:solidFill>
                            <a:srgbClr val="8A226F"/>
                          </a:solidFill>
                          <a:effectLst/>
                          <a:uLnTx/>
                          <a:uFillTx/>
                          <a:latin typeface="Segoe UI Semibold"/>
                          <a:ea typeface="+mn-ea"/>
                          <a:cs typeface="Segoe UI Semibold"/>
                        </a:rPr>
                        <a:t>target_sku</a:t>
                      </a:r>
                      <a:r>
                        <a:rPr kumimoji="0" lang="en-US" sz="1200" b="1" i="0" u="none" strike="noStrike" kern="1200" cap="none" spc="0" normalizeH="0" baseline="0" dirty="0">
                          <a:ln>
                            <a:noFill/>
                          </a:ln>
                          <a:solidFill>
                            <a:srgbClr val="8A226F"/>
                          </a:solidFill>
                          <a:effectLst/>
                          <a:uLnTx/>
                          <a:uFillTx/>
                          <a:latin typeface="Segoe UI Semibold"/>
                          <a:ea typeface="+mn-ea"/>
                          <a:cs typeface="Segoe UI Semibold"/>
                        </a:rPr>
                        <a:t>}</a:t>
                      </a:r>
                      <a:r>
                        <a:rPr kumimoji="0" lang="en-IN" sz="1200" b="1" i="0" u="none" strike="noStrike" kern="1200" cap="none" spc="0" normalizeH="0" baseline="0" dirty="0">
                          <a:ln>
                            <a:noFill/>
                          </a:ln>
                          <a:solidFill>
                            <a:srgbClr val="8A226F"/>
                          </a:solidFill>
                          <a:effectLst/>
                          <a:uLnTx/>
                          <a:uFillTx/>
                          <a:latin typeface="Segoe UI Semibold"/>
                          <a:ea typeface="+mn-ea"/>
                          <a:cs typeface="Segoe UI Semibold"/>
                        </a:rPr>
                        <a:t>​</a:t>
                      </a:r>
                      <a:endParaRPr kumimoji="0" lang="en-US" sz="1200" b="1" i="0" u="none" strike="noStrike" kern="1200" cap="none" spc="0" normalizeH="0" baseline="0" noProof="0" dirty="0">
                        <a:ln>
                          <a:noFill/>
                        </a:ln>
                        <a:solidFill>
                          <a:srgbClr val="8A226F"/>
                        </a:solidFill>
                        <a:effectLst/>
                        <a:uLnTx/>
                        <a:uFillTx/>
                        <a:latin typeface="Segoe UI Semibold"/>
                        <a:ea typeface="+mn-ea"/>
                        <a:cs typeface="Segoe UI Semibold"/>
                      </a:endParaRPr>
                    </a:p>
                  </a:txBody>
                  <a:tcPr marL="114680" marR="114680" marT="57340" marB="5734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a:ea typeface="Segoe UI Regular"/>
                          <a:cs typeface="Segoe UI"/>
                        </a:rPr>
                        <a:t># Proposed seats​</a:t>
                      </a:r>
                    </a:p>
                  </a:txBody>
                  <a:tcPr marL="114680" marR="114680" marT="57340" marB="5734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chemeClr val="tx1"/>
                          </a:solidFill>
                          <a:effectLst/>
                          <a:uLnTx/>
                          <a:uFillTx/>
                          <a:latin typeface="Segoe UI"/>
                          <a:ea typeface="Segoe UI Regular"/>
                          <a:cs typeface="Segoe UI"/>
                        </a:rPr>
                        <a:t>{add_proposed_seat}</a:t>
                      </a:r>
                      <a:endParaRPr kumimoji="0" lang="en-US" sz="1200" b="0" i="0" u="none" strike="noStrike" kern="1200" cap="none" spc="0" normalizeH="0" baseline="0" noProof="0" dirty="0">
                        <a:ln>
                          <a:noFill/>
                        </a:ln>
                        <a:solidFill>
                          <a:schemeClr val="tx1"/>
                        </a:solidFill>
                        <a:effectLst/>
                        <a:uLnTx/>
                        <a:uFillTx/>
                        <a:latin typeface="Segoe UI"/>
                        <a:ea typeface="Segoe UI Regular"/>
                        <a:cs typeface="Segoe UI"/>
                      </a:endParaRPr>
                    </a:p>
                  </a:txBody>
                  <a:tcPr marL="114680" marR="114680" marT="57340" marB="5734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solution</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{actual_price_per_user}</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90593">
                <a:tc>
                  <a:txBody>
                    <a:bodyPr/>
                    <a:lstStyle/>
                    <a:p>
                      <a:pPr>
                        <a:buNone/>
                      </a:pPr>
                      <a:r>
                        <a:rPr lang="en-IN" sz="1200" dirty="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a:t>
                      </a:r>
                      <a: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dirty="0">
                          <a:solidFill>
                            <a:srgbClr val="8A226F"/>
                          </a:solidFill>
                          <a:latin typeface="Segoe UI Semibold"/>
                          <a:ea typeface="Segoe UI Regular"/>
                          <a:cs typeface="Segoe UI Semibold"/>
                        </a:rPr>
                        <a:t>{promo_savings_per_user}</a:t>
                      </a:r>
                      <a:endParaRPr lang="en-US" sz="1200" dirty="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41670439"/>
                  </a:ext>
                </a:extLst>
              </a:tr>
              <a:tr h="490593">
                <a:tc>
                  <a:txBody>
                    <a:bodyPr/>
                    <a:lstStyle/>
                    <a:p>
                      <a:r>
                        <a:rPr lang="en-IN" sz="1200" dirty="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{per_user_</a:t>
                      </a:r>
                      <a:r>
                        <a:rPr lang="en-US" sz="1200" kern="1200" dirty="0">
                          <a:solidFill>
                            <a:srgbClr val="000000"/>
                          </a:solidFill>
                          <a:latin typeface="Segoe UI"/>
                          <a:ea typeface="Segoe UI Regular"/>
                          <a:cs typeface="Segoe UI"/>
                        </a:rPr>
                        <a:t>after_promo_price}</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08539432"/>
                  </a:ext>
                </a:extLst>
              </a:tr>
              <a:tr h="490593">
                <a:tc>
                  <a:txBody>
                    <a:bodyPr/>
                    <a:lstStyle/>
                    <a:p>
                      <a:pPr marL="0" marR="0" lvl="0" indent="0" algn="l" rtl="0">
                        <a:lnSpc>
                          <a:spcPct val="100000"/>
                        </a:lnSpc>
                        <a:spcBef>
                          <a:spcPts val="0"/>
                        </a:spcBef>
                        <a:spcAft>
                          <a:spcPts val="0"/>
                        </a:spcAft>
                        <a:buClrTx/>
                        <a:buSzTx/>
                        <a:buFontTx/>
                        <a:buNone/>
                      </a:pPr>
                      <a:r>
                        <a:rPr lang="en-US"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Total annual investment for </a:t>
                      </a:r>
                      <a: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a:t>
                      </a:r>
                      <a:br>
                        <a:rPr lang="en-IN"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br>
                      <a:r>
                        <a:rPr lang="en-US" sz="1200" kern="1200" dirty="0">
                          <a:solidFill>
                            <a:srgbClr val="8A226F"/>
                          </a:solidFill>
                          <a:latin typeface="Segoe UI Semibold" panose="020B0702040204020203" pitchFamily="34" charset="0"/>
                          <a:ea typeface="Segoe UI Regular" pitchFamily="34" charset="-122"/>
                          <a:cs typeface="Segoe UI Semibold" panose="020B0702040204020203" pitchFamily="34" charset="0"/>
                        </a:rPr>
                        <a:t>{seats} seats</a:t>
                      </a:r>
                      <a:endParaRPr lang="en-US" sz="1200" kern="1200" noProof="0" dirty="0">
                        <a:solidFill>
                          <a:srgbClr val="8A226F"/>
                        </a:solidFill>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8A226F"/>
                          </a:solidFill>
                          <a:latin typeface="Segoe UI Semibold"/>
                          <a:ea typeface="Segoe UI Regular"/>
                          <a:cs typeface="Segoe UI Semibold"/>
                        </a:rPr>
                        <a:t>{total_upgraded_solution_investment}</a:t>
                      </a:r>
                      <a:endParaRPr lang="en-US" sz="1200" kern="1200" noProof="0" dirty="0">
                        <a:solidFill>
                          <a:srgbClr val="8A226F"/>
                        </a:solidFill>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4768798"/>
                  </a:ext>
                </a:extLst>
              </a:tr>
            </a:tbl>
          </a:graphicData>
        </a:graphic>
      </p:graphicFrame>
      <p:sp>
        <p:nvSpPr>
          <p:cNvPr id="7" name="Rectangle: Top Corners Rounded 6">
            <a:extLst>
              <a:ext uri="{FF2B5EF4-FFF2-40B4-BE49-F238E27FC236}">
                <a16:creationId xmlns:a16="http://schemas.microsoft.com/office/drawing/2014/main" id="{89EC0260-ABFC-AAAB-9FDE-ED53B10F04FE}"/>
              </a:ext>
            </a:extLst>
          </p:cNvPr>
          <p:cNvSpPr/>
          <p:nvPr/>
        </p:nvSpPr>
        <p:spPr>
          <a:xfrm>
            <a:off x="409574" y="865101"/>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latin typeface="Segoe UI Semibold" panose="020B0702040204020203" pitchFamily="34" charset="0"/>
                <a:cs typeface="Segoe UI Semibold" panose="020B0702040204020203" pitchFamily="34" charset="0"/>
              </a:rPr>
              <a:t>Solution</a:t>
            </a:r>
          </a:p>
        </p:txBody>
      </p:sp>
    </p:spTree>
    <p:extLst>
      <p:ext uri="{BB962C8B-B14F-4D97-AF65-F5344CB8AC3E}">
        <p14:creationId xmlns:p14="http://schemas.microsoft.com/office/powerpoint/2010/main" val="1286178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15</TotalTime>
  <Words>183</Words>
  <Application>Microsoft Office PowerPoint</Application>
  <PresentationFormat>Custom</PresentationFormat>
  <Paragraphs>17</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Seema Kapari</cp:lastModifiedBy>
  <cp:revision>6</cp:revision>
  <dcterms:created xsi:type="dcterms:W3CDTF">2026-02-21T17:45:29Z</dcterms:created>
  <dcterms:modified xsi:type="dcterms:W3CDTF">2026-07-15T15:47:02Z</dcterms:modified>
</cp:coreProperties>
</file>