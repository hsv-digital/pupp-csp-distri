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147470028" r:id="rId2"/>
  </p:sldIdLst>
  <p:sldSz cx="5667375" cy="8020050"/>
  <p:notesSz cx="8020050" cy="56673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26" userDrawn="1">
          <p15:clr>
            <a:srgbClr val="A4A3A4"/>
          </p15:clr>
        </p15:guide>
        <p15:guide id="2" pos="17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226F"/>
    <a:srgbClr val="B740C5"/>
    <a:srgbClr val="0078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C9D05D-4392-7104-50FB-DB0066542888}" v="13" dt="2026-07-15T07:41:41.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443" y="43"/>
      </p:cViewPr>
      <p:guideLst>
        <p:guide orient="horz" pos="2526"/>
        <p:guide pos="178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979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97566-5DA3-4FD3-6ABA-08FDBAE38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714D10-E112-FE89-18F0-5816FE368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B7F7E-1950-7068-03DD-373A84F250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422716-80CE-0279-DE28-A04A338745E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9449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6C7D0ED-795F-7210-E2EF-EE37319CAB15}"/>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E40C23C6-6AC0-EF7F-5A95-3EE2E871110C}"/>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36C152FF-9715-B577-982B-5F425FBFE1C9}"/>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202D7E1A-C991-394D-3780-483818805B66}"/>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AE2D533A-27E7-A5D2-CFFA-36D4BF2E839A}"/>
              </a:ext>
            </a:extLst>
          </p:cNvPr>
          <p:cNvSpPr/>
          <p:nvPr/>
        </p:nvSpPr>
        <p:spPr>
          <a:xfrm>
            <a:off x="409575" y="7369396"/>
            <a:ext cx="4848225" cy="731525"/>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 name="Table 2">
            <a:extLst>
              <a:ext uri="{FF2B5EF4-FFF2-40B4-BE49-F238E27FC236}">
                <a16:creationId xmlns:a16="http://schemas.microsoft.com/office/drawing/2014/main" id="{B3EA9381-0FCE-A3DF-89EF-C9A28D126C30}"/>
              </a:ext>
            </a:extLst>
          </p:cNvPr>
          <p:cNvGraphicFramePr>
            <a:graphicFrameLocks noGrp="1"/>
          </p:cNvGraphicFramePr>
          <p:nvPr>
            <p:extLst>
              <p:ext uri="{D42A27DB-BD31-4B8C-83A1-F6EECF244321}">
                <p14:modId xmlns:p14="http://schemas.microsoft.com/office/powerpoint/2010/main" val="4113546348"/>
              </p:ext>
            </p:extLst>
          </p:nvPr>
        </p:nvGraphicFramePr>
        <p:xfrm>
          <a:off x="409574" y="1178510"/>
          <a:ext cx="4848226" cy="1844091"/>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Proposed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spc="0" normalizeH="0" baseline="0">
                          <a:ln>
                            <a:noFill/>
                          </a:ln>
                          <a:solidFill>
                            <a:srgbClr val="8A226F"/>
                          </a:solidFill>
                          <a:effectLst/>
                          <a:uLnTx/>
                          <a:uFillTx/>
                          <a:latin typeface="Segoe UI Semibold"/>
                          <a:ea typeface="+mn-ea"/>
                          <a:cs typeface="Segoe UI Semibold"/>
                        </a:rPr>
                        <a:t>{</a:t>
                      </a:r>
                      <a:r>
                        <a:rPr kumimoji="0" lang="en-US" sz="1200" b="1" i="0" u="none" strike="noStrike" kern="1200" cap="none" spc="0" normalizeH="0" baseline="0">
                          <a:ln>
                            <a:noFill/>
                          </a:ln>
                          <a:solidFill>
                            <a:srgbClr val="8A226F"/>
                          </a:solidFill>
                          <a:effectLst/>
                          <a:uLnTx/>
                          <a:uFillTx/>
                          <a:latin typeface="Segoe UI Semibold"/>
                          <a:ea typeface="+mn-ea"/>
                          <a:cs typeface="Segoe UI Semibold"/>
                        </a:rPr>
                        <a:t>target_sku}</a:t>
                      </a:r>
                      <a:r>
                        <a:rPr kumimoji="0" lang="en-IN" sz="1200" b="1" i="0" u="none" strike="noStrike" kern="1200" cap="none" spc="0" normalizeH="0" baseline="0" dirty="0">
                          <a:ln>
                            <a:noFill/>
                          </a:ln>
                          <a:solidFill>
                            <a:srgbClr val="8A226F"/>
                          </a:solidFill>
                          <a:effectLst/>
                          <a:uLnTx/>
                          <a:uFillTx/>
                          <a:latin typeface="Segoe UI Semibold"/>
                          <a:ea typeface="+mn-ea"/>
                          <a:cs typeface="Segoe UI Semibold"/>
                        </a:rPr>
                        <a:t>​</a:t>
                      </a:r>
                      <a:endParaRPr kumimoji="0" lang="en-US" sz="1200" b="1" i="0" u="none" strike="noStrike" kern="1200" cap="none" spc="0" normalizeH="0" baseline="0" noProof="0" dirty="0">
                        <a:ln>
                          <a:noFill/>
                        </a:ln>
                        <a:solidFill>
                          <a:srgbClr val="8A226F"/>
                        </a:solidFill>
                        <a:effectLst/>
                        <a:uLnTx/>
                        <a:uFillTx/>
                        <a:latin typeface="Segoe UI Semibold"/>
                        <a:ea typeface="+mn-ea"/>
                        <a:cs typeface="Segoe UI Semibold"/>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 Proposed seats​</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chemeClr val="tx1"/>
                          </a:solidFill>
                          <a:effectLst/>
                          <a:uLnTx/>
                          <a:uFillTx/>
                          <a:latin typeface="Segoe UI"/>
                          <a:ea typeface="Segoe UI Regular"/>
                          <a:cs typeface="Segoe UI"/>
                        </a:rPr>
                        <a:t>{add_proposed_seat}</a:t>
                      </a:r>
                      <a:endParaRPr kumimoji="0" lang="en-US" sz="1200" b="0" i="0" u="none" strike="noStrike" kern="1200" cap="none" spc="0" normalizeH="0" baseline="0" noProof="0">
                        <a:ln>
                          <a:noFill/>
                        </a:ln>
                        <a:solidFill>
                          <a:schemeClr val="tx1"/>
                        </a:solidFill>
                        <a:effectLst/>
                        <a:uLnTx/>
                        <a:uFillTx/>
                        <a:latin typeface="Segoe UI"/>
                        <a:ea typeface="Segoe UI Regular"/>
                        <a:cs typeface="Segoe UI"/>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511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Total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rgbClr val="8A226F"/>
                          </a:solidFill>
                          <a:effectLst/>
                          <a:uLnTx/>
                          <a:uFillTx/>
                          <a:latin typeface="Segoe UI Semibold"/>
                          <a:ea typeface="+mn-ea"/>
                          <a:cs typeface="Segoe UI Semibold"/>
                        </a:rPr>
                        <a:t>{actual_price_per_user}</a:t>
                      </a:r>
                      <a:endParaRPr kumimoji="0" lang="en-US" sz="1200" b="1" i="0" u="none" strike="noStrike" kern="1200" cap="none" spc="0" normalizeH="0" baseline="0" noProof="0">
                        <a:ln>
                          <a:noFill/>
                        </a:ln>
                        <a:solidFill>
                          <a:srgbClr val="8A226F"/>
                        </a:solidFill>
                        <a:effectLst/>
                        <a:uLnTx/>
                        <a:uFillTx/>
                        <a:latin typeface="Segoe UI Semibold"/>
                        <a:ea typeface="+mn-ea"/>
                        <a:cs typeface="Segoe UI Semibold"/>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905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a:ea typeface="Segoe UI Regular"/>
                          <a:cs typeface="Segoe UI Semibold"/>
                        </a:rPr>
                        <a:t>Total annual investment for </a:t>
                      </a:r>
                      <a:br>
                        <a:rPr kumimoji="0" lang="en-US" sz="1200" b="1" i="0" u="none" strike="noStrike" kern="1200" cap="none" spc="0" normalizeH="0" baseline="0" noProof="0" dirty="0">
                          <a:ln>
                            <a:noFill/>
                          </a:ln>
                          <a:solidFill>
                            <a:srgbClr val="8A226F"/>
                          </a:solidFill>
                          <a:effectLst/>
                          <a:uLnTx/>
                          <a:uFillTx/>
                          <a:latin typeface="Segoe UI Semibold"/>
                          <a:ea typeface="Segoe UI Regular"/>
                          <a:cs typeface="Segoe UI Semibold"/>
                        </a:rPr>
                      </a:br>
                      <a:r>
                        <a:rPr kumimoji="0" lang="en-US" sz="1200" b="1" i="0" u="none" strike="noStrike" kern="1200" cap="none" spc="0" normalizeH="0" baseline="0">
                          <a:ln>
                            <a:noFill/>
                          </a:ln>
                          <a:solidFill>
                            <a:srgbClr val="8A226F"/>
                          </a:solidFill>
                          <a:effectLst/>
                          <a:uLnTx/>
                          <a:uFillTx/>
                          <a:latin typeface="Segoe UI Semibold"/>
                          <a:ea typeface="+mn-ea"/>
                          <a:cs typeface="Segoe UI Semibold"/>
                        </a:rPr>
                        <a:t>{seats}</a:t>
                      </a:r>
                      <a:r>
                        <a:rPr kumimoji="0" lang="en-US" sz="1200" b="1" i="0" u="none" strike="noStrike" kern="1200" cap="none" spc="0" normalizeH="0" baseline="0" noProof="0">
                          <a:ln>
                            <a:noFill/>
                          </a:ln>
                          <a:solidFill>
                            <a:srgbClr val="8A226F"/>
                          </a:solidFill>
                          <a:effectLst/>
                          <a:uLnTx/>
                          <a:uFillTx/>
                          <a:latin typeface="Segoe UI Semibold"/>
                          <a:ea typeface="Segoe UI Regular"/>
                          <a:cs typeface="Segoe UI Semibold"/>
                        </a:rPr>
                        <a:t> seats</a:t>
                      </a:r>
                    </a:p>
                  </a:txBody>
                  <a:tcPr marL="114680" marR="114680" marT="57340" marB="5734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a:ln>
                            <a:noFill/>
                          </a:ln>
                          <a:solidFill>
                            <a:srgbClr val="8A226F"/>
                          </a:solidFill>
                          <a:effectLst/>
                          <a:uLnTx/>
                          <a:uFillTx/>
                          <a:latin typeface="Segoe UI Semibold"/>
                          <a:ea typeface="+mn-ea"/>
                          <a:cs typeface="Segoe UI Semibold"/>
                        </a:rPr>
                        <a:t>{overall_incremental_cost}</a:t>
                      </a:r>
                      <a:endParaRPr kumimoji="0" lang="en-US" sz="1200" b="1" i="0" u="none" strike="noStrike" kern="1200" cap="none" spc="0" normalizeH="0" baseline="0" noProof="0">
                        <a:ln>
                          <a:noFill/>
                        </a:ln>
                        <a:solidFill>
                          <a:srgbClr val="8A226F"/>
                        </a:solidFill>
                        <a:effectLst/>
                        <a:uLnTx/>
                        <a:uFillTx/>
                        <a:latin typeface="Segoe UI Semibold"/>
                        <a:ea typeface="+mn-ea"/>
                        <a:cs typeface="Segoe UI Semibold"/>
                      </a:endParaRPr>
                    </a:p>
                  </a:txBody>
                  <a:tcPr marL="114680" marR="114680" marT="57340" marB="5734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44768798"/>
                  </a:ext>
                </a:extLst>
              </a:tr>
            </a:tbl>
          </a:graphicData>
        </a:graphic>
      </p:graphicFrame>
      <p:sp>
        <p:nvSpPr>
          <p:cNvPr id="7" name="Rectangle: Top Corners Rounded 6">
            <a:extLst>
              <a:ext uri="{FF2B5EF4-FFF2-40B4-BE49-F238E27FC236}">
                <a16:creationId xmlns:a16="http://schemas.microsoft.com/office/drawing/2014/main" id="{89EC0260-ABFC-AAAB-9FDE-ED53B10F04FE}"/>
              </a:ext>
            </a:extLst>
          </p:cNvPr>
          <p:cNvSpPr/>
          <p:nvPr/>
        </p:nvSpPr>
        <p:spPr>
          <a:xfrm>
            <a:off x="409574" y="865101"/>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latin typeface="Segoe UI Semibold" panose="020B0702040204020203" pitchFamily="34" charset="0"/>
                <a:cs typeface="Segoe UI Semibold" panose="020B0702040204020203" pitchFamily="34" charset="0"/>
              </a:rPr>
              <a:t>Solution</a:t>
            </a:r>
          </a:p>
        </p:txBody>
      </p:sp>
    </p:spTree>
    <p:extLst>
      <p:ext uri="{BB962C8B-B14F-4D97-AF65-F5344CB8AC3E}">
        <p14:creationId xmlns:p14="http://schemas.microsoft.com/office/powerpoint/2010/main" val="12861787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147</Words>
  <Application>Microsoft Office PowerPoint</Application>
  <PresentationFormat>Custom</PresentationFormat>
  <Paragraphs>13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Seema Kapari</cp:lastModifiedBy>
  <cp:revision>9</cp:revision>
  <dcterms:created xsi:type="dcterms:W3CDTF">2026-02-21T17:45:29Z</dcterms:created>
  <dcterms:modified xsi:type="dcterms:W3CDTF">2026-07-15T07:41:46Z</dcterms:modified>
</cp:coreProperties>
</file>