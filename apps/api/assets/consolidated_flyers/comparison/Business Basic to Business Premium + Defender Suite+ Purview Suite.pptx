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147470132" r:id="rId2"/>
    <p:sldId id="2147470133" r:id="rId3"/>
  </p:sldIdLst>
  <p:sldSz cx="5651500" cy="7991475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17" userDrawn="1">
          <p15:clr>
            <a:srgbClr val="A4A3A4"/>
          </p15:clr>
        </p15:guide>
        <p15:guide id="2" pos="17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40C5"/>
    <a:srgbClr val="EDD1EC"/>
    <a:srgbClr val="8A226F"/>
    <a:srgbClr val="F2E5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BEDE40-2AD9-B77A-2DC9-B8F2DFC08C3D}" v="18" dt="2026-07-06T14:59:41.87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125" d="100"/>
          <a:sy n="125" d="100"/>
        </p:scale>
        <p:origin x="160" y="-2064"/>
      </p:cViewPr>
      <p:guideLst>
        <p:guide orient="horz" pos="2517"/>
        <p:guide pos="17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ema Kapri" userId="S::seema.kapri@hsv.digital::3468d2f6-a5eb-4e01-882c-f62721c4c7bf" providerId="AD" clId="Web-{1BBEDE40-2AD9-B77A-2DC9-B8F2DFC08C3D}"/>
    <pc:docChg chg="modSld">
      <pc:chgData name="Seema Kapri" userId="S::seema.kapri@hsv.digital::3468d2f6-a5eb-4e01-882c-f62721c4c7bf" providerId="AD" clId="Web-{1BBEDE40-2AD9-B77A-2DC9-B8F2DFC08C3D}" dt="2026-07-06T14:59:39.001" v="14"/>
      <pc:docMkLst>
        <pc:docMk/>
      </pc:docMkLst>
      <pc:sldChg chg="modSp">
        <pc:chgData name="Seema Kapri" userId="S::seema.kapri@hsv.digital::3468d2f6-a5eb-4e01-882c-f62721c4c7bf" providerId="AD" clId="Web-{1BBEDE40-2AD9-B77A-2DC9-B8F2DFC08C3D}" dt="2026-07-06T14:59:39.001" v="14"/>
        <pc:sldMkLst>
          <pc:docMk/>
          <pc:sldMk cId="1298678969" sldId="2147470132"/>
        </pc:sldMkLst>
        <pc:graphicFrameChg chg="mod modGraphic">
          <ac:chgData name="Seema Kapri" userId="S::seema.kapri@hsv.digital::3468d2f6-a5eb-4e01-882c-f62721c4c7bf" providerId="AD" clId="Web-{1BBEDE40-2AD9-B77A-2DC9-B8F2DFC08C3D}" dt="2026-07-06T14:59:39.001" v="14"/>
          <ac:graphicFrameMkLst>
            <pc:docMk/>
            <pc:sldMk cId="1298678969" sldId="2147470132"/>
            <ac:graphicFrameMk id="6" creationId="{5E3B4D72-8ECF-FC71-F452-7A93BBB0309B}"/>
          </ac:graphicFrameMkLst>
        </pc:graphicFrameChg>
      </pc:sldChg>
    </pc:docChg>
  </pc:docChgLst>
  <pc:docChgLst>
    <pc:chgData name="Shreya Singh" userId="b354311e-5542-4a3b-80c7-af4347e0a1ac" providerId="ADAL" clId="{24CE2105-6015-495D-A54D-6F3B21ACCFC8}"/>
    <pc:docChg chg="undo custSel modSld">
      <pc:chgData name="Shreya Singh" userId="b354311e-5542-4a3b-80c7-af4347e0a1ac" providerId="ADAL" clId="{24CE2105-6015-495D-A54D-6F3B21ACCFC8}" dt="2026-07-01T09:26:37.069" v="55" actId="20577"/>
      <pc:docMkLst>
        <pc:docMk/>
      </pc:docMkLst>
      <pc:sldChg chg="modSp mod">
        <pc:chgData name="Shreya Singh" userId="b354311e-5542-4a3b-80c7-af4347e0a1ac" providerId="ADAL" clId="{24CE2105-6015-495D-A54D-6F3B21ACCFC8}" dt="2026-07-01T09:02:35.775" v="29" actId="14100"/>
        <pc:sldMkLst>
          <pc:docMk/>
          <pc:sldMk cId="1298678969" sldId="2147470132"/>
        </pc:sldMkLst>
        <pc:spChg chg="mod">
          <ac:chgData name="Shreya Singh" userId="b354311e-5542-4a3b-80c7-af4347e0a1ac" providerId="ADAL" clId="{24CE2105-6015-495D-A54D-6F3B21ACCFC8}" dt="2026-07-01T09:02:35.775" v="29" actId="14100"/>
          <ac:spMkLst>
            <pc:docMk/>
            <pc:sldMk cId="1298678969" sldId="2147470132"/>
            <ac:spMk id="4" creationId="{9F5867F4-BA91-BF36-7360-B2321D8FBF5A}"/>
          </ac:spMkLst>
        </pc:spChg>
        <pc:graphicFrameChg chg="mod modGraphic">
          <ac:chgData name="Shreya Singh" userId="b354311e-5542-4a3b-80c7-af4347e0a1ac" providerId="ADAL" clId="{24CE2105-6015-495D-A54D-6F3B21ACCFC8}" dt="2026-07-01T09:02:30.564" v="28" actId="14734"/>
          <ac:graphicFrameMkLst>
            <pc:docMk/>
            <pc:sldMk cId="1298678969" sldId="2147470132"/>
            <ac:graphicFrameMk id="6" creationId="{5E3B4D72-8ECF-FC71-F452-7A93BBB0309B}"/>
          </ac:graphicFrameMkLst>
        </pc:graphicFrameChg>
      </pc:sldChg>
      <pc:sldChg chg="modSp mod">
        <pc:chgData name="Shreya Singh" userId="b354311e-5542-4a3b-80c7-af4347e0a1ac" providerId="ADAL" clId="{24CE2105-6015-495D-A54D-6F3B21ACCFC8}" dt="2026-07-01T09:26:37.069" v="55" actId="20577"/>
        <pc:sldMkLst>
          <pc:docMk/>
          <pc:sldMk cId="2361401427" sldId="2147470133"/>
        </pc:sldMkLst>
        <pc:spChg chg="mod">
          <ac:chgData name="Shreya Singh" userId="b354311e-5542-4a3b-80c7-af4347e0a1ac" providerId="ADAL" clId="{24CE2105-6015-495D-A54D-6F3B21ACCFC8}" dt="2026-07-01T09:05:21.285" v="42" actId="14100"/>
          <ac:spMkLst>
            <pc:docMk/>
            <pc:sldMk cId="2361401427" sldId="2147470133"/>
            <ac:spMk id="4" creationId="{82678507-997D-319C-EDD2-27137CC61E42}"/>
          </ac:spMkLst>
        </pc:spChg>
        <pc:graphicFrameChg chg="mod modGraphic">
          <ac:chgData name="Shreya Singh" userId="b354311e-5542-4a3b-80c7-af4347e0a1ac" providerId="ADAL" clId="{24CE2105-6015-495D-A54D-6F3B21ACCFC8}" dt="2026-07-01T09:26:37.069" v="55" actId="20577"/>
          <ac:graphicFrameMkLst>
            <pc:docMk/>
            <pc:sldMk cId="2361401427" sldId="2147470133"/>
            <ac:graphicFrameMk id="6" creationId="{B895A84E-A541-A841-386E-2842E038E3B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A0BA04-CCF9-4555-86FF-FAF42E81E4A2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52850" y="857250"/>
            <a:ext cx="16383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4A72A-6E2F-4343-B7FF-0EAC6B5BD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562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6672D-357E-AE09-D76A-014F0C627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332C0C-3521-A55B-026E-F6FFB5301A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17E4CC-0EBA-7350-C27A-39771D1BD9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1036C-4868-F8EA-7F02-3A83D0A2A2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72A-6E2F-4343-B7FF-0EAC6B5BD07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207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7A722-ED30-BC52-7C61-7FAE2E83F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A24E27-ADDD-BA01-D929-49AFC2C55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DC8893-18A0-FCBB-C4B1-A8A9C1CAC6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5BE07-2F50-DBFF-E35C-ADCBDCB36C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72A-6E2F-4343-B7FF-0EAC6B5BD07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23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3863" y="1307866"/>
            <a:ext cx="4803775" cy="2782217"/>
          </a:xfrm>
        </p:spPr>
        <p:txBody>
          <a:bodyPr anchor="b"/>
          <a:lstStyle>
            <a:lvl1pPr algn="ctr">
              <a:defRPr sz="370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6438" y="4197375"/>
            <a:ext cx="4238625" cy="1929423"/>
          </a:xfrm>
        </p:spPr>
        <p:txBody>
          <a:bodyPr/>
          <a:lstStyle>
            <a:lvl1pPr marL="0" indent="0" algn="ctr">
              <a:buNone/>
              <a:defRPr sz="1483"/>
            </a:lvl1pPr>
            <a:lvl2pPr marL="282566" indent="0" algn="ctr">
              <a:buNone/>
              <a:defRPr sz="1236"/>
            </a:lvl2pPr>
            <a:lvl3pPr marL="565131" indent="0" algn="ctr">
              <a:buNone/>
              <a:defRPr sz="1112"/>
            </a:lvl3pPr>
            <a:lvl4pPr marL="847697" indent="0" algn="ctr">
              <a:buNone/>
              <a:defRPr sz="989"/>
            </a:lvl4pPr>
            <a:lvl5pPr marL="1130262" indent="0" algn="ctr">
              <a:buNone/>
              <a:defRPr sz="989"/>
            </a:lvl5pPr>
            <a:lvl6pPr marL="1412828" indent="0" algn="ctr">
              <a:buNone/>
              <a:defRPr sz="989"/>
            </a:lvl6pPr>
            <a:lvl7pPr marL="1695394" indent="0" algn="ctr">
              <a:buNone/>
              <a:defRPr sz="989"/>
            </a:lvl7pPr>
            <a:lvl8pPr marL="1977959" indent="0" algn="ctr">
              <a:buNone/>
              <a:defRPr sz="989"/>
            </a:lvl8pPr>
            <a:lvl9pPr marL="2260525" indent="0" algn="ctr">
              <a:buNone/>
              <a:defRPr sz="98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75733-6F7F-4117-9D24-6C952A0F31DE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F0519-0BF0-4B50-8CCC-476EE0113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8">
          <p15:clr>
            <a:srgbClr val="FBAE40"/>
          </p15:clr>
        </p15:guide>
        <p15:guide id="2" pos="24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8541" y="425474"/>
            <a:ext cx="4874419" cy="1544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541" y="2127361"/>
            <a:ext cx="4874419" cy="5070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8541" y="7406916"/>
            <a:ext cx="1271588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475733-6F7F-4117-9D24-6C952A0F31DE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72060" y="7406916"/>
            <a:ext cx="1907381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372" y="7406916"/>
            <a:ext cx="1271588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F0519-0BF0-4B50-8CCC-476EE0113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430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565131" rtl="0" eaLnBrk="1" latinLnBrk="0" hangingPunct="1">
        <a:lnSpc>
          <a:spcPct val="90000"/>
        </a:lnSpc>
        <a:spcBef>
          <a:spcPct val="0"/>
        </a:spcBef>
        <a:buNone/>
        <a:defRPr sz="27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283" indent="-141283" algn="l" defTabSz="565131" rtl="0" eaLnBrk="1" latinLnBrk="0" hangingPunct="1">
        <a:lnSpc>
          <a:spcPct val="90000"/>
        </a:lnSpc>
        <a:spcBef>
          <a:spcPts val="618"/>
        </a:spcBef>
        <a:buFont typeface="Arial" panose="020B0604020202020204" pitchFamily="34" charset="0"/>
        <a:buChar char="•"/>
        <a:defRPr sz="1730" kern="1200">
          <a:solidFill>
            <a:schemeClr val="tx1"/>
          </a:solidFill>
          <a:latin typeface="+mn-lt"/>
          <a:ea typeface="+mn-ea"/>
          <a:cs typeface="+mn-cs"/>
        </a:defRPr>
      </a:lvl1pPr>
      <a:lvl2pPr marL="423848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483" kern="1200">
          <a:solidFill>
            <a:schemeClr val="tx1"/>
          </a:solidFill>
          <a:latin typeface="+mn-lt"/>
          <a:ea typeface="+mn-ea"/>
          <a:cs typeface="+mn-cs"/>
        </a:defRPr>
      </a:lvl2pPr>
      <a:lvl3pPr marL="706414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236" kern="1200">
          <a:solidFill>
            <a:schemeClr val="tx1"/>
          </a:solidFill>
          <a:latin typeface="+mn-lt"/>
          <a:ea typeface="+mn-ea"/>
          <a:cs typeface="+mn-cs"/>
        </a:defRPr>
      </a:lvl3pPr>
      <a:lvl4pPr marL="988980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4pPr>
      <a:lvl5pPr marL="1271545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5pPr>
      <a:lvl6pPr marL="1554111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6pPr>
      <a:lvl7pPr marL="1836676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7pPr>
      <a:lvl8pPr marL="2119242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8pPr>
      <a:lvl9pPr marL="2401808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1pPr>
      <a:lvl2pPr marL="282566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2pPr>
      <a:lvl3pPr marL="565131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3pPr>
      <a:lvl4pPr marL="847697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4pPr>
      <a:lvl5pPr marL="1130262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5pPr>
      <a:lvl6pPr marL="1412828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6pPr>
      <a:lvl7pPr marL="1695394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7pPr>
      <a:lvl8pPr marL="1977959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8pPr>
      <a:lvl9pPr marL="2260525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785" userDrawn="1">
          <p15:clr>
            <a:srgbClr val="F26B43"/>
          </p15:clr>
        </p15:guide>
        <p15:guide id="2" pos="238" userDrawn="1">
          <p15:clr>
            <a:srgbClr val="F26B43"/>
          </p15:clr>
        </p15:guide>
        <p15:guide id="3" pos="3322" userDrawn="1">
          <p15:clr>
            <a:srgbClr val="F26B43"/>
          </p15:clr>
        </p15:guide>
        <p15:guide id="4" orient="horz" pos="249" userDrawn="1">
          <p15:clr>
            <a:srgbClr val="F26B43"/>
          </p15:clr>
        </p15:guide>
        <p15:guide id="5" orient="horz" pos="6094">
          <p15:clr>
            <a:srgbClr val="F26B43"/>
          </p15:clr>
        </p15:guide>
        <p15:guide id="6" pos="2448">
          <p15:clr>
            <a:srgbClr val="F26B43"/>
          </p15:clr>
        </p15:guide>
        <p15:guide id="7" orient="horz" pos="105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5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E49530-003F-7A9B-9E60-5EDE4A623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53">
            <a:extLst>
              <a:ext uri="{FF2B5EF4-FFF2-40B4-BE49-F238E27FC236}">
                <a16:creationId xmlns:a16="http://schemas.microsoft.com/office/drawing/2014/main" id="{9F5867F4-BA91-BF36-7360-B2321D8FBF5A}"/>
              </a:ext>
            </a:extLst>
          </p:cNvPr>
          <p:cNvSpPr>
            <a:spLocks/>
          </p:cNvSpPr>
          <p:nvPr/>
        </p:nvSpPr>
        <p:spPr bwMode="auto">
          <a:xfrm>
            <a:off x="377825" y="885947"/>
            <a:ext cx="4895850" cy="6969003"/>
          </a:xfrm>
          <a:prstGeom prst="roundRect">
            <a:avLst>
              <a:gd name="adj" fmla="val 1963"/>
            </a:avLst>
          </a:prstGeom>
          <a:solidFill>
            <a:srgbClr val="FFFFFF">
              <a:alpha val="80000"/>
            </a:srgbClr>
          </a:solidFill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txBody>
          <a:bodyPr rot="0" spcFirstLastPara="0" vert="horz" wrap="square" lIns="132875" tIns="106300" rIns="132875" bIns="1063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751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3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CAE529FA-3ADB-F704-2CB4-7E60D339C6DF}"/>
              </a:ext>
            </a:extLst>
          </p:cNvPr>
          <p:cNvSpPr/>
          <p:nvPr/>
        </p:nvSpPr>
        <p:spPr bwMode="auto">
          <a:xfrm flipH="1">
            <a:off x="377809" y="885948"/>
            <a:ext cx="4895851" cy="378972"/>
          </a:xfrm>
          <a:prstGeom prst="round2SameRect">
            <a:avLst>
              <a:gd name="adj1" fmla="val 16174"/>
              <a:gd name="adj2" fmla="val 0"/>
            </a:avLst>
          </a:prstGeom>
          <a:solidFill>
            <a:srgbClr val="8A226F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/>
          <a:p>
            <a:pPr marL="0" marR="0" lvl="0" indent="0" algn="ctr" defTabSz="92938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196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 panose="020B0502040204020203" pitchFamily="34" charset="0"/>
              <a:ea typeface="+mn-ea"/>
              <a:cs typeface="Segoe UI Semibold" panose="020B0502040204020203" pitchFamily="34" charset="0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5E3B4D72-8ECF-FC71-F452-7A93BBB030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05249"/>
              </p:ext>
            </p:extLst>
          </p:nvPr>
        </p:nvGraphicFramePr>
        <p:xfrm>
          <a:off x="377826" y="885943"/>
          <a:ext cx="4895850" cy="7017836"/>
        </p:xfrm>
        <a:graphic>
          <a:graphicData uri="http://schemas.openxmlformats.org/drawingml/2006/table">
            <a:tbl>
              <a:tblPr>
                <a:effectLst/>
                <a:tableStyleId>{2D5ABB26-0587-4C30-8999-92F81FD0307C}</a:tableStyleId>
              </a:tblPr>
              <a:tblGrid>
                <a:gridCol w="3218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904">
                  <a:extLst>
                    <a:ext uri="{9D8B030D-6E8A-4147-A177-3AD203B41FA5}">
                      <a16:colId xmlns:a16="http://schemas.microsoft.com/office/drawing/2014/main" val="3158391110"/>
                    </a:ext>
                  </a:extLst>
                </a:gridCol>
                <a:gridCol w="1205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301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Incremental capabilities</a:t>
                      </a:r>
                    </a:p>
                  </a:txBody>
                  <a:tcPr marL="72000" marR="72000" marT="0" marB="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Business Basic</a:t>
                      </a:r>
                    </a:p>
                  </a:txBody>
                  <a:tcPr marL="36000" marR="36000" marT="0" marB="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Business Premium</a:t>
                      </a:r>
                      <a:r>
                        <a:rPr lang="en-US" sz="700" b="0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+ Defender &amp; Purview Suite for </a:t>
                      </a:r>
                      <a:r>
                        <a:rPr lang="en-US" sz="700" b="0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Business Premium</a:t>
                      </a:r>
                      <a:endParaRPr lang="en-US" sz="700" b="0" i="0" u="none" strike="noStrike" kern="1200" cap="none" spc="0" normalizeH="0" baseline="0">
                        <a:solidFill>
                          <a:schemeClr val="bg1">
                            <a:lumMod val="100000"/>
                          </a:scheme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74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Productivity and collaboration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>
                        <a:solidFill>
                          <a:srgbClr val="8A226F">
                            <a:lumMod val="100000"/>
                          </a:srgb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58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Web and mobile versions of Word, Excel, PowerPoint, Outlook (100 GB); Teams (chat, call, meet); OneDrive (1 TB); SharePoint; Forms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95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Desktop versions of Word, Excel, PowerPoint, Outlook, OneNote, and Access (PC) — install on up to 5 PC/Mac + 5 tablets + 5 mobile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66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Microsoft Loop (collaborative workspaces), Clipchamp (video editing), and webinar hosting with attendee registration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239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Advanced grammar and style suggestions with Microsoft Editor (premium features)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474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Device management and Windows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>
                        <a:solidFill>
                          <a:srgbClr val="8A226F">
                            <a:lumMod val="100000"/>
                          </a:srgb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492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Microsoft Intune Plan 1: Endpoint management, security policies, and app deployment across iOS, Android, Windows, macOS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180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Windows Autopilot (zero-touch device setup), Windows Autopatch (automated updates), MAM, Endpoint Analytics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74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Windows 11 Pro upgrade, Azure Virtual Desktop, Shared Computer Activation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47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Monthly Security Summary Report — posture across identity, devices, info, apps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3152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579711"/>
                  </a:ext>
                </a:extLst>
              </a:tr>
              <a:tr h="1447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Device Exposure Score in Microsoft 365 Lighthouse — CSP/MSP cross-tenant view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3152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08952"/>
                  </a:ext>
                </a:extLst>
              </a:tr>
              <a:tr h="14474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Identity and access management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>
                        <a:solidFill>
                          <a:srgbClr val="8A226F">
                            <a:lumMod val="100000"/>
                          </a:srgb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474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Entra ID (Free): Basic SSO and MFA for cloud apps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95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↑↑ Entra ID P2: Risk-based Conditional Access with real-time sign-in and user risk detection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481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↑↑ Entra ID Protection: ML-driven anomaly detection for compromised credentials and suspicious sign-ins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241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↑↑ Entra ID Governance: Access reviews, entitlement management, and Privileged Identity Management (PIM)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4474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Identity threat detection and response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>
                        <a:solidFill>
                          <a:srgbClr val="8A226F">
                            <a:lumMod val="100000"/>
                          </a:srgb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5952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Defender for Identity: Monitor on-premises AD and hybrid identity for compromise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467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Detect lateral movement (pass-the-hash, pass-the-ticket, golden ticket) and credential theft attacks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4474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Endpoint security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>
                        <a:solidFill>
                          <a:srgbClr val="8A226F">
                            <a:lumMod val="100000"/>
                          </a:srgb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6519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Defender for Business: Next-gen antivirus, EDR, automated remediation, threat and vulnerability management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4477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 Defender for Endpoint P2: Advanced threat hunting, custom detection rules, KQL queries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3586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 Live response, 6-month data retention and advanced behavioral analytics for APT detection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4474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Email and collaboration security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>
                        <a:solidFill>
                          <a:srgbClr val="8A226F">
                            <a:lumMod val="100000"/>
                          </a:srgb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4408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Basic anti-spam and anti-malware filtering via Exchange Online Protection (EOP)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7885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 Defender for Office 365 P1: Safe Links, Safe Attachments, anti-phishing policies across email, Teams, SharePoint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5439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↑↑ Defender for Office 365 P2: Automated Investigation and Response (AIR), Attack Simulation Training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4950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↑↑ Threat Explorer, Threat Trackers, advanced hunting across email entities with campaign views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4950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  <a:cs typeface="Segoe UI"/>
                        </a:rPr>
                        <a:t>URL time-of-click protection (</a:t>
                      </a:r>
                      <a:r>
                        <a:rPr lang="en-US" sz="650" b="0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  <a:cs typeface="Segoe UI"/>
                        </a:rPr>
                        <a:t>SafeLinks</a:t>
                      </a: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  <a:cs typeface="Segoe UI"/>
                        </a:rPr>
                        <a:t> Lite) — re-checks links at moment of click</a:t>
                      </a:r>
                      <a:endParaRPr lang="en-US">
                        <a:sym typeface=""/>
                      </a:endParaRP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  <a:endParaRPr lang="en-US"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  <a:endParaRPr lang="en-US"/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940250"/>
                  </a:ext>
                </a:extLst>
              </a:tr>
              <a:tr h="14474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Cloud application, IoT and Unified XDR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>
                        <a:solidFill>
                          <a:srgbClr val="8A226F">
                            <a:lumMod val="100000"/>
                          </a:srgb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23684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Defender for Cloud Apps: Discover/control shadow IT across 31,000+ cloud and AI apps with session governance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1832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Defender for IoT (Enterprise IoT): Continuous asset discovery and threat detection for connected devices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24821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Defender XDR: Unified incident correlation, automatic attack disruption, and cross-domain advanced hunting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</a:tbl>
          </a:graphicData>
        </a:graphic>
      </p:graphicFrame>
      <p:sp>
        <p:nvSpPr>
          <p:cNvPr id="7" name="Incremental capabilities from Current SKU to Target SKU">
            <a:extLst>
              <a:ext uri="{FF2B5EF4-FFF2-40B4-BE49-F238E27FC236}">
                <a16:creationId xmlns:a16="http://schemas.microsoft.com/office/drawing/2014/main" id="{C59477DA-FB4A-3A17-594A-3E2828B6C023}"/>
              </a:ext>
            </a:extLst>
          </p:cNvPr>
          <p:cNvSpPr/>
          <p:nvPr/>
        </p:nvSpPr>
        <p:spPr>
          <a:xfrm>
            <a:off x="377826" y="281945"/>
            <a:ext cx="5036385" cy="470898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defTabSz="910968">
              <a:lnSpc>
                <a:spcPct val="85000"/>
              </a:lnSpc>
              <a:defRPr/>
            </a:pPr>
            <a:r>
              <a:rPr lang="en-US" dirty="0">
                <a:solidFill>
                  <a:srgbClr val="B740C5"/>
                </a:solidFill>
                <a:latin typeface="Segoe UI Semibold"/>
                <a:cs typeface="Segoe UI Semibold"/>
              </a:rPr>
              <a:t>Business Basic vs Business Premium + Defender Suite + Purview Suite for Business Premium</a:t>
            </a:r>
          </a:p>
        </p:txBody>
      </p:sp>
    </p:spTree>
    <p:extLst>
      <p:ext uri="{BB962C8B-B14F-4D97-AF65-F5344CB8AC3E}">
        <p14:creationId xmlns:p14="http://schemas.microsoft.com/office/powerpoint/2010/main" val="1298678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5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4DA86C-9812-61FD-C116-144F5741C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53">
            <a:extLst>
              <a:ext uri="{FF2B5EF4-FFF2-40B4-BE49-F238E27FC236}">
                <a16:creationId xmlns:a16="http://schemas.microsoft.com/office/drawing/2014/main" id="{82678507-997D-319C-EDD2-27137CC61E42}"/>
              </a:ext>
            </a:extLst>
          </p:cNvPr>
          <p:cNvSpPr>
            <a:spLocks/>
          </p:cNvSpPr>
          <p:nvPr/>
        </p:nvSpPr>
        <p:spPr bwMode="auto">
          <a:xfrm>
            <a:off x="377808" y="896532"/>
            <a:ext cx="4895850" cy="3543388"/>
          </a:xfrm>
          <a:prstGeom prst="roundRect">
            <a:avLst>
              <a:gd name="adj" fmla="val 1963"/>
            </a:avLst>
          </a:prstGeom>
          <a:solidFill>
            <a:srgbClr val="FFFFFF">
              <a:alpha val="80000"/>
            </a:srgbClr>
          </a:solidFill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txBody>
          <a:bodyPr rot="0" spcFirstLastPara="0" vert="horz" wrap="square" lIns="132875" tIns="106300" rIns="132875" bIns="1063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751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3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3678D041-0B2C-2AE8-AF4C-C94646DD6858}"/>
              </a:ext>
            </a:extLst>
          </p:cNvPr>
          <p:cNvSpPr/>
          <p:nvPr/>
        </p:nvSpPr>
        <p:spPr bwMode="auto">
          <a:xfrm flipH="1">
            <a:off x="377809" y="885948"/>
            <a:ext cx="4895851" cy="378972"/>
          </a:xfrm>
          <a:prstGeom prst="round2SameRect">
            <a:avLst>
              <a:gd name="adj1" fmla="val 16174"/>
              <a:gd name="adj2" fmla="val 0"/>
            </a:avLst>
          </a:prstGeom>
          <a:solidFill>
            <a:srgbClr val="8A226F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/>
          <a:p>
            <a:pPr marL="0" marR="0" lvl="0" indent="0" algn="ctr" defTabSz="92938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196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 panose="020B0502040204020203" pitchFamily="34" charset="0"/>
              <a:ea typeface="+mn-ea"/>
              <a:cs typeface="Segoe UI Semibold" panose="020B0502040204020203" pitchFamily="34" charset="0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B895A84E-A541-A841-386E-2842E038E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083465"/>
              </p:ext>
            </p:extLst>
          </p:nvPr>
        </p:nvGraphicFramePr>
        <p:xfrm>
          <a:off x="377810" y="880442"/>
          <a:ext cx="4895850" cy="3496085"/>
        </p:xfrm>
        <a:graphic>
          <a:graphicData uri="http://schemas.openxmlformats.org/drawingml/2006/table">
            <a:tbl>
              <a:tblPr>
                <a:effectLst/>
                <a:tableStyleId>{2D5ABB26-0587-4C30-8999-92F81FD0307C}</a:tableStyleId>
              </a:tblPr>
              <a:tblGrid>
                <a:gridCol w="3218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904">
                  <a:extLst>
                    <a:ext uri="{9D8B030D-6E8A-4147-A177-3AD203B41FA5}">
                      <a16:colId xmlns:a16="http://schemas.microsoft.com/office/drawing/2014/main" val="3158391110"/>
                    </a:ext>
                  </a:extLst>
                </a:gridCol>
                <a:gridCol w="1205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32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Incremental capabilities</a:t>
                      </a:r>
                    </a:p>
                  </a:txBody>
                  <a:tcPr marL="72000" marR="72000" marT="0" marB="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Business Basic</a:t>
                      </a:r>
                    </a:p>
                  </a:txBody>
                  <a:tcPr marL="36000" marR="36000" marT="0" marB="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Business Premium</a:t>
                      </a:r>
                      <a:r>
                        <a:rPr lang="en-US" sz="700" b="0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+ Defender &amp; Purview Suite for </a:t>
                      </a:r>
                      <a:r>
                        <a:rPr lang="en-US" sz="700" b="0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Business Premium</a:t>
                      </a:r>
                      <a:endParaRPr lang="en-US" sz="700" b="0" i="0" u="none" strike="noStrike" kern="1200" cap="none" spc="0" normalizeH="0" baseline="0">
                        <a:solidFill>
                          <a:schemeClr val="bg1">
                            <a:lumMod val="100000"/>
                          </a:scheme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36000" marR="36000" marT="0" marB="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63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Information Protection, Classification and DLP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>
                        <a:solidFill>
                          <a:srgbClr val="8A226F">
                            <a:lumMod val="100000"/>
                          </a:srgb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087951"/>
                  </a:ext>
                </a:extLst>
              </a:tr>
              <a:tr h="28446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Purview IP P1: Manual sensitivity labels, basic classification; Purview DLP for email/files via Exchange/SharePoint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912338"/>
                  </a:ext>
                </a:extLst>
              </a:tr>
              <a:tr h="26987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 IP P2: Auto labeling, trainable classifiers (ML), EDM, data discovery; Unified/Endpoint/Adaptive DLP across M365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819017"/>
                  </a:ext>
                </a:extLst>
              </a:tr>
              <a:tr h="28257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Insider Risk Management: Detect data theft, policy violations with privacy analytics + Adaptive Protection for DLP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834599"/>
                  </a:ext>
                </a:extLst>
              </a:tr>
              <a:tr h="18076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Purview DLP for Copilot Prompts — blocks Copilot from processing sensitive data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636259"/>
                  </a:ext>
                </a:extLst>
              </a:tr>
              <a:tr h="203200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Data Security Posture Management for AI (DSPM for AI)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110116"/>
                  </a:ext>
                </a:extLst>
              </a:tr>
              <a:tr h="223520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Purview AI data security and compliance (DLP, DSPM, Insider Risk)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611584"/>
                  </a:ext>
                </a:extLst>
              </a:tr>
              <a:tr h="134635">
                <a:tc gridSpan="3"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eDiscovery, audit and data lifecycle</a:t>
                      </a: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161446"/>
                  </a:ext>
                </a:extLst>
              </a:tr>
              <a:tr h="17651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Purview Audit (Standard): Log and search audited user/admin activities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2409275"/>
                  </a:ext>
                </a:extLst>
              </a:tr>
              <a:tr h="27622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 eDiscovery (Premium): Legal hold, review sets, predictive coding; Audit (Premium): 10-year retention, forensic insights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397066"/>
                  </a:ext>
                </a:extLst>
              </a:tr>
              <a:tr h="27622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Data Lifecycle Management: Automated retention/deletion, records management, event-based triggers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757167"/>
                  </a:ext>
                </a:extLst>
              </a:tr>
              <a:tr h="135269">
                <a:tc>
                  <a:txBody>
                    <a:bodyPr/>
                    <a:lstStyle/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Copilot Chat</a:t>
                      </a:r>
                      <a:endParaRPr lang="en-US" sz="700" b="0" i="0" u="none" strike="noStrike" kern="1200" cap="none" spc="0" normalizeH="0" baseline="0" dirty="0">
                        <a:solidFill>
                          <a:srgbClr val="8A226F">
                            <a:lumMod val="100000"/>
                          </a:srgb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7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Copilot Chat enhancements — inbox &amp; calendar awareness + Word/Excel/PowerPoint agents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Copilot Chat Analytics — admin reporting on adoption and usage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Incremental capabilities from Current SKU to Target SKU">
            <a:extLst>
              <a:ext uri="{FF2B5EF4-FFF2-40B4-BE49-F238E27FC236}">
                <a16:creationId xmlns:a16="http://schemas.microsoft.com/office/drawing/2014/main" id="{D45E92C4-B71C-E11C-BBD2-C4A654BE4D7F}"/>
              </a:ext>
            </a:extLst>
          </p:cNvPr>
          <p:cNvSpPr/>
          <p:nvPr/>
        </p:nvSpPr>
        <p:spPr>
          <a:xfrm>
            <a:off x="377826" y="281945"/>
            <a:ext cx="5036385" cy="470898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defTabSz="910968">
              <a:lnSpc>
                <a:spcPct val="85000"/>
              </a:lnSpc>
              <a:defRPr/>
            </a:pPr>
            <a:r>
              <a:rPr lang="en-US" dirty="0">
                <a:solidFill>
                  <a:srgbClr val="B740C5"/>
                </a:solidFill>
                <a:latin typeface="Segoe UI Semibold"/>
                <a:cs typeface="Segoe UI Semibold"/>
              </a:rPr>
              <a:t>Business Basic vs Business Premium + Defender Suite + Purview Suite for Business Premium</a:t>
            </a:r>
          </a:p>
        </p:txBody>
      </p:sp>
    </p:spTree>
    <p:extLst>
      <p:ext uri="{BB962C8B-B14F-4D97-AF65-F5344CB8AC3E}">
        <p14:creationId xmlns:p14="http://schemas.microsoft.com/office/powerpoint/2010/main" val="236140142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</TotalTime>
  <Words>754</Words>
  <Application>Microsoft Office PowerPoint</Application>
  <PresentationFormat>Custom</PresentationFormat>
  <Paragraphs>100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2_Office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Seema Kapari</dc:creator>
  <cp:lastModifiedBy>Shreya Singh</cp:lastModifiedBy>
  <cp:revision>7</cp:revision>
  <dcterms:created xsi:type="dcterms:W3CDTF">2026-03-24T15:15:07Z</dcterms:created>
  <dcterms:modified xsi:type="dcterms:W3CDTF">2026-07-06T14:59:42Z</dcterms:modified>
</cp:coreProperties>
</file>