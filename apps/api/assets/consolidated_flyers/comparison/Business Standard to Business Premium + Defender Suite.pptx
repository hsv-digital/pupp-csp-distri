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147470131" r:id="rId2"/>
  </p:sldIdLst>
  <p:sldSz cx="5651500" cy="7991475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17" userDrawn="1">
          <p15:clr>
            <a:srgbClr val="A4A3A4"/>
          </p15:clr>
        </p15:guide>
        <p15:guide id="2" pos="1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40C5"/>
    <a:srgbClr val="EDD1EC"/>
    <a:srgbClr val="8A226F"/>
    <a:srgbClr val="F2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CF1F8A-0F42-98EF-3B51-9DD71356D521}" v="16" dt="2026-07-06T15:11:30.4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33" autoAdjust="0"/>
    <p:restoredTop sz="94694"/>
  </p:normalViewPr>
  <p:slideViewPr>
    <p:cSldViewPr snapToGrid="0">
      <p:cViewPr>
        <p:scale>
          <a:sx n="100" d="100"/>
          <a:sy n="100" d="100"/>
        </p:scale>
        <p:origin x="1520" y="-200"/>
      </p:cViewPr>
      <p:guideLst>
        <p:guide orient="horz" pos="2517"/>
        <p:guide pos="1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apri" userId="S::seema.kapri@hsv.digital::3468d2f6-a5eb-4e01-882c-f62721c4c7bf" providerId="AD" clId="Web-{B3CF1F8A-0F42-98EF-3B51-9DD71356D521}"/>
    <pc:docChg chg="modSld">
      <pc:chgData name="Seema Kapri" userId="S::seema.kapri@hsv.digital::3468d2f6-a5eb-4e01-882c-f62721c4c7bf" providerId="AD" clId="Web-{B3CF1F8A-0F42-98EF-3B51-9DD71356D521}" dt="2026-07-06T15:11:30.408" v="14"/>
      <pc:docMkLst>
        <pc:docMk/>
      </pc:docMkLst>
      <pc:sldChg chg="modSp">
        <pc:chgData name="Seema Kapri" userId="S::seema.kapri@hsv.digital::3468d2f6-a5eb-4e01-882c-f62721c4c7bf" providerId="AD" clId="Web-{B3CF1F8A-0F42-98EF-3B51-9DD71356D521}" dt="2026-07-06T15:11:30.408" v="14"/>
        <pc:sldMkLst>
          <pc:docMk/>
          <pc:sldMk cId="984748421" sldId="2147470131"/>
        </pc:sldMkLst>
        <pc:graphicFrameChg chg="mod modGraphic">
          <ac:chgData name="Seema Kapri" userId="S::seema.kapri@hsv.digital::3468d2f6-a5eb-4e01-882c-f62721c4c7bf" providerId="AD" clId="Web-{B3CF1F8A-0F42-98EF-3B51-9DD71356D521}" dt="2026-07-06T15:11:30.408" v="14"/>
          <ac:graphicFrameMkLst>
            <pc:docMk/>
            <pc:sldMk cId="984748421" sldId="2147470131"/>
            <ac:graphicFrameMk id="3" creationId="{87D9E01C-C9A6-5E17-F3DB-B8574ADE2CFC}"/>
          </ac:graphicFrameMkLst>
        </pc:graphicFrameChg>
      </pc:sldChg>
    </pc:docChg>
  </pc:docChgLst>
  <pc:docChgLst>
    <pc:chgData name="Shreya Singh" userId="b354311e-5542-4a3b-80c7-af4347e0a1ac" providerId="ADAL" clId="{24CE2105-6015-495D-A54D-6F3B21ACCFC8}"/>
    <pc:docChg chg="modSld">
      <pc:chgData name="Shreya Singh" userId="b354311e-5542-4a3b-80c7-af4347e0a1ac" providerId="ADAL" clId="{24CE2105-6015-495D-A54D-6F3B21ACCFC8}" dt="2026-07-01T09:57:38.255" v="45" actId="14100"/>
      <pc:docMkLst>
        <pc:docMk/>
      </pc:docMkLst>
      <pc:sldChg chg="modSp mod">
        <pc:chgData name="Shreya Singh" userId="b354311e-5542-4a3b-80c7-af4347e0a1ac" providerId="ADAL" clId="{24CE2105-6015-495D-A54D-6F3B21ACCFC8}" dt="2026-07-01T09:57:38.255" v="45" actId="14100"/>
        <pc:sldMkLst>
          <pc:docMk/>
          <pc:sldMk cId="984748421" sldId="2147470131"/>
        </pc:sldMkLst>
        <pc:graphicFrameChg chg="mod modGraphic">
          <ac:chgData name="Shreya Singh" userId="b354311e-5542-4a3b-80c7-af4347e0a1ac" providerId="ADAL" clId="{24CE2105-6015-495D-A54D-6F3B21ACCFC8}" dt="2026-07-01T09:57:38.255" v="45" actId="14100"/>
          <ac:graphicFrameMkLst>
            <pc:docMk/>
            <pc:sldMk cId="984748421" sldId="2147470131"/>
            <ac:graphicFrameMk id="3" creationId="{87D9E01C-C9A6-5E17-F3DB-B8574ADE2CF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0BA04-CCF9-4555-86FF-FAF42E81E4A2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52850" y="857250"/>
            <a:ext cx="16383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4A72A-6E2F-4343-B7FF-0EAC6B5BD0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56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05F24-EAFA-C0D2-1BA0-C406A0E8D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40E1F-78EE-F920-69D8-E07017B99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85A3E-6077-DA2E-3C59-19B64A843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7E132-67DD-5892-676E-632E73D17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4A72A-6E2F-4343-B7FF-0EAC6B5BD0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21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863" y="1307866"/>
            <a:ext cx="4803775" cy="2782217"/>
          </a:xfrm>
        </p:spPr>
        <p:txBody>
          <a:bodyPr anchor="b"/>
          <a:lstStyle>
            <a:lvl1pPr algn="ctr">
              <a:defRPr sz="370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6438" y="4197375"/>
            <a:ext cx="4238625" cy="1929423"/>
          </a:xfrm>
        </p:spPr>
        <p:txBody>
          <a:bodyPr/>
          <a:lstStyle>
            <a:lvl1pPr marL="0" indent="0" algn="ctr">
              <a:buNone/>
              <a:defRPr sz="1483"/>
            </a:lvl1pPr>
            <a:lvl2pPr marL="282566" indent="0" algn="ctr">
              <a:buNone/>
              <a:defRPr sz="1236"/>
            </a:lvl2pPr>
            <a:lvl3pPr marL="565131" indent="0" algn="ctr">
              <a:buNone/>
              <a:defRPr sz="1112"/>
            </a:lvl3pPr>
            <a:lvl4pPr marL="847697" indent="0" algn="ctr">
              <a:buNone/>
              <a:defRPr sz="989"/>
            </a:lvl4pPr>
            <a:lvl5pPr marL="1130262" indent="0" algn="ctr">
              <a:buNone/>
              <a:defRPr sz="989"/>
            </a:lvl5pPr>
            <a:lvl6pPr marL="1412828" indent="0" algn="ctr">
              <a:buNone/>
              <a:defRPr sz="989"/>
            </a:lvl6pPr>
            <a:lvl7pPr marL="1695394" indent="0" algn="ctr">
              <a:buNone/>
              <a:defRPr sz="989"/>
            </a:lvl7pPr>
            <a:lvl8pPr marL="1977959" indent="0" algn="ctr">
              <a:buNone/>
              <a:defRPr sz="989"/>
            </a:lvl8pPr>
            <a:lvl9pPr marL="2260525" indent="0" algn="ctr">
              <a:buNone/>
              <a:defRPr sz="98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6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541" y="425474"/>
            <a:ext cx="4874419" cy="1544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41" y="2127361"/>
            <a:ext cx="4874419" cy="5070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541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475733-6F7F-4117-9D24-6C952A0F31DE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2060" y="7406916"/>
            <a:ext cx="1907381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372" y="7406916"/>
            <a:ext cx="1271588" cy="4254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F0519-0BF0-4B50-8CCC-476EE0113D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3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65131" rtl="0" eaLnBrk="1" latinLnBrk="0" hangingPunct="1">
        <a:lnSpc>
          <a:spcPct val="90000"/>
        </a:lnSpc>
        <a:spcBef>
          <a:spcPct val="0"/>
        </a:spcBef>
        <a:buNone/>
        <a:defRPr sz="2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283" indent="-141283" algn="l" defTabSz="565131" rtl="0" eaLnBrk="1" latinLnBrk="0" hangingPunct="1">
        <a:lnSpc>
          <a:spcPct val="90000"/>
        </a:lnSpc>
        <a:spcBef>
          <a:spcPts val="618"/>
        </a:spcBef>
        <a:buFont typeface="Arial" panose="020B0604020202020204" pitchFamily="34" charset="0"/>
        <a:buChar char="•"/>
        <a:defRPr sz="1730" kern="1200">
          <a:solidFill>
            <a:schemeClr val="tx1"/>
          </a:solidFill>
          <a:latin typeface="+mn-lt"/>
          <a:ea typeface="+mn-ea"/>
          <a:cs typeface="+mn-cs"/>
        </a:defRPr>
      </a:lvl1pPr>
      <a:lvl2pPr marL="42384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483" kern="1200">
          <a:solidFill>
            <a:schemeClr val="tx1"/>
          </a:solidFill>
          <a:latin typeface="+mn-lt"/>
          <a:ea typeface="+mn-ea"/>
          <a:cs typeface="+mn-cs"/>
        </a:defRPr>
      </a:lvl2pPr>
      <a:lvl3pPr marL="706414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236" kern="1200">
          <a:solidFill>
            <a:schemeClr val="tx1"/>
          </a:solidFill>
          <a:latin typeface="+mn-lt"/>
          <a:ea typeface="+mn-ea"/>
          <a:cs typeface="+mn-cs"/>
        </a:defRPr>
      </a:lvl3pPr>
      <a:lvl4pPr marL="988980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271545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554111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836676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2119242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401808" indent="-141283" algn="l" defTabSz="565131" rtl="0" eaLnBrk="1" latinLnBrk="0" hangingPunct="1">
        <a:lnSpc>
          <a:spcPct val="90000"/>
        </a:lnSpc>
        <a:spcBef>
          <a:spcPts val="309"/>
        </a:spcBef>
        <a:buFont typeface="Arial" panose="020B0604020202020204" pitchFamily="34" charset="0"/>
        <a:buChar char="•"/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1pPr>
      <a:lvl2pPr marL="282566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2pPr>
      <a:lvl3pPr marL="565131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3pPr>
      <a:lvl4pPr marL="847697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4pPr>
      <a:lvl5pPr marL="1130262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5pPr>
      <a:lvl6pPr marL="1412828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6pPr>
      <a:lvl7pPr marL="1695394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7pPr>
      <a:lvl8pPr marL="1977959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8pPr>
      <a:lvl9pPr marL="2260525" algn="l" defTabSz="565131" rtl="0" eaLnBrk="1" latinLnBrk="0" hangingPunct="1">
        <a:defRPr sz="1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785" userDrawn="1">
          <p15:clr>
            <a:srgbClr val="F26B43"/>
          </p15:clr>
        </p15:guide>
        <p15:guide id="2" pos="238" userDrawn="1">
          <p15:clr>
            <a:srgbClr val="F26B43"/>
          </p15:clr>
        </p15:guide>
        <p15:guide id="3" pos="3322" userDrawn="1">
          <p15:clr>
            <a:srgbClr val="F26B43"/>
          </p15:clr>
        </p15:guide>
        <p15:guide id="4" orient="horz" pos="249" userDrawn="1">
          <p15:clr>
            <a:srgbClr val="F26B43"/>
          </p15:clr>
        </p15:guide>
        <p15:guide id="5" orient="horz" pos="6094">
          <p15:clr>
            <a:srgbClr val="F26B43"/>
          </p15:clr>
        </p15:guide>
        <p15:guide id="6" pos="2448">
          <p15:clr>
            <a:srgbClr val="F26B43"/>
          </p15:clr>
        </p15:guide>
        <p15:guide id="7" orient="horz" pos="10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5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120D8-2E1C-97D2-0B8B-E1F1A1754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53">
            <a:extLst>
              <a:ext uri="{FF2B5EF4-FFF2-40B4-BE49-F238E27FC236}">
                <a16:creationId xmlns:a16="http://schemas.microsoft.com/office/drawing/2014/main" id="{A2874374-4E8D-12AA-1924-3D92CD38A0EB}"/>
              </a:ext>
            </a:extLst>
          </p:cNvPr>
          <p:cNvSpPr>
            <a:spLocks/>
          </p:cNvSpPr>
          <p:nvPr/>
        </p:nvSpPr>
        <p:spPr bwMode="auto">
          <a:xfrm>
            <a:off x="377825" y="830192"/>
            <a:ext cx="4895850" cy="6975353"/>
          </a:xfrm>
          <a:prstGeom prst="roundRect">
            <a:avLst>
              <a:gd name="adj" fmla="val 1963"/>
            </a:avLst>
          </a:prstGeom>
          <a:solidFill>
            <a:srgbClr val="FFFFFF">
              <a:alpha val="80000"/>
            </a:srgbClr>
          </a:solidFill>
          <a:effectLst>
            <a:outerShdw blurRad="127000" dist="38100" dir="2700000" algn="tl" rotWithShape="0">
              <a:prstClr val="black">
                <a:alpha val="11000"/>
              </a:prstClr>
            </a:outerShdw>
          </a:effectLst>
        </p:spPr>
        <p:txBody>
          <a:bodyPr rot="0" spcFirstLastPara="0" vert="horz" wrap="square" lIns="132875" tIns="106300" rIns="132875" bIns="1063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7751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53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32114F20-6DED-04EB-CC44-EC6CFF6DCC0A}"/>
              </a:ext>
            </a:extLst>
          </p:cNvPr>
          <p:cNvSpPr/>
          <p:nvPr/>
        </p:nvSpPr>
        <p:spPr bwMode="auto">
          <a:xfrm flipH="1">
            <a:off x="377808" y="830193"/>
            <a:ext cx="4895851" cy="367119"/>
          </a:xfrm>
          <a:prstGeom prst="round2SameRect">
            <a:avLst>
              <a:gd name="adj1" fmla="val 16174"/>
              <a:gd name="adj2" fmla="val 0"/>
            </a:avLst>
          </a:prstGeom>
          <a:solidFill>
            <a:srgbClr val="8A226F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ctr" defTabSz="92938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/>
            </a:pPr>
            <a:endParaRPr kumimoji="0" lang="en-US" sz="1196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87D9E01C-C9A6-5E17-F3DB-B8574ADE2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539028"/>
              </p:ext>
            </p:extLst>
          </p:nvPr>
        </p:nvGraphicFramePr>
        <p:xfrm>
          <a:off x="377826" y="830184"/>
          <a:ext cx="4895850" cy="6942244"/>
        </p:xfrm>
        <a:graphic>
          <a:graphicData uri="http://schemas.openxmlformats.org/drawingml/2006/table">
            <a:tbl>
              <a:tblPr>
                <a:effectLst/>
                <a:tableStyleId>{2D5ABB26-0587-4C30-8999-92F81FD0307C}</a:tableStyleId>
              </a:tblPr>
              <a:tblGrid>
                <a:gridCol w="3413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794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Incremental capabilities</a:t>
                      </a:r>
                    </a:p>
                  </a:txBody>
                  <a:tcPr marL="72000" marR="72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 Standard</a:t>
                      </a: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chemeClr val="bg1">
                              <a:lumMod val="100000"/>
                            </a:scheme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Business Premium+ Defender Suite for Business Premium</a:t>
                      </a:r>
                    </a:p>
                  </a:txBody>
                  <a:tcPr marL="36000" marR="36000" marT="0" marB="0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Productivity and collaboration (Common to both)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0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Desktop, web, and mobile versions of Word, Excel, PowerPoint, Outlook (100 GB), OneNote, Access (PC); Teams; OneDrive (1 TB); SharePoint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Loop, Clipchamp, Editor (premium), Forms, Bookings, Planner, To Do, Sway; webinar hosting with registration and reporting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Power Apps, Power Automate, Dataverse for Teams, Microsoft Graph API, Microsoft Search, Viva (Connections, Insights, Engage, Learning)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Security, Device management and Windows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Microsoft Intune Plan 1: Endpoint management, security policies, and app deployment across iOS, Android, Windows, macOS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Windows Autopilot (zero-touch device setup), Windows Autopatch (automated updates), MAM, Endpoint Analytics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746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Windows 11 Pro upgrade, Azure Virtual Desktop, Shared Computer Activation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7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Monthly Security Summary Report — posture across identity, devices, info, apps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031659"/>
                  </a:ext>
                </a:extLst>
              </a:tr>
              <a:tr h="107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Device Exposure Score in Microsoft 365 Lighthouse — CSP/MSP cross-tenant view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6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391161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and access management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746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Entra ID (Free): Basic SSO and MFA for cloud apps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P2: Risk-based Conditional Access with real-time sign-in and user risk detection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Protection: ML-driven anomaly detection for compromised credentials and suspicious sign-ins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Entra ID Governance: Access reviews, entitlement management, and Privileged Identity Management (PIM)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Identity threat detection and response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9317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Identity: Monitor on-premises AD and hybrid identity for compromise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Detect lateral movement (pass-the-hash, pass-the-ticket, golden ticket) and credential theft attacks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Endpoint security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Business: Next-gen antivirus, EDR, automated remediation, threat and vulnerability management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Endpoint P2: Advanced threat hunting, custom detection rules, KQL queries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Live response, 6-month data retention and advanced behavioral analytics for APT detection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Email and collaboration security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0746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Basic anti-spam and anti-malware filtering via Exchange Online Protection (EOP)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 Defender for Office 365 P1: Safe Links, Safe Attachments, anti-phishing policies across email, Teams, SharePoint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Defender for Office 365 P2: Automated Investigation and Response (AIR), Attack Simulation Training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↑↑ Threat Explorer, Threat Trackers, advanced hunting across email entities with campaign views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49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URL time-of-click protection (</a:t>
                      </a: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SafeLinks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  <a:cs typeface="Segoe UI"/>
                        </a:rPr>
                        <a:t> Lite) — re-checks links at moment of click</a:t>
                      </a:r>
                      <a:endParaRPr lang="en-US">
                        <a:sym typeface=""/>
                      </a:endParaRP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/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Segoe UI"/>
                        </a:rPr>
                        <a:t>✓</a:t>
                      </a:r>
                      <a:endParaRPr lang="en-US">
                        <a:sym typeface="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858158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Cloud application, IoT and Unified XDR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Cloud Apps: Discover/control shadow IT across 31,000+ cloud and AI apps with session governance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for IoT (Enterprise IoT): Continuous asset discovery and threat detection for connected devices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Defender XDR: Unified incident correlation, automatic attack disruption, and cross-domain advanced hunting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11302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  <a:sym typeface=""/>
                        </a:rPr>
                        <a:t>Data security baseline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70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Information Protection P1: Manual sensitivity labels, default labeling, basic classification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14939"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Purview DLP for email and files; Audit (Standard); BitLocker; Credential Guard; Windows Information Protection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 algn="ctr" defTabSz="565131">
                        <a:buNone/>
                      </a:pPr>
                      <a:endParaRPr lang="en-US" sz="65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Calibri" charset="0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282566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565131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847697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130262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1412828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1695394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1977959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2260525" algn="l" defTabSz="565131" rtl="0" eaLnBrk="1" latinLnBrk="0" hangingPunct="1">
                        <a:defRPr sz="1112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565131" rtl="0" eaLnBrk="1" fontAlgn="ctr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650" b="0" i="0" u="none" strike="noStrike" kern="1200" cap="none" spc="0" normalizeH="0" baseline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  <a:sym typeface="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40526">
                <a:tc>
                  <a:txBody>
                    <a:bodyPr/>
                    <a:lstStyle/>
                    <a:p>
                      <a:pPr marL="0" marR="0" lvl="0" indent="0" algn="l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700" b="0" i="0" u="none" strike="noStrike" kern="1200" cap="none" spc="0" normalizeH="0" baseline="0" dirty="0">
                          <a:solidFill>
                            <a:srgbClr val="8A226F">
                              <a:lumMod val="100000"/>
                            </a:srgbClr>
                          </a:solidFill>
                          <a:latin typeface="Segoe UI Semibold" panose="020B0702040204020203" pitchFamily="34" charset="0"/>
                          <a:ea typeface="+mn-ea"/>
                          <a:cs typeface="Segoe UI Semibold" panose="020B0702040204020203" pitchFamily="34" charset="0"/>
                        </a:rPr>
                        <a:t>Copilot Chat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sz="700" b="0" i="0" u="none" strike="noStrike" kern="1200" cap="none" spc="0" normalizeH="0" baseline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40C5">
                        <a:lumMod val="100000"/>
                        <a:alpha val="2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865826"/>
                  </a:ext>
                </a:extLst>
              </a:tr>
              <a:tr h="2149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enhancements — inbox &amp; calendar awareness + Word/Excel/PowerPoint agents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546145"/>
                  </a:ext>
                </a:extLst>
              </a:tr>
              <a:tr h="1201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5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Copilot Chat Analytics — admin reporting on adoption and usage</a:t>
                      </a:r>
                    </a:p>
                  </a:txBody>
                  <a:tcPr marL="73152" marR="73152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6513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✓</a:t>
                      </a:r>
                    </a:p>
                  </a:txBody>
                  <a:tcPr marL="72000" marR="72000" marT="0" marB="0" anchor="ctr"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45629"/>
                  </a:ext>
                </a:extLst>
              </a:tr>
            </a:tbl>
          </a:graphicData>
        </a:graphic>
      </p:graphicFrame>
      <p:sp>
        <p:nvSpPr>
          <p:cNvPr id="7" name="Incremental capabilities from Current SKU to Target SKU">
            <a:extLst>
              <a:ext uri="{FF2B5EF4-FFF2-40B4-BE49-F238E27FC236}">
                <a16:creationId xmlns:a16="http://schemas.microsoft.com/office/drawing/2014/main" id="{695CE84E-C81D-9DD0-A22C-DDDA4219B39A}"/>
              </a:ext>
            </a:extLst>
          </p:cNvPr>
          <p:cNvSpPr/>
          <p:nvPr/>
        </p:nvSpPr>
        <p:spPr>
          <a:xfrm>
            <a:off x="377826" y="226190"/>
            <a:ext cx="4895849" cy="470898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spAutoFit/>
          </a:bodyPr>
          <a:lstStyle/>
          <a:p>
            <a:pPr defTabSz="910968">
              <a:lnSpc>
                <a:spcPct val="85000"/>
              </a:lnSpc>
              <a:defRPr/>
            </a:pPr>
            <a:r>
              <a:rPr lang="en-US">
                <a:solidFill>
                  <a:srgbClr val="B740C5"/>
                </a:solidFill>
                <a:latin typeface="Segoe UI Semibold"/>
                <a:cs typeface="Segoe UI Semibold"/>
              </a:rPr>
              <a:t>Business Standard vs Business Premium + Defender Suite for Business Premium</a:t>
            </a:r>
          </a:p>
        </p:txBody>
      </p:sp>
    </p:spTree>
    <p:extLst>
      <p:ext uri="{BB962C8B-B14F-4D97-AF65-F5344CB8AC3E}">
        <p14:creationId xmlns:p14="http://schemas.microsoft.com/office/powerpoint/2010/main" val="98474842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585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Seema Kapari</dc:creator>
  <cp:lastModifiedBy>Shreya Singh</cp:lastModifiedBy>
  <cp:revision>6</cp:revision>
  <dcterms:created xsi:type="dcterms:W3CDTF">2026-03-24T15:15:07Z</dcterms:created>
  <dcterms:modified xsi:type="dcterms:W3CDTF">2026-07-06T15:11:33Z</dcterms:modified>
</cp:coreProperties>
</file>