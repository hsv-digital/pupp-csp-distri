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  <p:sldMasterId id="2147483666" r:id="rId2"/>
  </p:sldMasterIdLst>
  <p:notesMasterIdLst>
    <p:notesMasterId r:id="rId4"/>
  </p:notesMasterIdLst>
  <p:sldIdLst>
    <p:sldId id="275" r:id="rId3"/>
  </p:sldIdLst>
  <p:sldSz cx="5667375" cy="8020050"/>
  <p:notesSz cx="8020050" cy="56673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 userDrawn="1">
          <p15:clr>
            <a:srgbClr val="A4A3A4"/>
          </p15:clr>
        </p15:guide>
        <p15:guide id="2" pos="17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226F"/>
    <a:srgbClr val="B740C5"/>
    <a:srgbClr val="007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B4CA3A-CC36-B2CE-A901-61D5C8C64CBC}" v="1" dt="2026-07-22T18:10:47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526"/>
        <p:guide pos="1785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7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34A72A-6E2F-4343-B7FF-0EAC6B5BD07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2114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054" y="1312542"/>
            <a:ext cx="4817268" cy="2792166"/>
          </a:xfrm>
        </p:spPr>
        <p:txBody>
          <a:bodyPr anchor="b"/>
          <a:lstStyle>
            <a:lvl1pPr algn="ctr"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422" y="4212384"/>
            <a:ext cx="4250532" cy="1936322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383" indent="0" algn="ctr">
              <a:buNone/>
              <a:defRPr sz="1240"/>
            </a:lvl2pPr>
            <a:lvl3pPr marL="566766" indent="0" algn="ctr">
              <a:buNone/>
              <a:defRPr sz="1116"/>
            </a:lvl3pPr>
            <a:lvl4pPr marL="850150" indent="0" algn="ctr">
              <a:buNone/>
              <a:defRPr sz="991"/>
            </a:lvl4pPr>
            <a:lvl5pPr marL="1133532" indent="0" algn="ctr">
              <a:buNone/>
              <a:defRPr sz="991"/>
            </a:lvl5pPr>
            <a:lvl6pPr marL="1416915" indent="0" algn="ctr">
              <a:buNone/>
              <a:defRPr sz="991"/>
            </a:lvl6pPr>
            <a:lvl7pPr marL="1700298" indent="0" algn="ctr">
              <a:buNone/>
              <a:defRPr sz="991"/>
            </a:lvl7pPr>
            <a:lvl8pPr marL="1983682" indent="0" algn="ctr">
              <a:buNone/>
              <a:defRPr sz="991"/>
            </a:lvl8pPr>
            <a:lvl9pPr marL="2267064" indent="0" algn="ctr">
              <a:buNone/>
              <a:defRPr sz="99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7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962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681" y="1999447"/>
            <a:ext cx="4888111" cy="3336117"/>
          </a:xfrm>
        </p:spPr>
        <p:txBody>
          <a:bodyPr anchor="b"/>
          <a:lstStyle>
            <a:lvl1pPr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681" y="5367124"/>
            <a:ext cx="4888111" cy="1754386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1pPr>
            <a:lvl2pPr marL="283383" indent="0">
              <a:buNone/>
              <a:defRPr sz="1240">
                <a:solidFill>
                  <a:schemeClr val="tx1">
                    <a:tint val="82000"/>
                  </a:schemeClr>
                </a:solidFill>
              </a:defRPr>
            </a:lvl2pPr>
            <a:lvl3pPr marL="566766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3pPr>
            <a:lvl4pPr marL="850150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4pPr>
            <a:lvl5pPr marL="1133532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5pPr>
            <a:lvl6pPr marL="1416915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6pPr>
            <a:lvl7pPr marL="1700298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7pPr>
            <a:lvl8pPr marL="1983682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8pPr>
            <a:lvl9pPr marL="2267064" indent="0">
              <a:buNone/>
              <a:defRPr sz="99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186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9633" y="2134967"/>
            <a:ext cx="2408634" cy="50886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69109" y="2134967"/>
            <a:ext cx="2408634" cy="50886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710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371" y="426996"/>
            <a:ext cx="4888111" cy="1550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370" y="1966027"/>
            <a:ext cx="2397565" cy="963519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83" indent="0">
              <a:buNone/>
              <a:defRPr sz="1240" b="1"/>
            </a:lvl2pPr>
            <a:lvl3pPr marL="566766" indent="0">
              <a:buNone/>
              <a:defRPr sz="1116" b="1"/>
            </a:lvl3pPr>
            <a:lvl4pPr marL="850150" indent="0">
              <a:buNone/>
              <a:defRPr sz="991" b="1"/>
            </a:lvl4pPr>
            <a:lvl5pPr marL="1133532" indent="0">
              <a:buNone/>
              <a:defRPr sz="991" b="1"/>
            </a:lvl5pPr>
            <a:lvl6pPr marL="1416915" indent="0">
              <a:buNone/>
              <a:defRPr sz="991" b="1"/>
            </a:lvl6pPr>
            <a:lvl7pPr marL="1700298" indent="0">
              <a:buNone/>
              <a:defRPr sz="991" b="1"/>
            </a:lvl7pPr>
            <a:lvl8pPr marL="1983682" indent="0">
              <a:buNone/>
              <a:defRPr sz="991" b="1"/>
            </a:lvl8pPr>
            <a:lvl9pPr marL="2267064" indent="0">
              <a:buNone/>
              <a:defRPr sz="9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370" y="2929547"/>
            <a:ext cx="2397565" cy="4308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69110" y="1966027"/>
            <a:ext cx="2409372" cy="963519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83" indent="0">
              <a:buNone/>
              <a:defRPr sz="1240" b="1"/>
            </a:lvl2pPr>
            <a:lvl3pPr marL="566766" indent="0">
              <a:buNone/>
              <a:defRPr sz="1116" b="1"/>
            </a:lvl3pPr>
            <a:lvl4pPr marL="850150" indent="0">
              <a:buNone/>
              <a:defRPr sz="991" b="1"/>
            </a:lvl4pPr>
            <a:lvl5pPr marL="1133532" indent="0">
              <a:buNone/>
              <a:defRPr sz="991" b="1"/>
            </a:lvl5pPr>
            <a:lvl6pPr marL="1416915" indent="0">
              <a:buNone/>
              <a:defRPr sz="991" b="1"/>
            </a:lvl6pPr>
            <a:lvl7pPr marL="1700298" indent="0">
              <a:buNone/>
              <a:defRPr sz="991" b="1"/>
            </a:lvl7pPr>
            <a:lvl8pPr marL="1983682" indent="0">
              <a:buNone/>
              <a:defRPr sz="991" b="1"/>
            </a:lvl8pPr>
            <a:lvl9pPr marL="2267064" indent="0">
              <a:buNone/>
              <a:defRPr sz="9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69110" y="2929547"/>
            <a:ext cx="2409372" cy="4308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924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51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00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370" y="534672"/>
            <a:ext cx="1827876" cy="1871344"/>
          </a:xfrm>
        </p:spPr>
        <p:txBody>
          <a:bodyPr anchor="b"/>
          <a:lstStyle>
            <a:lvl1pPr>
              <a:defRPr sz="198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9373" y="1154742"/>
            <a:ext cx="2869108" cy="5699434"/>
          </a:xfrm>
        </p:spPr>
        <p:txBody>
          <a:bodyPr/>
          <a:lstStyle>
            <a:lvl1pPr>
              <a:defRPr sz="1984"/>
            </a:lvl1pPr>
            <a:lvl2pPr>
              <a:defRPr sz="1736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370" y="2406016"/>
            <a:ext cx="1827876" cy="4457441"/>
          </a:xfrm>
        </p:spPr>
        <p:txBody>
          <a:bodyPr/>
          <a:lstStyle>
            <a:lvl1pPr marL="0" indent="0">
              <a:buNone/>
              <a:defRPr sz="991"/>
            </a:lvl1pPr>
            <a:lvl2pPr marL="283383" indent="0">
              <a:buNone/>
              <a:defRPr sz="868"/>
            </a:lvl2pPr>
            <a:lvl3pPr marL="566766" indent="0">
              <a:buNone/>
              <a:defRPr sz="744"/>
            </a:lvl3pPr>
            <a:lvl4pPr marL="850150" indent="0">
              <a:buNone/>
              <a:defRPr sz="620"/>
            </a:lvl4pPr>
            <a:lvl5pPr marL="1133532" indent="0">
              <a:buNone/>
              <a:defRPr sz="620"/>
            </a:lvl5pPr>
            <a:lvl6pPr marL="1416915" indent="0">
              <a:buNone/>
              <a:defRPr sz="620"/>
            </a:lvl6pPr>
            <a:lvl7pPr marL="1700298" indent="0">
              <a:buNone/>
              <a:defRPr sz="620"/>
            </a:lvl7pPr>
            <a:lvl8pPr marL="1983682" indent="0">
              <a:buNone/>
              <a:defRPr sz="620"/>
            </a:lvl8pPr>
            <a:lvl9pPr marL="2267064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76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370" y="534672"/>
            <a:ext cx="1827876" cy="1871344"/>
          </a:xfrm>
        </p:spPr>
        <p:txBody>
          <a:bodyPr anchor="b"/>
          <a:lstStyle>
            <a:lvl1pPr>
              <a:defRPr sz="198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09373" y="1154742"/>
            <a:ext cx="2869108" cy="5699434"/>
          </a:xfrm>
        </p:spPr>
        <p:txBody>
          <a:bodyPr anchor="t"/>
          <a:lstStyle>
            <a:lvl1pPr marL="0" indent="0">
              <a:buNone/>
              <a:defRPr sz="1984"/>
            </a:lvl1pPr>
            <a:lvl2pPr marL="283383" indent="0">
              <a:buNone/>
              <a:defRPr sz="1736"/>
            </a:lvl2pPr>
            <a:lvl3pPr marL="566766" indent="0">
              <a:buNone/>
              <a:defRPr sz="1488"/>
            </a:lvl3pPr>
            <a:lvl4pPr marL="850150" indent="0">
              <a:buNone/>
              <a:defRPr sz="1240"/>
            </a:lvl4pPr>
            <a:lvl5pPr marL="1133532" indent="0">
              <a:buNone/>
              <a:defRPr sz="1240"/>
            </a:lvl5pPr>
            <a:lvl6pPr marL="1416915" indent="0">
              <a:buNone/>
              <a:defRPr sz="1240"/>
            </a:lvl6pPr>
            <a:lvl7pPr marL="1700298" indent="0">
              <a:buNone/>
              <a:defRPr sz="1240"/>
            </a:lvl7pPr>
            <a:lvl8pPr marL="1983682" indent="0">
              <a:buNone/>
              <a:defRPr sz="1240"/>
            </a:lvl8pPr>
            <a:lvl9pPr marL="2267064" indent="0">
              <a:buNone/>
              <a:defRPr sz="124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370" y="2406016"/>
            <a:ext cx="1827876" cy="4457441"/>
          </a:xfrm>
        </p:spPr>
        <p:txBody>
          <a:bodyPr/>
          <a:lstStyle>
            <a:lvl1pPr marL="0" indent="0">
              <a:buNone/>
              <a:defRPr sz="991"/>
            </a:lvl1pPr>
            <a:lvl2pPr marL="283383" indent="0">
              <a:buNone/>
              <a:defRPr sz="868"/>
            </a:lvl2pPr>
            <a:lvl3pPr marL="566766" indent="0">
              <a:buNone/>
              <a:defRPr sz="744"/>
            </a:lvl3pPr>
            <a:lvl4pPr marL="850150" indent="0">
              <a:buNone/>
              <a:defRPr sz="620"/>
            </a:lvl4pPr>
            <a:lvl5pPr marL="1133532" indent="0">
              <a:buNone/>
              <a:defRPr sz="620"/>
            </a:lvl5pPr>
            <a:lvl6pPr marL="1416915" indent="0">
              <a:buNone/>
              <a:defRPr sz="620"/>
            </a:lvl6pPr>
            <a:lvl7pPr marL="1700298" indent="0">
              <a:buNone/>
              <a:defRPr sz="620"/>
            </a:lvl7pPr>
            <a:lvl8pPr marL="1983682" indent="0">
              <a:buNone/>
              <a:defRPr sz="620"/>
            </a:lvl8pPr>
            <a:lvl9pPr marL="2267064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416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573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055715" y="426993"/>
            <a:ext cx="1222028" cy="67966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9633" y="426993"/>
            <a:ext cx="3595241" cy="67966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585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293" y="1312543"/>
            <a:ext cx="4819977" cy="2792165"/>
          </a:xfrm>
        </p:spPr>
        <p:txBody>
          <a:bodyPr anchor="b"/>
          <a:lstStyle>
            <a:lvl1pPr algn="ctr">
              <a:defRPr sz="372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821" y="4212384"/>
            <a:ext cx="4252921" cy="1936322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527" indent="0" algn="ctr">
              <a:buNone/>
              <a:defRPr sz="1240"/>
            </a:lvl2pPr>
            <a:lvl3pPr marL="567052" indent="0" algn="ctr">
              <a:buNone/>
              <a:defRPr sz="1116"/>
            </a:lvl3pPr>
            <a:lvl4pPr marL="850579" indent="0" algn="ctr">
              <a:buNone/>
              <a:defRPr sz="992"/>
            </a:lvl4pPr>
            <a:lvl5pPr marL="1134105" indent="0" algn="ctr">
              <a:buNone/>
              <a:defRPr sz="992"/>
            </a:lvl5pPr>
            <a:lvl6pPr marL="1417632" indent="0" algn="ctr">
              <a:buNone/>
              <a:defRPr sz="992"/>
            </a:lvl6pPr>
            <a:lvl7pPr marL="1701158" indent="0" algn="ctr">
              <a:buNone/>
              <a:defRPr sz="992"/>
            </a:lvl7pPr>
            <a:lvl8pPr marL="1984684" indent="0" algn="ctr">
              <a:buNone/>
              <a:defRPr sz="992"/>
            </a:lvl8pPr>
            <a:lvl9pPr marL="2268211" indent="0" algn="ctr">
              <a:buNone/>
              <a:defRPr sz="99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75733-6F7F-4117-9D24-6C952A0F31DE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57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9633" y="426996"/>
            <a:ext cx="4888111" cy="1550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9633" y="2134967"/>
            <a:ext cx="4888111" cy="5088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632" y="7433400"/>
            <a:ext cx="1275159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F6F66-F0E3-45FA-BF06-9237F73415C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7319" y="7433400"/>
            <a:ext cx="1912739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02585" y="7433400"/>
            <a:ext cx="1275159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789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697216" rtl="0" eaLnBrk="1" latinLnBrk="0" hangingPunct="1">
        <a:lnSpc>
          <a:spcPct val="90000"/>
        </a:lnSpc>
        <a:spcBef>
          <a:spcPct val="0"/>
        </a:spcBef>
        <a:buNone/>
        <a:defRPr sz="3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4304" indent="-174304" algn="l" defTabSz="697216" rtl="0" eaLnBrk="1" latinLnBrk="0" hangingPunct="1">
        <a:lnSpc>
          <a:spcPct val="90000"/>
        </a:lnSpc>
        <a:spcBef>
          <a:spcPts val="763"/>
        </a:spcBef>
        <a:buFont typeface="Arial" panose="020B0604020202020204" pitchFamily="34" charset="0"/>
        <a:buChar char="•"/>
        <a:defRPr sz="2135" kern="1200">
          <a:solidFill>
            <a:schemeClr val="tx1"/>
          </a:solidFill>
          <a:latin typeface="+mn-lt"/>
          <a:ea typeface="+mn-ea"/>
          <a:cs typeface="+mn-cs"/>
        </a:defRPr>
      </a:lvl1pPr>
      <a:lvl2pPr marL="522911" indent="-174304" algn="l" defTabSz="697216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30" kern="1200">
          <a:solidFill>
            <a:schemeClr val="tx1"/>
          </a:solidFill>
          <a:latin typeface="+mn-lt"/>
          <a:ea typeface="+mn-ea"/>
          <a:cs typeface="+mn-cs"/>
        </a:defRPr>
      </a:lvl2pPr>
      <a:lvl3pPr marL="871519" indent="-174304" algn="l" defTabSz="697216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525" kern="1200">
          <a:solidFill>
            <a:schemeClr val="tx1"/>
          </a:solidFill>
          <a:latin typeface="+mn-lt"/>
          <a:ea typeface="+mn-ea"/>
          <a:cs typeface="+mn-cs"/>
        </a:defRPr>
      </a:lvl3pPr>
      <a:lvl4pPr marL="1220126" indent="-174304" algn="l" defTabSz="697216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3" kern="1200">
          <a:solidFill>
            <a:schemeClr val="tx1"/>
          </a:solidFill>
          <a:latin typeface="+mn-lt"/>
          <a:ea typeface="+mn-ea"/>
          <a:cs typeface="+mn-cs"/>
        </a:defRPr>
      </a:lvl4pPr>
      <a:lvl5pPr marL="1568734" indent="-174304" algn="l" defTabSz="697216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3" kern="1200">
          <a:solidFill>
            <a:schemeClr val="tx1"/>
          </a:solidFill>
          <a:latin typeface="+mn-lt"/>
          <a:ea typeface="+mn-ea"/>
          <a:cs typeface="+mn-cs"/>
        </a:defRPr>
      </a:lvl5pPr>
      <a:lvl6pPr marL="1917342" indent="-174304" algn="l" defTabSz="697216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3" kern="1200">
          <a:solidFill>
            <a:schemeClr val="tx1"/>
          </a:solidFill>
          <a:latin typeface="+mn-lt"/>
          <a:ea typeface="+mn-ea"/>
          <a:cs typeface="+mn-cs"/>
        </a:defRPr>
      </a:lvl6pPr>
      <a:lvl7pPr marL="2265949" indent="-174304" algn="l" defTabSz="697216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3" kern="1200">
          <a:solidFill>
            <a:schemeClr val="tx1"/>
          </a:solidFill>
          <a:latin typeface="+mn-lt"/>
          <a:ea typeface="+mn-ea"/>
          <a:cs typeface="+mn-cs"/>
        </a:defRPr>
      </a:lvl7pPr>
      <a:lvl8pPr marL="2614556" indent="-174304" algn="l" defTabSz="697216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3" kern="1200">
          <a:solidFill>
            <a:schemeClr val="tx1"/>
          </a:solidFill>
          <a:latin typeface="+mn-lt"/>
          <a:ea typeface="+mn-ea"/>
          <a:cs typeface="+mn-cs"/>
        </a:defRPr>
      </a:lvl8pPr>
      <a:lvl9pPr marL="2963164" indent="-174304" algn="l" defTabSz="697216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1pPr>
      <a:lvl2pPr marL="348607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2pPr>
      <a:lvl3pPr marL="697216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3pPr>
      <a:lvl4pPr marL="1045823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4pPr>
      <a:lvl5pPr marL="1394430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5pPr>
      <a:lvl6pPr marL="1743037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6pPr>
      <a:lvl7pPr marL="2091645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7pPr>
      <a:lvl8pPr marL="2440253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8pPr>
      <a:lvl9pPr marL="2788860" algn="l" defTabSz="697216" rtl="0" eaLnBrk="1" latinLnBrk="0" hangingPunct="1">
        <a:defRPr sz="13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9852" y="426996"/>
            <a:ext cx="4890859" cy="1550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9852" y="2134968"/>
            <a:ext cx="4890859" cy="5088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851" y="7433401"/>
            <a:ext cx="1275877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75733-6F7F-4117-9D24-6C952A0F31DE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8374" y="7433401"/>
            <a:ext cx="1913814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04833" y="7433401"/>
            <a:ext cx="1275877" cy="426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1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567052" rtl="0" eaLnBrk="1" latinLnBrk="0" hangingPunct="1">
        <a:lnSpc>
          <a:spcPct val="90000"/>
        </a:lnSpc>
        <a:spcBef>
          <a:spcPct val="0"/>
        </a:spcBef>
        <a:buNone/>
        <a:defRPr sz="27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763" indent="-141763" algn="l" defTabSz="567052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25289" indent="-141763" algn="l" defTabSz="567052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816" indent="-141763" algn="l" defTabSz="567052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2343" indent="-141763" algn="l" defTabSz="567052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868" indent="-141763" algn="l" defTabSz="567052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9395" indent="-141763" algn="l" defTabSz="567052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2921" indent="-141763" algn="l" defTabSz="567052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6447" indent="-141763" algn="l" defTabSz="567052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9974" indent="-141763" algn="l" defTabSz="567052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7052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527" algn="l" defTabSz="567052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7052" algn="l" defTabSz="567052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579" algn="l" defTabSz="567052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4105" algn="l" defTabSz="567052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7632" algn="l" defTabSz="567052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1158" algn="l" defTabSz="567052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4684" algn="l" defTabSz="567052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8211" algn="l" defTabSz="567052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85">
          <p15:clr>
            <a:srgbClr val="F26B43"/>
          </p15:clr>
        </p15:guide>
        <p15:guide id="2" pos="238">
          <p15:clr>
            <a:srgbClr val="F26B43"/>
          </p15:clr>
        </p15:guide>
        <p15:guide id="3" pos="3322">
          <p15:clr>
            <a:srgbClr val="F26B43"/>
          </p15:clr>
        </p15:guide>
        <p15:guide id="4" orient="horz" pos="249">
          <p15:clr>
            <a:srgbClr val="F26B43"/>
          </p15:clr>
        </p15:guide>
        <p15:guide id="5" orient="horz" pos="6094">
          <p15:clr>
            <a:srgbClr val="F26B43"/>
          </p15:clr>
        </p15:guide>
        <p15:guide id="6" pos="2448">
          <p15:clr>
            <a:srgbClr val="F26B43"/>
          </p15:clr>
        </p15:guide>
        <p15:guide id="7" orient="horz" pos="10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en-us/topic/standard-versus-priority-access-to-features-in-microsoft-365-copilot-chat-12c8d9f8-db32-4f99-8ebe-d8d85879137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adoption.microsoft.com/en-us/copilot/frontier-progra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250A4-1DFA-ABF6-6D80-80612A54E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3">
            <a:extLst>
              <a:ext uri="{FF2B5EF4-FFF2-40B4-BE49-F238E27FC236}">
                <a16:creationId xmlns:a16="http://schemas.microsoft.com/office/drawing/2014/main" id="{C238211C-1CD5-37EA-A812-C16F6FFAC710}"/>
              </a:ext>
            </a:extLst>
          </p:cNvPr>
          <p:cNvSpPr>
            <a:spLocks/>
          </p:cNvSpPr>
          <p:nvPr/>
        </p:nvSpPr>
        <p:spPr bwMode="auto">
          <a:xfrm>
            <a:off x="379099" y="974127"/>
            <a:ext cx="4912362" cy="6042380"/>
          </a:xfrm>
          <a:prstGeom prst="roundRect">
            <a:avLst>
              <a:gd name="adj" fmla="val 1963"/>
            </a:avLst>
          </a:prstGeom>
          <a:solidFill>
            <a:srgbClr val="FFFFFF">
              <a:alpha val="80000"/>
            </a:srgbClr>
          </a:solidFill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3323" tIns="106659" rIns="133323" bIns="10665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7981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58" ker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cs typeface="Segoe UI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99720CF6-7FD5-4F76-4F07-CFC44843AA6D}"/>
              </a:ext>
            </a:extLst>
          </p:cNvPr>
          <p:cNvSpPr/>
          <p:nvPr/>
        </p:nvSpPr>
        <p:spPr bwMode="auto">
          <a:xfrm flipH="1">
            <a:off x="379094" y="974125"/>
            <a:ext cx="4912363" cy="370419"/>
          </a:xfrm>
          <a:prstGeom prst="round2SameRect">
            <a:avLst>
              <a:gd name="adj1" fmla="val 27828"/>
              <a:gd name="adj2" fmla="val 0"/>
            </a:avLst>
          </a:prstGeom>
          <a:solidFill>
            <a:srgbClr val="8A226F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 defTabSz="932544">
              <a:spcBef>
                <a:spcPct val="20000"/>
              </a:spcBef>
              <a:buSzPct val="90000"/>
              <a:defRPr/>
            </a:pPr>
            <a:endParaRPr lang="en-US" sz="1200" b="1">
              <a:solidFill>
                <a:srgbClr val="FFFFFF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0FEC6609-74A0-98E3-AB41-F1F68091B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645498"/>
              </p:ext>
            </p:extLst>
          </p:nvPr>
        </p:nvGraphicFramePr>
        <p:xfrm>
          <a:off x="379101" y="974134"/>
          <a:ext cx="4912363" cy="6042366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3703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08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800" b="1" i="0" u="none" strike="noStrike" kern="1200" cap="none" spc="0" normalizeH="0" baseline="0">
                        <a:solidFill>
                          <a:schemeClr val="bg1">
                            <a:lumMod val="100000"/>
                          </a:scheme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89981" marR="35993" marT="7619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1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w/o Copilot license</a:t>
                      </a:r>
                    </a:p>
                  </a:txBody>
                  <a:tcPr marL="7619" marR="7619" marT="7619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Calibri"/>
                          <a:cs typeface="Segoe UI Semibold"/>
                          <a:sym typeface=""/>
                        </a:rPr>
                        <a:t>$</a:t>
                      </a:r>
                      <a:r>
                        <a:rPr lang="en-US" sz="80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Calibri"/>
                          <a:cs typeface="Segoe UI Semibold"/>
                        </a:rPr>
                        <a:t>18</a:t>
                      </a:r>
                      <a:r>
                        <a:rPr lang="en-US" sz="80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Calibri"/>
                          <a:cs typeface="Segoe UI Semibold"/>
                          <a:sym typeface=""/>
                        </a:rPr>
                        <a:t> </a:t>
                      </a:r>
                      <a:br>
                        <a:rPr lang="en-US" sz="800" b="0" i="0" u="none" strike="noStrike" kern="1200" cap="none" spc="0" normalizeH="0" baseline="0">
                          <a:solidFill>
                            <a:srgbClr val="FFFFFF"/>
                          </a:solidFill>
                          <a:latin typeface="Segoe UI Semibold"/>
                          <a:ea typeface="Calibri"/>
                          <a:cs typeface="Segoe UI Semibold"/>
                          <a:sym typeface=""/>
                        </a:rPr>
                      </a:br>
                      <a:r>
                        <a:rPr lang="en-US" sz="800" b="0" i="0" u="none" strike="noStrike" kern="1200" cap="none" spc="0" normalizeH="0" baseline="0" err="1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Calibri"/>
                          <a:cs typeface="Segoe UI Semibold"/>
                          <a:sym typeface=""/>
                        </a:rPr>
                        <a:t>pu</a:t>
                      </a:r>
                      <a:r>
                        <a:rPr lang="en-US" sz="80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Calibri"/>
                          <a:cs typeface="Segoe UI Semibold"/>
                          <a:sym typeface=""/>
                        </a:rPr>
                        <a:t>/pm</a:t>
                      </a:r>
                    </a:p>
                  </a:txBody>
                  <a:tcPr marL="7619" marR="7619" marT="7619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014">
                <a:tc gridSpan="3"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Grounding </a:t>
                      </a:r>
                    </a:p>
                  </a:txBody>
                  <a:tcPr marL="72243" marR="0" marT="7619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/>
                    </a:p>
                  </a:txBody>
                  <a:tcPr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/>
                    </a:p>
                  </a:txBody>
                  <a:tcPr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Web data, referenced files, uploaded files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Work IQ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Use Copilot connectors to access external data sources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3BC4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▲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3BC4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001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Models</a:t>
                      </a:r>
                    </a:p>
                  </a:txBody>
                  <a:tcPr marL="72243" marR="0" marT="7619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243" marR="0" marT="7619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243" marR="0" marT="7619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r>
                        <a:rPr lang="en-US" sz="700" b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Latest OpenAI  models: GPT-5.X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  <a:sym typeface="Wingdings" panose="05000000000000000000" pitchFamily="2" charset="2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Standard</a:t>
                      </a:r>
                      <a:endParaRPr kumimoji="0" lang="en-US" sz="700" b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  <a:sym typeface="Wingdings" panose="05000000000000000000" pitchFamily="2" charset="2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Priority</a:t>
                      </a:r>
                      <a:endParaRPr kumimoji="0" lang="en-US" sz="700" b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Model choice</a:t>
                      </a:r>
                      <a:endParaRPr lang="en-US" sz="700" b="0" kern="1200">
                        <a:solidFill>
                          <a:schemeClr val="tx2"/>
                        </a:solidFill>
                        <a:highlight>
                          <a:srgbClr val="FFFF00"/>
                        </a:highlight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001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Microsoft 365 Copilot App</a:t>
                      </a:r>
                    </a:p>
                  </a:txBody>
                  <a:tcPr marL="72243" marR="0" marT="7619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243" marR="0" marT="7619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243" marR="0" marT="7619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r>
                        <a:rPr lang="en-US" sz="700" b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Chat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r>
                        <a:rPr lang="en-US" sz="700" b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Search</a:t>
                      </a:r>
                      <a:r>
                        <a:rPr lang="en-US" sz="700" b="0" baseline="3000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  <a:endParaRPr lang="en-US" sz="700" b="0">
                        <a:solidFill>
                          <a:schemeClr val="tx2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l-G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3BC4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ο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3BC4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851502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r>
                        <a:rPr lang="en-US" sz="700" b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Notebooks</a:t>
                      </a:r>
                      <a:endParaRPr lang="en-US" sz="700" b="0" kern="1200">
                        <a:solidFill>
                          <a:schemeClr val="tx2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389412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Create</a:t>
                      </a:r>
                      <a:r>
                        <a:rPr lang="en-US" sz="700" b="0" baseline="3000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</a:t>
                      </a:r>
                      <a:endParaRPr lang="en-US" sz="700" b="0">
                        <a:solidFill>
                          <a:schemeClr val="tx2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  <a:sym typeface="Wingdings" panose="05000000000000000000" pitchFamily="2" charset="2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Standard</a:t>
                      </a:r>
                      <a:endParaRPr kumimoji="0" lang="en-US" sz="700" b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  <a:sym typeface="Wingdings" panose="05000000000000000000" pitchFamily="2" charset="2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Priority</a:t>
                      </a:r>
                      <a:endParaRPr kumimoji="0" lang="en-US" sz="700" b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607376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Memory and personalization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177110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Voice on mobile, desktop, web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862812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Sora 2</a:t>
                      </a:r>
                      <a:r>
                        <a:rPr lang="en-US" sz="700" b="0" baseline="3000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</a:t>
                      </a:r>
                      <a:endParaRPr lang="en-US" sz="700" b="0">
                        <a:solidFill>
                          <a:schemeClr val="tx2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Copilot Mode in Edge</a:t>
                      </a:r>
                      <a:r>
                        <a:rPr lang="en-US" sz="700" b="0" baseline="3000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</a:t>
                      </a:r>
                      <a:endParaRPr lang="en-US" sz="700" b="0">
                        <a:solidFill>
                          <a:schemeClr val="tx2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l-G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3BC4"/>
                          </a:solidFill>
                          <a:effectLst/>
                          <a:uLnTx/>
                          <a:uFillTx/>
                          <a:latin typeface="Segoe UI Semibold"/>
                          <a:ea typeface="+mn-ea"/>
                          <a:cs typeface="Segoe UI Semibold"/>
                        </a:rPr>
                        <a:t>ο</a:t>
                      </a:r>
                      <a:r>
                        <a:rPr kumimoji="0" lang="en-U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C03BC4"/>
                          </a:solidFill>
                          <a:effectLst/>
                          <a:uLnTx/>
                          <a:uFillTx/>
                          <a:latin typeface="Segoe UI Semibold"/>
                          <a:ea typeface="+mn-ea"/>
                          <a:cs typeface="Segoe UI Semibold"/>
                        </a:rPr>
                        <a:t> 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3BC4"/>
                        </a:solidFill>
                        <a:effectLst/>
                        <a:uLnTx/>
                        <a:uFillTx/>
                        <a:latin typeface="Segoe UI Semibold"/>
                        <a:ea typeface="+mn-ea"/>
                        <a:cs typeface="Segoe UI Semibold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7001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M365 Apps</a:t>
                      </a:r>
                    </a:p>
                  </a:txBody>
                  <a:tcPr marL="72243" marR="0" marT="7619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243" marR="0" marT="7619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243" marR="0" marT="7619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Copilot in Outlook</a:t>
                      </a:r>
                      <a:r>
                        <a:rPr lang="en-US" sz="700" b="0" baseline="3000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6</a:t>
                      </a:r>
                      <a:endParaRPr lang="en-US" sz="700" b="0">
                        <a:solidFill>
                          <a:schemeClr val="tx2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  <a:sym typeface="Wingdings" panose="05000000000000000000" pitchFamily="2" charset="2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Standard</a:t>
                      </a:r>
                      <a:endParaRPr kumimoji="0" lang="en-US" sz="700" b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  <a:sym typeface="Wingdings" panose="05000000000000000000" pitchFamily="2" charset="2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Priority</a:t>
                      </a:r>
                      <a:endParaRPr kumimoji="0" lang="en-US" sz="700" b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Word, Excel, and PowerPoint agents accessed via Chat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  <a:sym typeface="Wingdings" panose="05000000000000000000" pitchFamily="2" charset="2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Standard</a:t>
                      </a:r>
                      <a:endParaRPr kumimoji="0" lang="en-US" sz="700" b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  <a:sym typeface="Wingdings" panose="05000000000000000000" pitchFamily="2" charset="2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Priority</a:t>
                      </a:r>
                      <a:endParaRPr kumimoji="0" lang="en-US" sz="700" b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Segoe UI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baseline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Copilot in Word, Excel, PowerPoint, and OneNote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32050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 baseline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Copilot in Teams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7001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Agents &amp; tools</a:t>
                      </a:r>
                    </a:p>
                  </a:txBody>
                  <a:tcPr marL="72243" marR="0" marT="7619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243" marR="0" marT="7619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243" marR="0" marT="7619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Pre-built Microsoft agents, including Researcher, Analyst, and Facilitator</a:t>
                      </a:r>
                      <a:r>
                        <a:rPr lang="en-US" sz="700" b="0" kern="1200" baseline="30000" noProof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</a:t>
                      </a:r>
                      <a:endParaRPr lang="en-US" sz="700" b="0" kern="1200">
                        <a:solidFill>
                          <a:schemeClr val="tx2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-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Sales, Service, and Finance agents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-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244451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 noProof="0">
                          <a:solidFill>
                            <a:schemeClr val="tx2"/>
                          </a:solidFill>
                          <a:latin typeface="Segoe UI"/>
                          <a:ea typeface="+mn-ea"/>
                          <a:cs typeface="Segoe UI"/>
                        </a:rPr>
                        <a:t>Agent creation</a:t>
                      </a:r>
                      <a:r>
                        <a:rPr lang="en-US" sz="700" b="0">
                          <a:solidFill>
                            <a:schemeClr val="tx2"/>
                          </a:solidFill>
                          <a:latin typeface="Segoe UI"/>
                          <a:ea typeface="+mn-ea"/>
                          <a:cs typeface="Segoe UI"/>
                        </a:rPr>
                        <a:t> </a:t>
                      </a:r>
                      <a:r>
                        <a:rPr lang="en-US" sz="700" b="0" kern="1200" noProof="0">
                          <a:solidFill>
                            <a:schemeClr val="tx2"/>
                          </a:solidFill>
                          <a:latin typeface="Segoe UI"/>
                          <a:ea typeface="+mn-ea"/>
                          <a:cs typeface="Segoe UI"/>
                        </a:rPr>
                        <a:t>using Agent Builder and Copilot Studio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8201745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App Builder and Workflows agents</a:t>
                      </a:r>
                      <a:r>
                        <a:rPr lang="en-US" sz="700" b="0" kern="1200" baseline="3000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</a:t>
                      </a:r>
                      <a:endParaRPr lang="en-US" sz="700" b="0" kern="1200">
                        <a:solidFill>
                          <a:schemeClr val="tx2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-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 noProof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Agent usage 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3BC4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▲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3BC4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70014">
                <a:tc gridSpan="3"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Security and management</a:t>
                      </a:r>
                    </a:p>
                  </a:txBody>
                  <a:tcPr marL="72243" marR="0" marT="7619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911222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Enterprise Data Protection (EDP), management, compliance, and controls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013098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r>
                        <a:rPr lang="en-US" sz="700" b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Analytics to measure adoption, usage, and business impact</a:t>
                      </a:r>
                      <a:r>
                        <a:rPr lang="en-US" sz="700" b="0" baseline="3000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</a:t>
                      </a:r>
                      <a:endParaRPr lang="en-US" sz="700" b="0">
                        <a:solidFill>
                          <a:schemeClr val="tx2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l-G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3BC4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ο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3BC4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90570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r>
                        <a:rPr lang="en-US" sz="700" b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SharePoint Advanced Management </a:t>
                      </a: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anose="05000000000000000000" pitchFamily="2" charset="2"/>
                        </a:rPr>
                        <a:t>-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91748" marR="91748" marT="9175" marB="9175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175670"/>
                  </a:ext>
                </a:extLst>
              </a:tr>
            </a:tbl>
          </a:graphicData>
        </a:graphic>
      </p:graphicFrame>
      <p:sp>
        <p:nvSpPr>
          <p:cNvPr id="7" name="Incremental capabilities from Current SKU to Target SKU">
            <a:extLst>
              <a:ext uri="{FF2B5EF4-FFF2-40B4-BE49-F238E27FC236}">
                <a16:creationId xmlns:a16="http://schemas.microsoft.com/office/drawing/2014/main" id="{62DBE37D-DAAD-7A64-9FA1-9E966FAF09BC}"/>
              </a:ext>
            </a:extLst>
          </p:cNvPr>
          <p:cNvSpPr/>
          <p:nvPr/>
        </p:nvSpPr>
        <p:spPr>
          <a:xfrm>
            <a:off x="370616" y="217919"/>
            <a:ext cx="4912362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defTabSz="914065">
              <a:defRPr/>
            </a:pPr>
            <a:r>
              <a:rPr lang="en-US" sz="1750">
                <a:solidFill>
                  <a:srgbClr val="B740C5"/>
                </a:solidFill>
                <a:latin typeface="Segoe UI Semibold"/>
                <a:cs typeface="Segoe UI Semibold"/>
              </a:rPr>
              <a:t>Copilot Chat vs Copilot Business detailed comparison</a:t>
            </a:r>
            <a:endParaRPr lang="en-US" sz="1799">
              <a:solidFill>
                <a:srgbClr val="B740C5"/>
              </a:solidFill>
              <a:latin typeface="Segoe UI Semibold"/>
              <a:cs typeface="Segoe UI Semi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001685-9800-0576-F448-7F12C57D9C18}"/>
              </a:ext>
            </a:extLst>
          </p:cNvPr>
          <p:cNvSpPr txBox="1"/>
          <p:nvPr/>
        </p:nvSpPr>
        <p:spPr>
          <a:xfrm>
            <a:off x="606528" y="754474"/>
            <a:ext cx="2837733" cy="1497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 defTabSz="935913">
              <a:defRPr/>
            </a:pPr>
            <a:r>
              <a:rPr lang="en-US" sz="702">
                <a:solidFill>
                  <a:srgbClr val="8A226F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</a:t>
            </a:r>
            <a:r>
              <a:rPr lang="en-US" sz="702">
                <a:solidFill>
                  <a:srgbClr val="00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 Included </a:t>
            </a:r>
            <a:r>
              <a:rPr lang="en-US" sz="903">
                <a:solidFill>
                  <a:srgbClr val="00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 </a:t>
            </a:r>
            <a:r>
              <a:rPr lang="el-GR" sz="903">
                <a:solidFill>
                  <a:srgbClr val="C03BC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ο</a:t>
            </a:r>
            <a:r>
              <a:rPr lang="en-US" sz="903">
                <a:solidFill>
                  <a:srgbClr val="8661C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702">
                <a:solidFill>
                  <a:srgbClr val="00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Limited</a:t>
            </a:r>
            <a:r>
              <a:rPr lang="en-US" sz="702">
                <a:solidFill>
                  <a:srgbClr val="00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  </a:t>
            </a:r>
            <a:r>
              <a:rPr lang="en-US" sz="702">
                <a:solidFill>
                  <a:srgbClr val="0078D4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 </a:t>
            </a:r>
            <a:r>
              <a:rPr lang="en-US" sz="803">
                <a:solidFill>
                  <a:srgbClr val="C03BC4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▲</a:t>
            </a:r>
            <a:r>
              <a:rPr lang="en-US" sz="803" baseline="58000">
                <a:solidFill>
                  <a:srgbClr val="C03BC4">
                    <a:lumMod val="75000"/>
                  </a:srgbClr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 </a:t>
            </a:r>
            <a:r>
              <a:rPr lang="en-US" sz="702">
                <a:solidFill>
                  <a:srgbClr val="00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Metered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61A24F-FEE0-6B59-2928-1E0F26FFEC4D}"/>
              </a:ext>
            </a:extLst>
          </p:cNvPr>
          <p:cNvSpPr txBox="1"/>
          <p:nvPr/>
        </p:nvSpPr>
        <p:spPr>
          <a:xfrm>
            <a:off x="4079586" y="796128"/>
            <a:ext cx="533992" cy="10808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7509">
              <a:defRPr/>
            </a:pPr>
            <a:r>
              <a:rPr lang="en-US" sz="702">
                <a:ln w="3175">
                  <a:noFill/>
                </a:ln>
                <a:solidFill>
                  <a:prstClr val="black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Copilot Chat</a:t>
            </a:r>
            <a:r>
              <a:rPr lang="en-US" sz="702" baseline="30000">
                <a:ln w="3175">
                  <a:noFill/>
                </a:ln>
                <a:solidFill>
                  <a:prstClr val="black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</a:t>
            </a:r>
            <a:endParaRPr lang="en-US" sz="702">
              <a:ln w="3175">
                <a:noFill/>
              </a:ln>
              <a:solidFill>
                <a:prstClr val="black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CCE92-401A-BA80-4EFF-1574EA0715D1}"/>
              </a:ext>
            </a:extLst>
          </p:cNvPr>
          <p:cNvSpPr txBox="1"/>
          <p:nvPr/>
        </p:nvSpPr>
        <p:spPr>
          <a:xfrm>
            <a:off x="4701737" y="747756"/>
            <a:ext cx="554010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917509">
              <a:defRPr/>
            </a:pPr>
            <a:r>
              <a:rPr lang="en-US" sz="700">
                <a:ln w="3175">
                  <a:noFill/>
                </a:ln>
                <a:solidFill>
                  <a:prstClr val="black"/>
                </a:solidFill>
                <a:latin typeface="Segoe UI Semibold"/>
                <a:cs typeface="Segoe UI Semibold"/>
              </a:rPr>
              <a:t>Copilot Business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038CE97F-D0F9-CAE7-5D2D-441E3000C3B4}"/>
              </a:ext>
            </a:extLst>
          </p:cNvPr>
          <p:cNvSpPr txBox="1"/>
          <p:nvPr/>
        </p:nvSpPr>
        <p:spPr>
          <a:xfrm>
            <a:off x="259954" y="7195745"/>
            <a:ext cx="5031508" cy="514809"/>
          </a:xfrm>
          <a:prstGeom prst="rect">
            <a:avLst/>
          </a:prstGeom>
          <a:noFill/>
        </p:spPr>
        <p:txBody>
          <a:bodyPr wrap="square" lIns="0" tIns="0" rIns="0" bIns="0" numCol="3" spcCol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857" indent="-114689" defTabSz="899261" fontAlgn="base">
              <a:spcAft>
                <a:spcPts val="100"/>
              </a:spcAft>
              <a:buFontTx/>
              <a:buAutoNum type="arabicParenR"/>
              <a:defRPr/>
            </a:pPr>
            <a:r>
              <a:rPr lang="en-US" sz="552">
                <a:solidFill>
                  <a:srgbClr val="091F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Applies to  customers with 2K or more M365 seats</a:t>
            </a:r>
          </a:p>
          <a:p>
            <a:pPr marL="252857" indent="-114689" defTabSz="899261" fontAlgn="base">
              <a:spcAft>
                <a:spcPts val="100"/>
              </a:spcAft>
              <a:buFontTx/>
              <a:buAutoNum type="arabicParenR"/>
              <a:defRPr/>
            </a:pPr>
            <a:r>
              <a:rPr lang="en-US" sz="552">
                <a:solidFill>
                  <a:srgbClr val="091F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Lexical search included for Copilot Chat users</a:t>
            </a:r>
          </a:p>
          <a:p>
            <a:pPr marL="252857" indent="-114689" defTabSz="899261" fontAlgn="base">
              <a:spcAft>
                <a:spcPts val="100"/>
              </a:spcAft>
              <a:buFontTx/>
              <a:buAutoNum type="arabicParenR"/>
              <a:defRPr/>
            </a:pPr>
            <a:r>
              <a:rPr lang="en-US" sz="552">
                <a:solidFill>
                  <a:srgbClr val="091F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Access to brand kits and surveys requires M365 Copilot license </a:t>
            </a:r>
          </a:p>
          <a:p>
            <a:pPr marL="252857" indent="-114689" defTabSz="899261" fontAlgn="base">
              <a:spcAft>
                <a:spcPts val="100"/>
              </a:spcAft>
              <a:buFontTx/>
              <a:buAutoNum type="arabicParenR"/>
              <a:defRPr/>
            </a:pPr>
            <a:r>
              <a:rPr lang="en-US" sz="552">
                <a:solidFill>
                  <a:srgbClr val="091F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Available via </a:t>
            </a:r>
            <a:r>
              <a:rPr lang="en-US" sz="552">
                <a:solidFill>
                  <a:srgbClr val="091F2C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Frontier </a:t>
            </a:r>
            <a:r>
              <a:rPr lang="en-US" sz="552">
                <a:solidFill>
                  <a:srgbClr val="091F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program, pricing final upon GA</a:t>
            </a:r>
          </a:p>
          <a:p>
            <a:pPr marL="252857" indent="-114689" defTabSz="899261" fontAlgn="base">
              <a:spcAft>
                <a:spcPts val="100"/>
              </a:spcAft>
              <a:buFontTx/>
              <a:buAutoNum type="arabicParenR"/>
              <a:defRPr/>
            </a:pPr>
            <a:r>
              <a:rPr lang="en-US" sz="552">
                <a:solidFill>
                  <a:srgbClr val="091F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Copilot Chat users access Copilot Mode w/web data and open documents only</a:t>
            </a:r>
          </a:p>
          <a:p>
            <a:pPr marL="252857" indent="-114689" defTabSz="899261" fontAlgn="base">
              <a:spcAft>
                <a:spcPts val="100"/>
              </a:spcAft>
              <a:buFontTx/>
              <a:buAutoNum type="arabicParenR"/>
              <a:defRPr/>
            </a:pPr>
            <a:r>
              <a:rPr lang="en-US" sz="552">
                <a:solidFill>
                  <a:srgbClr val="091F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unlicensed users, Copilot Chat in Outlook reasons over organizational data in Outlook, Teams, OneDrive, and SharePoint (limited). </a:t>
            </a:r>
          </a:p>
          <a:p>
            <a:pPr marL="252857" indent="-114689" defTabSz="899261" fontAlgn="base">
              <a:spcAft>
                <a:spcPts val="100"/>
              </a:spcAft>
              <a:buFontTx/>
              <a:buAutoNum type="arabicParenR"/>
              <a:defRPr/>
            </a:pPr>
            <a:r>
              <a:rPr lang="en-US" sz="552">
                <a:solidFill>
                  <a:srgbClr val="091F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Researcher and Analyst, have combined limit of 25 interactions </a:t>
            </a:r>
            <a:r>
              <a:rPr lang="en-US" sz="552" err="1">
                <a:solidFill>
                  <a:srgbClr val="091F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</a:t>
            </a:r>
            <a:r>
              <a:rPr lang="en-US" sz="552">
                <a:solidFill>
                  <a:srgbClr val="091F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/pm</a:t>
            </a:r>
          </a:p>
          <a:p>
            <a:pPr marL="252857" indent="-114689" defTabSz="899261" fontAlgn="base">
              <a:spcAft>
                <a:spcPts val="100"/>
              </a:spcAft>
              <a:buFontTx/>
              <a:buAutoNum type="arabicParenR"/>
              <a:defRPr/>
            </a:pPr>
            <a:r>
              <a:rPr lang="en-US" sz="552">
                <a:solidFill>
                  <a:srgbClr val="091F2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Basic reporting available with Copilot Chat</a:t>
            </a:r>
          </a:p>
        </p:txBody>
      </p:sp>
    </p:spTree>
    <p:extLst>
      <p:ext uri="{BB962C8B-B14F-4D97-AF65-F5344CB8AC3E}">
        <p14:creationId xmlns:p14="http://schemas.microsoft.com/office/powerpoint/2010/main" val="114481385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1_Office Theme</vt:lpstr>
      <vt:lpstr>2_Office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5</cp:revision>
  <dcterms:created xsi:type="dcterms:W3CDTF">2026-02-21T17:45:29Z</dcterms:created>
  <dcterms:modified xsi:type="dcterms:W3CDTF">2026-07-22T18:10:52Z</dcterms:modified>
</cp:coreProperties>
</file>