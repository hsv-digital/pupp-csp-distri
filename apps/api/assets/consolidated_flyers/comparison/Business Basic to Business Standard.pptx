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147470123" r:id="rId2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226F"/>
    <a:srgbClr val="B740C5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4CB3A2-26E2-4C7E-98D3-FFB5780C8005}" v="2" dt="2026-07-01T09:14:54.7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773" autoAdjust="0"/>
  </p:normalViewPr>
  <p:slideViewPr>
    <p:cSldViewPr snapToGrid="0" showGuides="1">
      <p:cViewPr>
        <p:scale>
          <a:sx n="125" d="100"/>
          <a:sy n="125" d="100"/>
        </p:scale>
        <p:origin x="884" y="-3208"/>
      </p:cViewPr>
      <p:guideLst>
        <p:guide orient="horz" pos="2517"/>
        <p:guide pos="1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Singh" userId="b354311e-5542-4a3b-80c7-af4347e0a1ac" providerId="ADAL" clId="{24CE2105-6015-495D-A54D-6F3B21ACCFC8}"/>
    <pc:docChg chg="undo custSel modSld">
      <pc:chgData name="Shreya Singh" userId="b354311e-5542-4a3b-80c7-af4347e0a1ac" providerId="ADAL" clId="{24CE2105-6015-495D-A54D-6F3B21ACCFC8}" dt="2026-07-01T09:31:53.281" v="48" actId="14100"/>
      <pc:docMkLst>
        <pc:docMk/>
      </pc:docMkLst>
      <pc:sldChg chg="modSp mod">
        <pc:chgData name="Shreya Singh" userId="b354311e-5542-4a3b-80c7-af4347e0a1ac" providerId="ADAL" clId="{24CE2105-6015-495D-A54D-6F3B21ACCFC8}" dt="2026-07-01T09:31:53.281" v="48" actId="14100"/>
        <pc:sldMkLst>
          <pc:docMk/>
          <pc:sldMk cId="1577766413" sldId="2147470123"/>
        </pc:sldMkLst>
        <pc:graphicFrameChg chg="mod modGraphic">
          <ac:chgData name="Shreya Singh" userId="b354311e-5542-4a3b-80c7-af4347e0a1ac" providerId="ADAL" clId="{24CE2105-6015-495D-A54D-6F3B21ACCFC8}" dt="2026-07-01T09:31:53.281" v="48" actId="14100"/>
          <ac:graphicFrameMkLst>
            <pc:docMk/>
            <pc:sldMk cId="1577766413" sldId="2147470123"/>
            <ac:graphicFrameMk id="9" creationId="{0F039B42-C900-F235-61AA-D94176AB767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210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250A4-1DFA-ABF6-6D80-80612A54E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C238211C-1CD5-37EA-A812-C16F6FFAC710}"/>
              </a:ext>
            </a:extLst>
          </p:cNvPr>
          <p:cNvSpPr>
            <a:spLocks/>
          </p:cNvSpPr>
          <p:nvPr/>
        </p:nvSpPr>
        <p:spPr bwMode="auto">
          <a:xfrm>
            <a:off x="377825" y="668177"/>
            <a:ext cx="4895850" cy="7092256"/>
          </a:xfrm>
          <a:prstGeom prst="roundRect">
            <a:avLst>
              <a:gd name="adj" fmla="val 1444"/>
            </a:avLst>
          </a:prstGeom>
          <a:solidFill>
            <a:srgbClr val="FFFFFF"/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99720CF6-7FD5-4F76-4F07-CFC44843AA6D}"/>
              </a:ext>
            </a:extLst>
          </p:cNvPr>
          <p:cNvSpPr/>
          <p:nvPr/>
        </p:nvSpPr>
        <p:spPr bwMode="auto">
          <a:xfrm flipH="1">
            <a:off x="377823" y="668175"/>
            <a:ext cx="4895851" cy="308765"/>
          </a:xfrm>
          <a:prstGeom prst="round2SameRect">
            <a:avLst>
              <a:gd name="adj1" fmla="val 27828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F039B42-C900-F235-61AA-D94176AB7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659073"/>
              </p:ext>
            </p:extLst>
          </p:nvPr>
        </p:nvGraphicFramePr>
        <p:xfrm>
          <a:off x="377826" y="668182"/>
          <a:ext cx="4895850" cy="6977229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889374">
                  <a:extLst>
                    <a:ext uri="{9D8B030D-6E8A-4147-A177-3AD203B41FA5}">
                      <a16:colId xmlns:a16="http://schemas.microsoft.com/office/drawing/2014/main" val="3544449490"/>
                    </a:ext>
                  </a:extLst>
                </a:gridCol>
                <a:gridCol w="495618">
                  <a:extLst>
                    <a:ext uri="{9D8B030D-6E8A-4147-A177-3AD203B41FA5}">
                      <a16:colId xmlns:a16="http://schemas.microsoft.com/office/drawing/2014/main" val="1850966862"/>
                    </a:ext>
                  </a:extLst>
                </a:gridCol>
                <a:gridCol w="510858">
                  <a:extLst>
                    <a:ext uri="{9D8B030D-6E8A-4147-A177-3AD203B41FA5}">
                      <a16:colId xmlns:a16="http://schemas.microsoft.com/office/drawing/2014/main" val="3293355969"/>
                    </a:ext>
                  </a:extLst>
                </a:gridCol>
              </a:tblGrid>
              <a:tr h="3176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Incremental capabilities: Business Basic → Business Standard</a:t>
                      </a:r>
                    </a:p>
                  </a:txBody>
                  <a:tcPr marL="89679" marR="35872" marT="75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>
                          <a:solidFill>
                            <a:schemeClr val="bg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Business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800" b="1" u="none" strike="noStrike">
                          <a:solidFill>
                            <a:schemeClr val="bg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Basic</a:t>
                      </a:r>
                    </a:p>
                  </a:txBody>
                  <a:tcPr marL="7593" marR="7593" marT="75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b="0" i="0" u="none" strike="noStrike" noProof="0">
                          <a:solidFill>
                            <a:schemeClr val="bg1"/>
                          </a:solidFill>
                          <a:effectLst/>
                          <a:latin typeface="Segoe UI Semibold" panose="020B0702040204020203" pitchFamily="34" charset="0"/>
                          <a:ea typeface="Calibri"/>
                          <a:cs typeface="Segoe UI Semibold" panose="020B0702040204020203" pitchFamily="34" charset="0"/>
                        </a:rPr>
                        <a:t>Business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b="0" i="0" u="none" strike="noStrike" noProof="0">
                          <a:solidFill>
                            <a:schemeClr val="bg1"/>
                          </a:solidFill>
                          <a:effectLst/>
                          <a:latin typeface="Segoe UI Semibold" panose="020B0702040204020203" pitchFamily="34" charset="0"/>
                          <a:ea typeface="Calibri"/>
                          <a:cs typeface="Segoe UI Semibold" panose="020B0702040204020203" pitchFamily="34" charset="0"/>
                        </a:rPr>
                        <a:t>Standard</a:t>
                      </a:r>
                    </a:p>
                  </a:txBody>
                  <a:tcPr marL="7593" marR="7593" marT="759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106101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>
                          <a:solidFill>
                            <a:srgbClr val="8A226F"/>
                          </a:solidFill>
                          <a:effectLst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Productivity Apps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394324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Web and mobile versions of Word, Excel, PowerPoint, and Outlook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75835"/>
                  </a:ext>
                </a:extLst>
              </a:tr>
              <a:tr h="24720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Desktop versions of Word, Excel, PowerPoint, Outlook, OneNote, and Access (PC only) — up to 5 PC/Mac, 5 tablets, 5 mobile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443300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OneNote: Digital notetaking across devices (web and mobile)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876163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OneNote: Full desktop application with offline access and advanced features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909906"/>
                  </a:ext>
                </a:extLst>
              </a:tr>
              <a:tr h="1443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Mailbox storage increased from 50 GB to 100 GB</a:t>
                      </a:r>
                    </a:p>
                  </a:txBody>
                  <a:tcPr marL="73152" marR="73152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448187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dirty="0">
                          <a:solidFill>
                            <a:srgbClr val="8A226F"/>
                          </a:solidFill>
                          <a:effectLst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Collaboration &amp; Communication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456875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Teams: Chat, audio, video calls, meetings, recording, and 3D immersive spaces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720957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Webinar hosting with attendee registration and reporting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721822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Access to file sharing and business apps in shared workspaces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33226"/>
                  </a:ext>
                </a:extLst>
              </a:tr>
              <a:tr h="240910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PSTN service to join meetings from a phone (Microsoft Teams Audio Conferencing) — available as a no-cost add-on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138044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>
                          <a:solidFill>
                            <a:srgbClr val="8A226F"/>
                          </a:solidFill>
                          <a:effectLst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Content Creation &amp; Design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603427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Loop: Collaborative workspaces for cocreation across teams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112303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Clipchamp: Web-based video editing and creation tools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42028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Sway: Digital storytelling app for interactive slideshows and presentations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018483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Editor: Basic grammar and spelling suggestions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073119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Editor: Advanced grammar, style, and writing suggestions (premium features)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593139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>
                          <a:solidFill>
                            <a:srgbClr val="8A226F"/>
                          </a:solidFill>
                          <a:effectLst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Email, Calendar &amp; Scheduling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581210"/>
                  </a:ext>
                </a:extLst>
              </a:tr>
              <a:tr h="22502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Ad-free email and calendar with Outlook; custom business email (you@yourbusiness.com) with Exchange Online Plan 1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62060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Bookings: Online appointment scheduling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431239"/>
                  </a:ext>
                </a:extLst>
              </a:tr>
              <a:tr h="252138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Bookings: Full customer-facing booking pages with staff management and calendar integration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61591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Shifts: Schedule management for frontline and shift-based teams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176503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>
                          <a:solidFill>
                            <a:srgbClr val="8A226F"/>
                          </a:solidFill>
                          <a:effectLst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Storage, Content Management &amp; Search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335846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OneDrive: 1 TB cloud storage per user with real-time coauthoring across devices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544176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SharePoint: Team sites for sharing content, files, videos, and resources (Plan 1)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503783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Search, Microsoft Planner, Microsoft To Do, Microsoft Lists, Microsoft Visio for the web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79155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>
                          <a:solidFill>
                            <a:srgbClr val="8A226F"/>
                          </a:solidFill>
                          <a:effectLst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Automation &amp; Business Platform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169079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Power Apps for Microsoft 365: Low-code platform to build custom business apps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683435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Power Automate for Microsoft 365: Cloud flows for workflow automation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125374"/>
                  </a:ext>
                </a:extLst>
              </a:tr>
              <a:tr h="1455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Power Automate for Microsoft 365: Full cloud and desktop flows for enhanced workflow automation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10766"/>
                  </a:ext>
                </a:extLst>
              </a:tr>
              <a:tr h="128968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Dataverse for Teams, Microsoft Graph API, custom chatbots using Power Virtual Agents for Teams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964389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>
                          <a:solidFill>
                            <a:srgbClr val="8A226F"/>
                          </a:solidFill>
                          <a:effectLst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Employee Engagement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247005"/>
                  </a:ext>
                </a:extLst>
              </a:tr>
              <a:tr h="17364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Viva Connections, Viva Insights (personal), Viva Engage, Viva Learning (select courses)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192181"/>
                  </a:ext>
                </a:extLst>
              </a:tr>
              <a:tr h="1443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dirty="0">
                          <a:solidFill>
                            <a:srgbClr val="8A226F"/>
                          </a:solidFill>
                          <a:effectLst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AI-Powered Assistance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305702"/>
                  </a:ext>
                </a:extLst>
              </a:tr>
              <a:tr h="219038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Copilot Chat: AI chat grounded in web data with enterprise data protection, side-by-side in Office apps (standard access)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30356"/>
                  </a:ext>
                </a:extLst>
              </a:tr>
              <a:tr h="22683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Copilot Chat: File upload, image generation, Copilot Pages, pay-as-you-go agents (metered Azure billing)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299786"/>
                  </a:ext>
                </a:extLst>
              </a:tr>
              <a:tr h="23750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365 Copilot: Available as an add-on for full AI integration with organizational data and Work IQ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783572"/>
                  </a:ext>
                </a:extLst>
              </a:tr>
              <a:tr h="1693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971853"/>
                  </a:ext>
                </a:extLst>
              </a:tr>
              <a:tr h="1630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069265"/>
                  </a:ext>
                </a:extLst>
              </a:tr>
              <a:tr h="33229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dirty="0">
                          <a:solidFill>
                            <a:srgbClr val="8A226F"/>
                          </a:solidFill>
                          <a:effectLst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Identity, Security, Compliance &amp; Administration: Entra ID (Free), Exchange Online Protection, Secure Score, Purview Audit (Standard), 300 users, 99.9% SLA, phone &amp; web support, URL time-of-click-protection </a:t>
                      </a:r>
                    </a:p>
                  </a:txBody>
                  <a:tcPr marL="72000" marR="0" marT="7593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1" i="0" u="none" strike="noStrike" kern="1200" cap="none" spc="0" normalizeH="0" baseline="0" dirty="0">
                          <a:solidFill>
                            <a:srgbClr val="8A226F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1" i="0" u="none" strike="noStrike" kern="1200" cap="none" spc="0" normalizeH="0" baseline="0" dirty="0">
                          <a:solidFill>
                            <a:srgbClr val="8A226F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759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78523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62DBE37D-DAAD-7A64-9FA1-9E966FAF09BC}"/>
              </a:ext>
            </a:extLst>
          </p:cNvPr>
          <p:cNvSpPr/>
          <p:nvPr/>
        </p:nvSpPr>
        <p:spPr>
          <a:xfrm>
            <a:off x="377826" y="246610"/>
            <a:ext cx="4895850" cy="27590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09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3" b="0" i="0" u="none" strike="noStrike" kern="1200" cap="none" spc="0" normalizeH="0" baseline="0" noProof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Business Basic vs Business Standard</a:t>
            </a:r>
          </a:p>
        </p:txBody>
      </p:sp>
    </p:spTree>
    <p:extLst>
      <p:ext uri="{BB962C8B-B14F-4D97-AF65-F5344CB8AC3E}">
        <p14:creationId xmlns:p14="http://schemas.microsoft.com/office/powerpoint/2010/main" val="157776641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583</Words>
  <Application>Microsoft Office PowerPoint</Application>
  <PresentationFormat>Custom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Semibold</vt:lpstr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Shreya Singh</cp:lastModifiedBy>
  <cp:revision>5</cp:revision>
  <dcterms:created xsi:type="dcterms:W3CDTF">2026-03-24T15:15:07Z</dcterms:created>
  <dcterms:modified xsi:type="dcterms:W3CDTF">2026-07-01T09:31:53Z</dcterms:modified>
</cp:coreProperties>
</file>