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70127" r:id="rId2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EDD1EC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8D50F-0F5A-AC71-E891-50DA0F369745}" v="1" dt="2026-07-06T15:18:30.7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150" d="100"/>
          <a:sy n="150" d="100"/>
        </p:scale>
        <p:origin x="440" y="-4296"/>
      </p:cViewPr>
      <p:guideLst>
        <p:guide orient="horz" pos="2517"/>
        <p:guide pos="17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6C78D50F-0F5A-AC71-E891-50DA0F369745}"/>
    <pc:docChg chg="modSld">
      <pc:chgData name="Seema Kapri" userId="S::seema.kapri@hsv.digital::3468d2f6-a5eb-4e01-882c-f62721c4c7bf" providerId="AD" clId="Web-{6C78D50F-0F5A-AC71-E891-50DA0F369745}" dt="2026-07-06T15:18:30.786" v="0"/>
      <pc:docMkLst>
        <pc:docMk/>
      </pc:docMkLst>
      <pc:sldChg chg="modSp">
        <pc:chgData name="Seema Kapri" userId="S::seema.kapri@hsv.digital::3468d2f6-a5eb-4e01-882c-f62721c4c7bf" providerId="AD" clId="Web-{6C78D50F-0F5A-AC71-E891-50DA0F369745}" dt="2026-07-06T15:18:30.786" v="0"/>
        <pc:sldMkLst>
          <pc:docMk/>
          <pc:sldMk cId="2737607298" sldId="2147470127"/>
        </pc:sldMkLst>
        <pc:graphicFrameChg chg="modGraphic">
          <ac:chgData name="Seema Kapri" userId="S::seema.kapri@hsv.digital::3468d2f6-a5eb-4e01-882c-f62721c4c7bf" providerId="AD" clId="Web-{6C78D50F-0F5A-AC71-E891-50DA0F369745}" dt="2026-07-06T15:18:30.786" v="0"/>
          <ac:graphicFrameMkLst>
            <pc:docMk/>
            <pc:sldMk cId="2737607298" sldId="2147470127"/>
            <ac:graphicFrameMk id="12" creationId="{DF24B8CB-A1C4-AE17-DC93-B97FC5ECE448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custSel modSld">
      <pc:chgData name="Shreya Singh" userId="b354311e-5542-4a3b-80c7-af4347e0a1ac" providerId="ADAL" clId="{24CE2105-6015-495D-A54D-6F3B21ACCFC8}" dt="2026-07-01T10:00:49.609" v="52" actId="20577"/>
      <pc:docMkLst>
        <pc:docMk/>
      </pc:docMkLst>
      <pc:sldChg chg="modSp mod">
        <pc:chgData name="Shreya Singh" userId="b354311e-5542-4a3b-80c7-af4347e0a1ac" providerId="ADAL" clId="{24CE2105-6015-495D-A54D-6F3B21ACCFC8}" dt="2026-07-01T10:00:49.609" v="52" actId="20577"/>
        <pc:sldMkLst>
          <pc:docMk/>
          <pc:sldMk cId="2737607298" sldId="2147470127"/>
        </pc:sldMkLst>
        <pc:graphicFrameChg chg="mod modGraphic">
          <ac:chgData name="Shreya Singh" userId="b354311e-5542-4a3b-80c7-af4347e0a1ac" providerId="ADAL" clId="{24CE2105-6015-495D-A54D-6F3B21ACCFC8}" dt="2026-07-01T10:00:49.609" v="52" actId="20577"/>
          <ac:graphicFrameMkLst>
            <pc:docMk/>
            <pc:sldMk cId="2737607298" sldId="2147470127"/>
            <ac:graphicFrameMk id="12" creationId="{DF24B8CB-A1C4-AE17-DC93-B97FC5ECE44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3F253-7E29-6CC6-5FC2-F2DA4E531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F6C20-1536-79B7-5FCA-248F9AB89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02EFC-73B3-69AD-18B9-AED7CFEE9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B11C0-B95F-A9D4-3C51-7F79EFE45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814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399CD-3162-B2DA-435C-B49CEF45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EB28BAEA-CEDF-0CEE-7179-DF9A5FAE8773}"/>
              </a:ext>
            </a:extLst>
          </p:cNvPr>
          <p:cNvSpPr>
            <a:spLocks/>
          </p:cNvSpPr>
          <p:nvPr/>
        </p:nvSpPr>
        <p:spPr bwMode="auto">
          <a:xfrm>
            <a:off x="377825" y="939538"/>
            <a:ext cx="4895850" cy="6824396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50522077-2AD2-66AE-E10D-91B314AC3933}"/>
              </a:ext>
            </a:extLst>
          </p:cNvPr>
          <p:cNvSpPr/>
          <p:nvPr/>
        </p:nvSpPr>
        <p:spPr bwMode="auto">
          <a:xfrm flipH="1">
            <a:off x="377819" y="939537"/>
            <a:ext cx="4895851" cy="597006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DF24B8CB-A1C4-AE17-DC93-B97FC5ECE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758860"/>
              </p:ext>
            </p:extLst>
          </p:nvPr>
        </p:nvGraphicFramePr>
        <p:xfrm>
          <a:off x="377826" y="939538"/>
          <a:ext cx="4895850" cy="6558728"/>
        </p:xfrm>
        <a:graphic>
          <a:graphicData uri="http://schemas.openxmlformats.org/drawingml/2006/table">
            <a:tbl>
              <a:tblPr firstRow="1" bandRow="1">
                <a:effectLst/>
                <a:tableStyleId>{2D5ABB26-0587-4C30-8999-92F81FD0307C}</a:tableStyleId>
              </a:tblPr>
              <a:tblGrid>
                <a:gridCol w="3639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Segoe UI Semibold" panose="020B0502040204020203" pitchFamily="34" charset="0"/>
                          <a:cs typeface="Segoe UI Semibold" panose="020B0702040204020203" pitchFamily="34" charset="0"/>
                        </a:rPr>
                        <a:t>Incremental data security and compliance capabilities for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Segoe UI Semibold" panose="020B0502040204020203" pitchFamily="34" charset="0"/>
                          <a:cs typeface="Segoe UI Semibold" panose="020B0702040204020203" pitchFamily="34" charset="0"/>
                        </a:rPr>
                        <a:t>Business Basic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0" i="0" u="none" strike="noStrike" kern="1200" cap="none" spc="0" normalizeH="0" baseline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Segoe UI Semibold" panose="020B0502040204020203" pitchFamily="34" charset="0"/>
                          <a:cs typeface="Segoe UI Semibold" panose="020B0702040204020203" pitchFamily="34" charset="0"/>
                        </a:rPr>
                        <a:t>Purview Suite for Business Premium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Address oversharing concerns</a:t>
                      </a:r>
                    </a:p>
                  </a:txBody>
                  <a:tcPr marL="7200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/>
                    </a:p>
                  </a:txBody>
                  <a:tcPr marL="72000" marR="0" marT="0" marB="0" anchor="ctr"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/>
                    </a:p>
                  </a:txBody>
                  <a:tcPr marL="72000" marR="0" marT="0" marB="0" anchor="ctr">
                    <a:lnL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28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Identify potentially overshared sites and files across all of Microsoft 365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Sites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Sites and files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49225"/>
                  </a:ext>
                </a:extLst>
              </a:tr>
              <a:tr h="122647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Create oversharing assessments targeted to specific Microsoft 365 locations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528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Restrict user and/or Copilot + Agent access to risky sites while remediating risks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428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Prevent Copilot + Agents from processing certain sensitive files and from using them in responses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991779"/>
                  </a:ext>
                </a:extLst>
              </a:tr>
              <a:tr h="176099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Receive and act on policy suggestions to mitigate your specific oversharing risks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099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Remove organization-wide site access as needed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4755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Get notifications when new oversharing occurs with options for remediation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983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Secure sensitive data through file level access controls and Data Loss Prevention policies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982563"/>
                  </a:ext>
                </a:extLst>
              </a:tr>
              <a:tr h="267670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Improve Copilot + Agent responses by archiving or deleting unneeded content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Sites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Sites and files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700826"/>
                  </a:ext>
                </a:extLst>
              </a:tr>
              <a:tr h="1664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Protect against data loss and insider risk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306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View reports of sensitive data and unprotected files referenced in Copilot + Agent interactions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6495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Get alerted to risky AI use, such as an attempted prompt injection attack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04216"/>
                  </a:ext>
                </a:extLst>
              </a:tr>
              <a:tr h="26980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View prompt and response text and referenced files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Via search and alerts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912513"/>
                  </a:ext>
                </a:extLst>
              </a:tr>
              <a:tr h="177502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Detect when content contains sensitive data and ask the user to manually apply protections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3380"/>
                  </a:ext>
                </a:extLst>
              </a:tr>
              <a:tr h="177502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Detect when content contains sensitive data and auto-apply protections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527937"/>
                  </a:ext>
                </a:extLst>
              </a:tr>
              <a:tr h="237643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Copilot + Agent response and Copilot + Agent created documents inherit sensitivity label and protections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24012"/>
                  </a:ext>
                </a:extLst>
              </a:tr>
              <a:tr h="14983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Block Copilot + Agent access to files with a specific sensitivity label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85489"/>
                  </a:ext>
                </a:extLst>
              </a:tr>
              <a:tr h="160933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Protect files even if they are moved or downloaded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017648"/>
                  </a:ext>
                </a:extLst>
              </a:tr>
              <a:tr h="166483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Get alerted to risky user actions that deviate from their usual pattern of behavior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392232"/>
                  </a:ext>
                </a:extLst>
              </a:tr>
              <a:tr h="14983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Correlate and sequence risk alerts to identify high severity risk patterns for a user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34814"/>
                  </a:ext>
                </a:extLst>
              </a:tr>
              <a:tr h="155384"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Automatically add a user to more strict security policies based on their risk patterns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✓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22731"/>
                  </a:ext>
                </a:extLst>
              </a:tr>
              <a:tr h="15538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DLP for Copilot Prompts — blocks Copilot from processing sensitive data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350649"/>
                  </a:ext>
                </a:extLst>
              </a:tr>
              <a:tr h="15538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Data Security Posture Management for AI (DSPM for AI)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007567"/>
                  </a:ext>
                </a:extLst>
              </a:tr>
              <a:tr h="15538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AI data security and compliance (DLP, DSPM, Insider Risk)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65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683968"/>
                  </a:ext>
                </a:extLst>
              </a:tr>
              <a:tr h="16648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Govern AI use to meet regulations and policies</a:t>
                      </a: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, Copilot Chat</a:t>
                      </a:r>
                      <a:endParaRPr lang="en-US" sz="700" b="0" i="0" u="none" strike="noStrike" kern="1200" cap="none" spc="0" normalizeH="0" baseline="0" dirty="0">
                        <a:solidFill>
                          <a:srgbClr val="8A226F">
                            <a:lumMod val="100000"/>
                          </a:srgbClr>
                        </a:solidFill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0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Audit Copilot + Agent interactions to access detailed log information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552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Enforce retention and deletion policies for Copilot + Agent interactions and meeting recordings + transcripts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5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Include a user’s Copilot + Agent prompts and responses in a legal hold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7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Receive an alert if a possible compliance or ethical violation occurs and start an investigation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90570"/>
                  </a:ext>
                </a:extLst>
              </a:tr>
              <a:tr h="2498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Perform an admin search for litigation or an investigation and include Copilot + Agent generated content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noProof="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758097"/>
                  </a:ext>
                </a:extLst>
              </a:tr>
              <a:tr h="149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Assess and track adherence to regulatory frameworks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565131" rtl="0" eaLnBrk="1" latinLnBrk="0" hangingPunct="1">
                        <a:buNone/>
                      </a:pPr>
                      <a:endParaRPr lang="en-US" sz="650" kern="1200" dirty="0">
                        <a:solidFill>
                          <a:srgbClr val="000000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565131" rtl="0" eaLnBrk="1" latinLnBrk="0" hangingPunct="1">
                        <a:buNone/>
                      </a:pPr>
                      <a:r>
                        <a:rPr lang="en-US" sz="650" kern="120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175670"/>
                  </a:ext>
                </a:extLst>
              </a:tr>
              <a:tr h="1498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373412"/>
                  </a:ext>
                </a:extLst>
              </a:tr>
              <a:tr h="1498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513448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ADDFD920-D03E-A958-99B3-B0D39F41E709}"/>
              </a:ext>
            </a:extLst>
          </p:cNvPr>
          <p:cNvSpPr/>
          <p:nvPr/>
        </p:nvSpPr>
        <p:spPr>
          <a:xfrm>
            <a:off x="377826" y="303939"/>
            <a:ext cx="4895850" cy="47089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  <a:t>Business Basic vs </a:t>
            </a:r>
            <a:b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</a:br>
            <a:r>
              <a:rPr lang="en-US" dirty="0">
                <a:solidFill>
                  <a:srgbClr val="B740C5"/>
                </a:solidFill>
                <a:latin typeface="Segoe UI Semibold"/>
                <a:cs typeface="Segoe UI Semibold"/>
              </a:rPr>
              <a:t>Business Premium + Purview Suite</a:t>
            </a:r>
          </a:p>
        </p:txBody>
      </p:sp>
    </p:spTree>
    <p:extLst>
      <p:ext uri="{BB962C8B-B14F-4D97-AF65-F5344CB8AC3E}">
        <p14:creationId xmlns:p14="http://schemas.microsoft.com/office/powerpoint/2010/main" val="273760729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483</Words>
  <Application>Microsoft Office PowerPoint</Application>
  <PresentationFormat>Custom</PresentationFormat>
  <Paragraphs>79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5</cp:revision>
  <dcterms:created xsi:type="dcterms:W3CDTF">2026-03-24T15:15:07Z</dcterms:created>
  <dcterms:modified xsi:type="dcterms:W3CDTF">2026-07-06T15:22:06Z</dcterms:modified>
</cp:coreProperties>
</file>