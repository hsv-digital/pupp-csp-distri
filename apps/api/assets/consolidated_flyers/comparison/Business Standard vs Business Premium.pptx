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147470124" r:id="rId2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0C5"/>
    <a:srgbClr val="8A226F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BD8444-0787-415D-837E-2F9DD5C937F8}" v="1" dt="2026-07-01T09:51:47.0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773" autoAdjust="0"/>
  </p:normalViewPr>
  <p:slideViewPr>
    <p:cSldViewPr snapToGrid="0">
      <p:cViewPr>
        <p:scale>
          <a:sx n="125" d="100"/>
          <a:sy n="125" d="100"/>
        </p:scale>
        <p:origin x="884" y="-272"/>
      </p:cViewPr>
      <p:guideLst>
        <p:guide orient="horz" pos="2517"/>
        <p:guide pos="17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Singh" userId="b354311e-5542-4a3b-80c7-af4347e0a1ac" providerId="ADAL" clId="{24CE2105-6015-495D-A54D-6F3B21ACCFC8}"/>
    <pc:docChg chg="modSld">
      <pc:chgData name="Shreya Singh" userId="b354311e-5542-4a3b-80c7-af4347e0a1ac" providerId="ADAL" clId="{24CE2105-6015-495D-A54D-6F3B21ACCFC8}" dt="2026-07-01T09:53:41.065" v="17" actId="14734"/>
      <pc:docMkLst>
        <pc:docMk/>
      </pc:docMkLst>
      <pc:sldChg chg="modSp mod">
        <pc:chgData name="Shreya Singh" userId="b354311e-5542-4a3b-80c7-af4347e0a1ac" providerId="ADAL" clId="{24CE2105-6015-495D-A54D-6F3B21ACCFC8}" dt="2026-07-01T09:53:41.065" v="17" actId="14734"/>
        <pc:sldMkLst>
          <pc:docMk/>
          <pc:sldMk cId="1144813852" sldId="2147470124"/>
        </pc:sldMkLst>
        <pc:graphicFrameChg chg="mod modGraphic">
          <ac:chgData name="Shreya Singh" userId="b354311e-5542-4a3b-80c7-af4347e0a1ac" providerId="ADAL" clId="{24CE2105-6015-495D-A54D-6F3B21ACCFC8}" dt="2026-07-01T09:53:41.065" v="17" actId="14734"/>
          <ac:graphicFrameMkLst>
            <pc:docMk/>
            <pc:sldMk cId="1144813852" sldId="2147470124"/>
            <ac:graphicFrameMk id="3" creationId="{0FEC6609-74A0-98E3-AB41-F1F68091B39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114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250A4-1DFA-ABF6-6D80-80612A54E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C238211C-1CD5-37EA-A812-C16F6FFAC710}"/>
              </a:ext>
            </a:extLst>
          </p:cNvPr>
          <p:cNvSpPr>
            <a:spLocks/>
          </p:cNvSpPr>
          <p:nvPr/>
        </p:nvSpPr>
        <p:spPr bwMode="auto">
          <a:xfrm>
            <a:off x="377825" y="684377"/>
            <a:ext cx="4895850" cy="7034683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99720CF6-7FD5-4F76-4F07-CFC44843AA6D}"/>
              </a:ext>
            </a:extLst>
          </p:cNvPr>
          <p:cNvSpPr/>
          <p:nvPr/>
        </p:nvSpPr>
        <p:spPr bwMode="auto">
          <a:xfrm flipH="1">
            <a:off x="377821" y="684375"/>
            <a:ext cx="4895851" cy="364645"/>
          </a:xfrm>
          <a:prstGeom prst="round2SameRect">
            <a:avLst>
              <a:gd name="adj1" fmla="val 27828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0FEC6609-74A0-98E3-AB41-F1F68091B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716328"/>
              </p:ext>
            </p:extLst>
          </p:nvPr>
        </p:nvGraphicFramePr>
        <p:xfrm>
          <a:off x="377826" y="684381"/>
          <a:ext cx="4895850" cy="6936212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69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17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Incremental capabilities: Business Standard → Business Premium</a:t>
                      </a:r>
                    </a:p>
                  </a:txBody>
                  <a:tcPr marL="89679" marR="35872" marT="7593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Business</a:t>
                      </a:r>
                    </a:p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Standard</a:t>
                      </a:r>
                    </a:p>
                  </a:txBody>
                  <a:tcPr marL="7593" marR="7593" marT="7593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Calibri" panose="020F0502020204030204" pitchFamily="34" charset="0"/>
                          <a:cs typeface="Segoe UI Semibold" panose="020B0702040204020203" pitchFamily="34" charset="0"/>
                          <a:sym typeface=""/>
                        </a:rPr>
                        <a:t>Business</a:t>
                      </a:r>
                    </a:p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Calibri" panose="020F0502020204030204" pitchFamily="34" charset="0"/>
                          <a:cs typeface="Segoe UI Semibold" panose="020B0702040204020203" pitchFamily="34" charset="0"/>
                          <a:sym typeface=""/>
                        </a:rPr>
                        <a:t>Premium</a:t>
                      </a:r>
                    </a:p>
                  </a:txBody>
                  <a:tcPr marL="7593" marR="7593" marT="7593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903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Productivity, collaboration, e-mail, storage, and employee engagement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8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Web, mobile, and desktop versions of Word, Excel, PowerPoint, Outlook, OneNote, and Access, which can be installed into 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90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Chat, call, meet, and host webinars with Microsoft Teams​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8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10+ additional apps for your business needs (including Microsoft Loop, Clipchamp, Bookings, Planner, and Forms)​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8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Ad-free email and calendar with Outlook; custom business email with Exchange Online Plan 1 (50 GB mailbox)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200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OneDrive: 1 TB cloud storage per user; SharePoint Plan 1; Microsoft Search; Microsoft Visio for the web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355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Viva Connections, Viva Insights (personal), Viva Engage, Viva Learning (select courses)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82563"/>
                  </a:ext>
                </a:extLst>
              </a:tr>
              <a:tr h="1898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Automation &amp; business platform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8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Power Apps, Power Automate (cloud flows), Dataverse for Teams, Microsoft Graph API, Power Virtual Agents for Teams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423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Power Automate: Full cloud and desktop flows for enhanced workflow automation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990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Secure Score, Microsoft Purview Audit (Standard)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98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Device management &amp; Windows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defTabSz="565131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898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Intuitive, intelligent operating system designed to enhance your PC experience and productivity with Windows 11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98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Secure remote desktop and application experiences with Azure Virtual Desktop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98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Endpoint management across devices with Intune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98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Identity &amp; access management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defTabSz="565131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9692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Entra ID (Free): Basic single sign-on and multifactor authentication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898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Entra ID Plan 1: Conditional Access policies, automated user provisioning, group-based access management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898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Personal and secure way to sign in to devices with Windows Hello for Business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898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Threat protection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8728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Exchange Online Protection: Basic anti-spam and anti-malware filtering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7612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Integrated cyberthreat protection for email and collaboration tools with Microsoft Defender for Office 365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898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Cyberthreat protection against viruses and phishing with Microsoft Defender for Business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898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URL time-of-click protection (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SafeLinks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Lite) — re-checks links at moment of click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173378"/>
                  </a:ext>
                </a:extLst>
              </a:tr>
              <a:tr h="149903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Data compliance, security and governance</a:t>
                      </a:r>
                      <a:endParaRPr lang="en-US" sz="700" b="0" i="0" u="none" strike="noStrike" kern="1200" cap="none" spc="0" normalizeH="0" baseline="0" dirty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911222"/>
                  </a:ext>
                </a:extLst>
              </a:tr>
              <a:tr h="18952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Ability to log and search for audited activities with Microsoft Purview Audit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013098"/>
                  </a:ext>
                </a:extLst>
              </a:tr>
              <a:tr h="26757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Intelligent detection and control of sensitive information with Microsoft Purview Data Loss Protection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90570"/>
                  </a:ext>
                </a:extLst>
              </a:tr>
              <a:tr h="1898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Discovery and protection of sensitive data with Microsoft Purview Information Protection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defTabSz="565131">
                        <a:buNone/>
                      </a:pP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175670"/>
                  </a:ext>
                </a:extLst>
              </a:tr>
              <a:tr h="189887"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Copilot Chat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150723"/>
                  </a:ext>
                </a:extLst>
              </a:tr>
              <a:tr h="218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enhancements — inbox &amp; calendar awareness + Word/Excel/PowerPoint agents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995712"/>
                  </a:ext>
                </a:extLst>
              </a:tr>
              <a:tr h="1898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992247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62DBE37D-DAAD-7A64-9FA1-9E966FAF09BC}"/>
              </a:ext>
            </a:extLst>
          </p:cNvPr>
          <p:cNvSpPr/>
          <p:nvPr/>
        </p:nvSpPr>
        <p:spPr>
          <a:xfrm>
            <a:off x="377826" y="262810"/>
            <a:ext cx="4895850" cy="27590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lvl="0" defTabSz="910968">
              <a:defRPr/>
            </a:pPr>
            <a:r>
              <a:rPr kumimoji="0" lang="en-US" sz="1793" b="0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Business </a:t>
            </a:r>
            <a:r>
              <a:rPr lang="en-US" sz="1793" dirty="0">
                <a:solidFill>
                  <a:srgbClr val="B740C5"/>
                </a:solidFill>
                <a:latin typeface="Segoe UI Semibold"/>
                <a:cs typeface="Segoe UI Semibold"/>
              </a:rPr>
              <a:t>Standard</a:t>
            </a:r>
            <a:r>
              <a:rPr kumimoji="0" lang="en-US" sz="1793" b="0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vs Business Premium</a:t>
            </a:r>
          </a:p>
        </p:txBody>
      </p:sp>
    </p:spTree>
    <p:extLst>
      <p:ext uri="{BB962C8B-B14F-4D97-AF65-F5344CB8AC3E}">
        <p14:creationId xmlns:p14="http://schemas.microsoft.com/office/powerpoint/2010/main" val="114481385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438</Words>
  <Application>Microsoft Office PowerPoint</Application>
  <PresentationFormat>Custom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Semibold</vt:lpstr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Shreya Singh</cp:lastModifiedBy>
  <cp:revision>8</cp:revision>
  <dcterms:created xsi:type="dcterms:W3CDTF">2026-03-24T15:15:07Z</dcterms:created>
  <dcterms:modified xsi:type="dcterms:W3CDTF">2026-07-01T09:53:41Z</dcterms:modified>
</cp:coreProperties>
</file>