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147470124" r:id="rId2"/>
  </p:sldIdLst>
  <p:sldSz cx="5651500" cy="79914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7" userDrawn="1">
          <p15:clr>
            <a:srgbClr val="A4A3A4"/>
          </p15:clr>
        </p15:guide>
        <p15:guide id="2" pos="1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0C5"/>
    <a:srgbClr val="8A226F"/>
    <a:srgbClr val="F2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A3D0F3-B814-81A0-ABDD-AFB5745BE1F1}" v="6" dt="2026-07-06T15:16:10.4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773" autoAdjust="0"/>
  </p:normalViewPr>
  <p:slideViewPr>
    <p:cSldViewPr snapToGrid="0">
      <p:cViewPr>
        <p:scale>
          <a:sx n="125" d="100"/>
          <a:sy n="125" d="100"/>
        </p:scale>
        <p:origin x="884" y="-528"/>
      </p:cViewPr>
      <p:guideLst>
        <p:guide orient="horz" pos="2517"/>
        <p:guide pos="17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apri" userId="S::seema.kapri@hsv.digital::3468d2f6-a5eb-4e01-882c-f62721c4c7bf" providerId="AD" clId="Web-{7BA3D0F3-B814-81A0-ABDD-AFB5745BE1F1}"/>
    <pc:docChg chg="modSld">
      <pc:chgData name="Seema Kapri" userId="S::seema.kapri@hsv.digital::3468d2f6-a5eb-4e01-882c-f62721c4c7bf" providerId="AD" clId="Web-{7BA3D0F3-B814-81A0-ABDD-AFB5745BE1F1}" dt="2026-07-06T15:16:10.422" v="5"/>
      <pc:docMkLst>
        <pc:docMk/>
      </pc:docMkLst>
      <pc:sldChg chg="modSp">
        <pc:chgData name="Seema Kapri" userId="S::seema.kapri@hsv.digital::3468d2f6-a5eb-4e01-882c-f62721c4c7bf" providerId="AD" clId="Web-{7BA3D0F3-B814-81A0-ABDD-AFB5745BE1F1}" dt="2026-07-06T15:16:10.422" v="5"/>
        <pc:sldMkLst>
          <pc:docMk/>
          <pc:sldMk cId="1144813852" sldId="2147470124"/>
        </pc:sldMkLst>
        <pc:graphicFrameChg chg="mod modGraphic">
          <ac:chgData name="Seema Kapri" userId="S::seema.kapri@hsv.digital::3468d2f6-a5eb-4e01-882c-f62721c4c7bf" providerId="AD" clId="Web-{7BA3D0F3-B814-81A0-ABDD-AFB5745BE1F1}" dt="2026-07-06T15:16:10.422" v="5"/>
          <ac:graphicFrameMkLst>
            <pc:docMk/>
            <pc:sldMk cId="1144813852" sldId="2147470124"/>
            <ac:graphicFrameMk id="12" creationId="{E92FBC31-C842-4B95-0235-A5090274DEC9}"/>
          </ac:graphicFrameMkLst>
        </pc:graphicFrameChg>
      </pc:sldChg>
    </pc:docChg>
  </pc:docChgLst>
  <pc:docChgLst>
    <pc:chgData name="Shreya Singh" userId="b354311e-5542-4a3b-80c7-af4347e0a1ac" providerId="ADAL" clId="{24CE2105-6015-495D-A54D-6F3B21ACCFC8}"/>
    <pc:docChg chg="modSld">
      <pc:chgData name="Shreya Singh" userId="b354311e-5542-4a3b-80c7-af4347e0a1ac" providerId="ADAL" clId="{24CE2105-6015-495D-A54D-6F3B21ACCFC8}" dt="2026-07-01T09:29:40.178" v="23" actId="20577"/>
      <pc:docMkLst>
        <pc:docMk/>
      </pc:docMkLst>
      <pc:sldChg chg="modSp mod">
        <pc:chgData name="Shreya Singh" userId="b354311e-5542-4a3b-80c7-af4347e0a1ac" providerId="ADAL" clId="{24CE2105-6015-495D-A54D-6F3B21ACCFC8}" dt="2026-07-01T09:29:40.178" v="23" actId="20577"/>
        <pc:sldMkLst>
          <pc:docMk/>
          <pc:sldMk cId="1144813852" sldId="2147470124"/>
        </pc:sldMkLst>
        <pc:spChg chg="mod">
          <ac:chgData name="Shreya Singh" userId="b354311e-5542-4a3b-80c7-af4347e0a1ac" providerId="ADAL" clId="{24CE2105-6015-495D-A54D-6F3B21ACCFC8}" dt="2026-07-01T09:11:06.876" v="11" actId="14100"/>
          <ac:spMkLst>
            <pc:docMk/>
            <pc:sldMk cId="1144813852" sldId="2147470124"/>
            <ac:spMk id="4" creationId="{C238211C-1CD5-37EA-A812-C16F6FFAC710}"/>
          </ac:spMkLst>
        </pc:spChg>
        <pc:graphicFrameChg chg="mod modGraphic">
          <ac:chgData name="Shreya Singh" userId="b354311e-5542-4a3b-80c7-af4347e0a1ac" providerId="ADAL" clId="{24CE2105-6015-495D-A54D-6F3B21ACCFC8}" dt="2026-07-01T09:29:40.178" v="23" actId="20577"/>
          <ac:graphicFrameMkLst>
            <pc:docMk/>
            <pc:sldMk cId="1144813852" sldId="2147470124"/>
            <ac:graphicFrameMk id="12" creationId="{E92FBC31-C842-4B95-0235-A5090274DEC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0BA04-CCF9-4555-86FF-FAF42E81E4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2850" y="857250"/>
            <a:ext cx="1638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72A-6E2F-4343-B7FF-0EAC6B5B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114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863" y="1307866"/>
            <a:ext cx="4803775" cy="2782217"/>
          </a:xfrm>
        </p:spPr>
        <p:txBody>
          <a:bodyPr anchor="b"/>
          <a:lstStyle>
            <a:lvl1pPr algn="ctr">
              <a:defRPr sz="370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438" y="4197375"/>
            <a:ext cx="4238625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566" indent="0" algn="ctr">
              <a:buNone/>
              <a:defRPr sz="1236"/>
            </a:lvl2pPr>
            <a:lvl3pPr marL="565131" indent="0" algn="ctr">
              <a:buNone/>
              <a:defRPr sz="1112"/>
            </a:lvl3pPr>
            <a:lvl4pPr marL="847697" indent="0" algn="ctr">
              <a:buNone/>
              <a:defRPr sz="989"/>
            </a:lvl4pPr>
            <a:lvl5pPr marL="1130262" indent="0" algn="ctr">
              <a:buNone/>
              <a:defRPr sz="989"/>
            </a:lvl5pPr>
            <a:lvl6pPr marL="1412828" indent="0" algn="ctr">
              <a:buNone/>
              <a:defRPr sz="989"/>
            </a:lvl6pPr>
            <a:lvl7pPr marL="1695394" indent="0" algn="ctr">
              <a:buNone/>
              <a:defRPr sz="989"/>
            </a:lvl7pPr>
            <a:lvl8pPr marL="1977959" indent="0" algn="ctr">
              <a:buNone/>
              <a:defRPr sz="989"/>
            </a:lvl8pPr>
            <a:lvl9pPr marL="2260525" indent="0" algn="ctr">
              <a:buNone/>
              <a:defRPr sz="98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541" y="425474"/>
            <a:ext cx="4874419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41" y="2127361"/>
            <a:ext cx="4874419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541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2060" y="7406916"/>
            <a:ext cx="1907381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372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65131" rtl="0" eaLnBrk="1" latinLnBrk="0" hangingPunct="1">
        <a:lnSpc>
          <a:spcPct val="90000"/>
        </a:lnSpc>
        <a:spcBef>
          <a:spcPct val="0"/>
        </a:spcBef>
        <a:buNone/>
        <a:defRPr sz="2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283" indent="-141283" algn="l" defTabSz="565131" rtl="0" eaLnBrk="1" latinLnBrk="0" hangingPunct="1">
        <a:lnSpc>
          <a:spcPct val="90000"/>
        </a:lnSpc>
        <a:spcBef>
          <a:spcPts val="618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1pPr>
      <a:lvl2pPr marL="42384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06414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6" kern="1200">
          <a:solidFill>
            <a:schemeClr val="tx1"/>
          </a:solidFill>
          <a:latin typeface="+mn-lt"/>
          <a:ea typeface="+mn-ea"/>
          <a:cs typeface="+mn-cs"/>
        </a:defRPr>
      </a:lvl3pPr>
      <a:lvl4pPr marL="988980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271545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554111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836676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2119242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40180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282566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565131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847697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130262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412828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695394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1977959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260525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 userDrawn="1">
          <p15:clr>
            <a:srgbClr val="F26B43"/>
          </p15:clr>
        </p15:guide>
        <p15:guide id="2" pos="238" userDrawn="1">
          <p15:clr>
            <a:srgbClr val="F26B43"/>
          </p15:clr>
        </p15:guide>
        <p15:guide id="3" pos="3322" userDrawn="1">
          <p15:clr>
            <a:srgbClr val="F26B43"/>
          </p15:clr>
        </p15:guide>
        <p15:guide id="4" orient="horz" pos="249" userDrawn="1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250A4-1DFA-ABF6-6D80-80612A54E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C238211C-1CD5-37EA-A812-C16F6FFAC710}"/>
              </a:ext>
            </a:extLst>
          </p:cNvPr>
          <p:cNvSpPr>
            <a:spLocks/>
          </p:cNvSpPr>
          <p:nvPr/>
        </p:nvSpPr>
        <p:spPr bwMode="auto">
          <a:xfrm>
            <a:off x="377825" y="773277"/>
            <a:ext cx="4895850" cy="6821323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99720CF6-7FD5-4F76-4F07-CFC44843AA6D}"/>
              </a:ext>
            </a:extLst>
          </p:cNvPr>
          <p:cNvSpPr/>
          <p:nvPr/>
        </p:nvSpPr>
        <p:spPr bwMode="auto">
          <a:xfrm flipH="1">
            <a:off x="377820" y="773275"/>
            <a:ext cx="4895851" cy="339245"/>
          </a:xfrm>
          <a:prstGeom prst="round2SameRect">
            <a:avLst>
              <a:gd name="adj1" fmla="val 27828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E92FBC31-C842-4B95-0235-A5090274D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024875"/>
              </p:ext>
            </p:extLst>
          </p:nvPr>
        </p:nvGraphicFramePr>
        <p:xfrm>
          <a:off x="377826" y="773281"/>
          <a:ext cx="4895850" cy="672792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843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43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Incremental capabilities: Business Basic → Business Premium</a:t>
                      </a:r>
                    </a:p>
                  </a:txBody>
                  <a:tcPr marL="108000" marR="7593" marT="36000" marB="3600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Business</a:t>
                      </a:r>
                    </a:p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Basic</a:t>
                      </a:r>
                    </a:p>
                  </a:txBody>
                  <a:tcPr marL="7593" marR="7593" marT="36000" marB="3600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Calibri" panose="020F0502020204030204" pitchFamily="34" charset="0"/>
                          <a:cs typeface="Segoe UI Semibold" panose="020B0702040204020203" pitchFamily="34" charset="0"/>
                          <a:sym typeface=""/>
                        </a:rPr>
                        <a:t>Business</a:t>
                      </a:r>
                    </a:p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Calibri" panose="020F0502020204030204" pitchFamily="34" charset="0"/>
                          <a:cs typeface="Segoe UI Semibold" panose="020B0702040204020203" pitchFamily="34" charset="0"/>
                          <a:sym typeface=""/>
                        </a:rPr>
                        <a:t>Premium</a:t>
                      </a:r>
                    </a:p>
                  </a:txBody>
                  <a:tcPr marL="7593" marR="7593" marT="36000" marB="3600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Productivity, collaboration, e-mail, storage, and employee engagement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/>
                    </a:p>
                  </a:txBody>
                  <a:tcPr marL="72000" marR="0" marT="36000" marB="36000" anchor="ctr"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/>
                    </a:p>
                  </a:txBody>
                  <a:tcPr marL="72000" marR="0" marT="36000" marB="3600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Web and mobile versions of Word, Excel, PowerPoint, and Outlook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949225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Desktop versions of Word, Excel, PowerPoint, Outlook, OneNote, and Access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Chat, audio, video, recording, and 3D immersive spaces with Microsoft Teams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Webinar hosting with attendee registration and reporting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991779"/>
                  </a:ext>
                </a:extLst>
              </a:tr>
              <a:tr h="25994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10+ additional apps for your business needs (including Microsoft Loop, Clipchamp, Bookings, Planner, and Forms)​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79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Ad-free email and calendar with Outlook; custom business email with Exchange Online Plan 1 (100 GB mailbox)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032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OneDrive: 1 TB cloud storage per user; SharePoint Plan 1; Microsoft Search; Microsoft Visio for the web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Viva Connections, Viva Insights (personal), Viva Engage, Viva Learning (select courses)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982563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  <a:sym typeface=""/>
                        </a:rPr>
                        <a:t>Automation</a:t>
                      </a:r>
                      <a:r>
                        <a:rPr lang="en-US" sz="700" b="0" i="0" u="none" strike="noStrike" kern="1200" cap="none" spc="0" normalizeH="0" baseline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, Security</a:t>
                      </a:r>
                      <a:r>
                        <a:rPr lang="en-US" sz="700" b="0" i="0" u="none" strike="noStrike" kern="1200" cap="none" spc="0" normalizeH="0" baseline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  <a:sym typeface=""/>
                        </a:rPr>
                        <a:t> &amp; business platform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94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Power Apps, Power Automate (cloud flows), Dataverse for Teams, Microsoft Graph API, Power Virtual Agents for Teams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Power Automate: Full cloud and desktop flows for enhanced workflow automation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Secure Score, Microsoft Purview Audit (Standard)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Device management &amp; Windows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5994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Intuitive, intelligent operating system designed to enhance your PC experience and productivity with Windows 11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Secure remote desktop and application experiences with Azure Virtual Desktop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Endpoint management across devices with Intune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Identity &amp; access management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Entra ID (Free): Basic single sign-on and multifactor authentication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5994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Entra ID Plan 1: Conditional Access policies, automated user provisioning, group-based access management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Personal and secure way to sign in to devices with Windows Hello for Business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Threat protection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Exchange Online Protection: Basic anti-spam and anti-malware filtering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25994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Integrated cyberthreat protection for email and collaboration tools with Microsoft Defender for Office 365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Cyberthreat protection against viruses and phishing with Microsoft Defender for Business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627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URL time-of-click protection (</a:t>
                      </a:r>
                      <a:r>
                        <a:rPr lang="en-US" sz="6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SafeLinks</a:t>
                      </a: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Lite) — re-checks links at moment of click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564467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Data compliance, security and governance</a:t>
                      </a:r>
                      <a:endParaRPr lang="en-US" sz="700" b="0" i="0" u="none" strike="noStrike" kern="1200" cap="none" spc="0" normalizeH="0" baseline="0" dirty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911222"/>
                  </a:ext>
                </a:extLst>
              </a:tr>
              <a:tr h="1627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Ability to log and search for audited activities with Microsoft Purview Audit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013098"/>
                  </a:ext>
                </a:extLst>
              </a:tr>
              <a:tr h="19325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Intelligent detection and control of sensitive information with Microsoft Purview Data Loss Protection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90570"/>
                  </a:ext>
                </a:extLst>
              </a:tr>
              <a:tr h="18220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  <a:sym typeface=""/>
                        </a:rPr>
                        <a:t>Discovery and protection of sensitive data with Microsoft Purview Information Protection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36000" marB="3600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175670"/>
                  </a:ext>
                </a:extLst>
              </a:tr>
              <a:tr h="162765"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Copilot Chat</a:t>
                      </a:r>
                      <a:endParaRPr lang="en-US" sz="700" b="0" i="0" u="none" strike="noStrike" kern="1200" cap="none" spc="0" normalizeH="0" baseline="0" dirty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116783"/>
                  </a:ext>
                </a:extLst>
              </a:tr>
              <a:tr h="1989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enhancements — inbox &amp; calendar awareness + Word/Excel/PowerPoint agents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611289"/>
                  </a:ext>
                </a:extLst>
              </a:tr>
              <a:tr h="1735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Analytics — admin reporting on adoption and usage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134069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62DBE37D-DAAD-7A64-9FA1-9E966FAF09BC}"/>
              </a:ext>
            </a:extLst>
          </p:cNvPr>
          <p:cNvSpPr/>
          <p:nvPr/>
        </p:nvSpPr>
        <p:spPr>
          <a:xfrm>
            <a:off x="377826" y="351710"/>
            <a:ext cx="4895850" cy="27590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lvl="0" defTabSz="910968">
              <a:defRPr/>
            </a:pPr>
            <a:r>
              <a:rPr kumimoji="0" lang="en-US" sz="1793" b="0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Business </a:t>
            </a:r>
            <a:r>
              <a:rPr lang="en-US" sz="1793" dirty="0">
                <a:solidFill>
                  <a:srgbClr val="B740C5"/>
                </a:solidFill>
                <a:latin typeface="Segoe UI Semibold"/>
                <a:cs typeface="Segoe UI Semibold"/>
              </a:rPr>
              <a:t>Basic</a:t>
            </a:r>
            <a:r>
              <a:rPr kumimoji="0" lang="en-US" sz="1793" b="0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vs Business Premium</a:t>
            </a:r>
          </a:p>
        </p:txBody>
      </p:sp>
    </p:spTree>
    <p:extLst>
      <p:ext uri="{BB962C8B-B14F-4D97-AF65-F5344CB8AC3E}">
        <p14:creationId xmlns:p14="http://schemas.microsoft.com/office/powerpoint/2010/main" val="114481385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</TotalTime>
  <Words>451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Shreya Singh</cp:lastModifiedBy>
  <cp:revision>11</cp:revision>
  <dcterms:created xsi:type="dcterms:W3CDTF">2026-03-24T15:15:07Z</dcterms:created>
  <dcterms:modified xsi:type="dcterms:W3CDTF">2026-07-06T15:16:20Z</dcterms:modified>
</cp:coreProperties>
</file>