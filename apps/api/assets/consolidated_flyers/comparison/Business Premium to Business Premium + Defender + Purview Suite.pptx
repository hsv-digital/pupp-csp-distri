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147470128" r:id="rId2"/>
    <p:sldId id="2147470129" r:id="rId3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0C5"/>
    <a:srgbClr val="D9D9D9"/>
    <a:srgbClr val="EDD1EC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1A31DF-CE2A-BFEF-30D5-9E6A7903854B}" v="59" dt="2026-07-06T15:02:08.236"/>
    <p1510:client id="{C035B6EC-E202-5524-5576-31A1DDA197EB}" v="34" dt="2026-07-06T15:05:07.67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517"/>
        <p:guide pos="17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C035B6EC-E202-5524-5576-31A1DDA197EB}"/>
    <pc:docChg chg="modSld">
      <pc:chgData name="Seema Kapri" userId="S::seema.kapri@hsv.digital::3468d2f6-a5eb-4e01-882c-f62721c4c7bf" providerId="AD" clId="Web-{C035B6EC-E202-5524-5576-31A1DDA197EB}" dt="2026-07-06T15:05:07.676" v="26"/>
      <pc:docMkLst>
        <pc:docMk/>
      </pc:docMkLst>
      <pc:sldChg chg="addSp delSp modSp">
        <pc:chgData name="Seema Kapri" userId="S::seema.kapri@hsv.digital::3468d2f6-a5eb-4e01-882c-f62721c4c7bf" providerId="AD" clId="Web-{C035B6EC-E202-5524-5576-31A1DDA197EB}" dt="2026-07-06T15:05:07.676" v="26"/>
        <pc:sldMkLst>
          <pc:docMk/>
          <pc:sldMk cId="1794507525" sldId="2147470128"/>
        </pc:sldMkLst>
        <pc:graphicFrameChg chg="add del mod modGraphic">
          <ac:chgData name="Seema Kapri" userId="S::seema.kapri@hsv.digital::3468d2f6-a5eb-4e01-882c-f62721c4c7bf" providerId="AD" clId="Web-{C035B6EC-E202-5524-5576-31A1DDA197EB}" dt="2026-07-06T15:05:07.676" v="26"/>
          <ac:graphicFrameMkLst>
            <pc:docMk/>
            <pc:sldMk cId="1794507525" sldId="2147470128"/>
            <ac:graphicFrameMk id="3" creationId="{F4C1163E-9A3B-3F46-0E0F-20F423921668}"/>
          </ac:graphicFrameMkLst>
        </pc:graphicFrameChg>
        <pc:graphicFrameChg chg="add del mod">
          <ac:chgData name="Seema Kapri" userId="S::seema.kapri@hsv.digital::3468d2f6-a5eb-4e01-882c-f62721c4c7bf" providerId="AD" clId="Web-{C035B6EC-E202-5524-5576-31A1DDA197EB}" dt="2026-07-06T15:03:46.223" v="13"/>
          <ac:graphicFrameMkLst>
            <pc:docMk/>
            <pc:sldMk cId="1794507525" sldId="2147470128"/>
            <ac:graphicFrameMk id="8" creationId="{DE9DE222-744C-CBC5-F3BB-6C1BF795DA1A}"/>
          </ac:graphicFrameMkLst>
        </pc:graphicFrameChg>
      </pc:sldChg>
    </pc:docChg>
  </pc:docChgLst>
  <pc:docChgLst>
    <pc:chgData name="Seema Kapri" userId="S::seema.kapri@hsv.digital::3468d2f6-a5eb-4e01-882c-f62721c4c7bf" providerId="AD" clId="Web-{341A31DF-CE2A-BFEF-30D5-9E6A7903854B}"/>
    <pc:docChg chg="modSld">
      <pc:chgData name="Seema Kapri" userId="S::seema.kapri@hsv.digital::3468d2f6-a5eb-4e01-882c-f62721c4c7bf" providerId="AD" clId="Web-{341A31DF-CE2A-BFEF-30D5-9E6A7903854B}" dt="2026-07-06T15:02:06.532" v="55"/>
      <pc:docMkLst>
        <pc:docMk/>
      </pc:docMkLst>
      <pc:sldChg chg="addSp delSp modSp">
        <pc:chgData name="Seema Kapri" userId="S::seema.kapri@hsv.digital::3468d2f6-a5eb-4e01-882c-f62721c4c7bf" providerId="AD" clId="Web-{341A31DF-CE2A-BFEF-30D5-9E6A7903854B}" dt="2026-07-06T15:02:06.532" v="55"/>
        <pc:sldMkLst>
          <pc:docMk/>
          <pc:sldMk cId="1794507525" sldId="2147470128"/>
        </pc:sldMkLst>
        <pc:graphicFrameChg chg="mod modGraphic">
          <ac:chgData name="Seema Kapri" userId="S::seema.kapri@hsv.digital::3468d2f6-a5eb-4e01-882c-f62721c4c7bf" providerId="AD" clId="Web-{341A31DF-CE2A-BFEF-30D5-9E6A7903854B}" dt="2026-07-06T15:02:06.532" v="55"/>
          <ac:graphicFrameMkLst>
            <pc:docMk/>
            <pc:sldMk cId="1794507525" sldId="2147470128"/>
            <ac:graphicFrameMk id="3" creationId="{F4C1163E-9A3B-3F46-0E0F-20F423921668}"/>
          </ac:graphicFrameMkLst>
        </pc:graphicFrameChg>
        <pc:graphicFrameChg chg="add del mod">
          <ac:chgData name="Seema Kapri" userId="S::seema.kapri@hsv.digital::3468d2f6-a5eb-4e01-882c-f62721c4c7bf" providerId="AD" clId="Web-{341A31DF-CE2A-BFEF-30D5-9E6A7903854B}" dt="2026-07-06T15:01:21.891" v="32"/>
          <ac:graphicFrameMkLst>
            <pc:docMk/>
            <pc:sldMk cId="1794507525" sldId="2147470128"/>
            <ac:graphicFrameMk id="8" creationId="{DD9FD4FA-EB8B-89E2-3EBF-1475DE98C7FB}"/>
          </ac:graphicFrameMkLst>
        </pc:graphicFrameChg>
        <pc:graphicFrameChg chg="add del mod">
          <ac:chgData name="Seema Kapri" userId="S::seema.kapri@hsv.digital::3468d2f6-a5eb-4e01-882c-f62721c4c7bf" providerId="AD" clId="Web-{341A31DF-CE2A-BFEF-30D5-9E6A7903854B}" dt="2026-07-06T15:01:31.188" v="34"/>
          <ac:graphicFrameMkLst>
            <pc:docMk/>
            <pc:sldMk cId="1794507525" sldId="2147470128"/>
            <ac:graphicFrameMk id="10" creationId="{CE4F1C27-2DF8-6A6B-5056-8EF02214210E}"/>
          </ac:graphicFrameMkLst>
        </pc:graphicFrameChg>
      </pc:sldChg>
    </pc:docChg>
  </pc:docChgLst>
  <pc:docChgLst>
    <pc:chgData name="Shreya Singh" userId="b354311e-5542-4a3b-80c7-af4347e0a1ac" providerId="ADAL" clId="{24CE2105-6015-495D-A54D-6F3B21ACCFC8}"/>
    <pc:docChg chg="undo custSel modSld">
      <pc:chgData name="Shreya Singh" userId="b354311e-5542-4a3b-80c7-af4347e0a1ac" providerId="ADAL" clId="{24CE2105-6015-495D-A54D-6F3B21ACCFC8}" dt="2026-07-01T10:00:07.138" v="65" actId="14734"/>
      <pc:docMkLst>
        <pc:docMk/>
      </pc:docMkLst>
      <pc:sldChg chg="modSp mod">
        <pc:chgData name="Shreya Singh" userId="b354311e-5542-4a3b-80c7-af4347e0a1ac" providerId="ADAL" clId="{24CE2105-6015-495D-A54D-6F3B21ACCFC8}" dt="2026-07-01T10:00:07.138" v="65" actId="14734"/>
        <pc:sldMkLst>
          <pc:docMk/>
          <pc:sldMk cId="1794507525" sldId="2147470128"/>
        </pc:sldMkLst>
        <pc:graphicFrameChg chg="mod modGraphic">
          <ac:chgData name="Shreya Singh" userId="b354311e-5542-4a3b-80c7-af4347e0a1ac" providerId="ADAL" clId="{24CE2105-6015-495D-A54D-6F3B21ACCFC8}" dt="2026-07-01T10:00:07.138" v="65" actId="14734"/>
          <ac:graphicFrameMkLst>
            <pc:docMk/>
            <pc:sldMk cId="1794507525" sldId="2147470128"/>
            <ac:graphicFrameMk id="3" creationId="{F4C1163E-9A3B-3F46-0E0F-20F423921668}"/>
          </ac:graphicFrameMkLst>
        </pc:graphicFrameChg>
      </pc:sldChg>
      <pc:sldChg chg="modSp mod">
        <pc:chgData name="Shreya Singh" userId="b354311e-5542-4a3b-80c7-af4347e0a1ac" providerId="ADAL" clId="{24CE2105-6015-495D-A54D-6F3B21ACCFC8}" dt="2026-07-01T09:59:50.973" v="63" actId="14100"/>
        <pc:sldMkLst>
          <pc:docMk/>
          <pc:sldMk cId="835069955" sldId="2147470129"/>
        </pc:sldMkLst>
        <pc:spChg chg="mod">
          <ac:chgData name="Shreya Singh" userId="b354311e-5542-4a3b-80c7-af4347e0a1ac" providerId="ADAL" clId="{24CE2105-6015-495D-A54D-6F3B21ACCFC8}" dt="2026-07-01T09:59:50.973" v="63" actId="14100"/>
          <ac:spMkLst>
            <pc:docMk/>
            <pc:sldMk cId="835069955" sldId="2147470129"/>
            <ac:spMk id="4" creationId="{0294E1AA-431C-1550-1473-C8E8099BAF03}"/>
          </ac:spMkLst>
        </pc:spChg>
        <pc:graphicFrameChg chg="mod modGraphic">
          <ac:chgData name="Shreya Singh" userId="b354311e-5542-4a3b-80c7-af4347e0a1ac" providerId="ADAL" clId="{24CE2105-6015-495D-A54D-6F3B21ACCFC8}" dt="2026-07-01T09:59:45.134" v="62" actId="14734"/>
          <ac:graphicFrameMkLst>
            <pc:docMk/>
            <pc:sldMk cId="835069955" sldId="2147470129"/>
            <ac:graphicFrameMk id="3" creationId="{61A4D120-DB1F-0CAD-0368-0CEB850F83F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BEF9E-3BC9-191C-0C0F-08AE7F68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81E94-D8B2-8214-107F-480387C6F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A7884-FCD7-0DA0-075B-1380AE0A4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9843-897D-BC11-367B-100AA0E8E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164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1080-0C42-F7C5-A095-53E00996D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6D3EB-4FB4-6D01-9B22-51B9D07EA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9B237-5085-7CA0-96E8-BD38D6277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3B976-91A1-BAD5-8526-CFA4BE968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5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EEB850-FCAB-9257-4020-F54FB1456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02F7D59D-F2ED-A949-6635-F6A6D91631BE}"/>
              </a:ext>
            </a:extLst>
          </p:cNvPr>
          <p:cNvSpPr>
            <a:spLocks/>
          </p:cNvSpPr>
          <p:nvPr/>
        </p:nvSpPr>
        <p:spPr bwMode="auto">
          <a:xfrm>
            <a:off x="377825" y="885948"/>
            <a:ext cx="4895850" cy="6717120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4047058E-B66C-21BA-CCE3-8C5DA97D12BC}"/>
              </a:ext>
            </a:extLst>
          </p:cNvPr>
          <p:cNvSpPr/>
          <p:nvPr/>
        </p:nvSpPr>
        <p:spPr bwMode="auto">
          <a:xfrm flipH="1">
            <a:off x="377810" y="885946"/>
            <a:ext cx="4895851" cy="518674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F4C1163E-9A3B-3F46-0E0F-20F423921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53833"/>
              </p:ext>
            </p:extLst>
          </p:nvPr>
        </p:nvGraphicFramePr>
        <p:xfrm>
          <a:off x="380714" y="887941"/>
          <a:ext cx="4904331" cy="6696905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267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4240858127"/>
                    </a:ext>
                  </a:extLst>
                </a:gridCol>
                <a:gridCol w="1033246">
                  <a:extLst>
                    <a:ext uri="{9D8B030D-6E8A-4147-A177-3AD203B41FA5}">
                      <a16:colId xmlns:a16="http://schemas.microsoft.com/office/drawing/2014/main" val="2771187302"/>
                    </a:ext>
                  </a:extLst>
                </a:gridCol>
              </a:tblGrid>
              <a:tr h="51558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  <a:sym typeface=""/>
                        </a:rPr>
                        <a:t>Incremental security and compliance capabilities</a:t>
                      </a:r>
                      <a:endParaRPr lang="en-US" sz="750" b="0" i="0" u="none" strike="noStrike" kern="1200" cap="none" spc="0" normalizeH="0" baseline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 panose="020B0702040204020203" pitchFamily="34" charset="0"/>
                        <a:ea typeface="Calibri" charset="0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  <a:sym typeface=""/>
                        </a:rPr>
                        <a:t>M365 Business Premium</a:t>
                      </a:r>
                      <a:endParaRPr lang="en-US" sz="750" b="0" i="0" u="none" strike="noStrike" kern="1200" cap="none" spc="0" normalizeH="0" baseline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 panose="020B0702040204020203" pitchFamily="34" charset="0"/>
                        <a:ea typeface="Calibri" charset="0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  <a:sym typeface=""/>
                        </a:rPr>
                        <a:t>Defender + Purview Suite for </a:t>
                      </a:r>
                      <a:r>
                        <a:rPr lang="en-US" sz="7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Segoe UI Semibold" panose="020B0502040204020203" pitchFamily="34" charset="0"/>
                          <a:cs typeface="Segoe UI Semibold" panose="020B0702040204020203" pitchFamily="34" charset="0"/>
                        </a:rPr>
                        <a:t>Business Premium</a:t>
                      </a:r>
                      <a:endParaRPr lang="en-US" sz="750" b="0" i="0" u="none" strike="noStrike" kern="1200" cap="none" spc="0" normalizeH="0" baseline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 panose="020B0702040204020203" pitchFamily="34" charset="0"/>
                        <a:ea typeface="Calibri" charset="0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254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 and access management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>
                      <a:noFill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Entra ID P1: SSO, MFA, self-service password reset, Conditional Access, automated user provisioning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Entra ID P2: Risk-based Conditional Access with real-time sign-in and user risk detection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Entra ID Protection: ML-driven anomaly detection for compromised credentials and suspicious sign-ins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Entra ID Governance: Access reviews, entitlement management, and Privileged Identity Management (PIM)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254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 threat detection and response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>
                      <a:noFill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Identity: Monitor on-premises AD and hybrid identity infrastructure for compromise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Detect lateral movement (pass-the-hash, pass-the-ticket, golden ticket) and credential theft attacks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Monthly Security Summary Report — posture across identity, devices, info, apps</a:t>
                      </a:r>
                    </a:p>
                  </a:txBody>
                  <a:tcPr marL="73152" marR="73152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799738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Device Exposure Score in Microsoft 365 Lighthouse — CSP/MSP cross-tenant view</a:t>
                      </a:r>
                    </a:p>
                  </a:txBody>
                  <a:tcPr marL="73152" marR="73152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940498"/>
                  </a:ext>
                </a:extLst>
              </a:tr>
              <a:tr h="143254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Endpoint security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>
                      <a:noFill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Business: Next-gen antivirus, EDR, automated remediation, threat and vulnerability management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Defender for Endpoint P2: Advanced threat hunting with custom detection rules and KQL queries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Live response, 6-month data retention (vs. 30 days), and advanced behavioral analytics for APT detection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3254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Email and collaboration security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>
                      <a:noFill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325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Office 365 P1: Safe links, safe attachments, anti-phishing policies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Defender for Office 365 P2: AIR for email threats, Attack Simulation Training for employees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Threat explorer, threat trackers, and advanced hunting across email entities with campaign views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650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kern="1200" cap="none" spc="0" normalizeH="0" baseline="0" noProof="0">
                          <a:solidFill>
                            <a:srgbClr val="000000"/>
                          </a:solidFill>
                          <a:latin typeface="Segoe UI"/>
                          <a:ea typeface="+mn-ea"/>
                          <a:cs typeface="Segoe UI"/>
                        </a:rPr>
                        <a:t>URL time-of-click protection (</a:t>
                      </a:r>
                      <a:r>
                        <a:rPr lang="en-US" sz="700" b="0" i="0" u="none" strike="noStrike" kern="1200" cap="none" spc="0" normalizeH="0" baseline="0" noProof="0" err="1">
                          <a:solidFill>
                            <a:srgbClr val="000000"/>
                          </a:solidFill>
                          <a:latin typeface="Segoe UI"/>
                          <a:ea typeface="+mn-ea"/>
                          <a:cs typeface="Segoe UI"/>
                        </a:rPr>
                        <a:t>SafeLinks</a:t>
                      </a:r>
                      <a:r>
                        <a:rPr lang="en-US" sz="700" b="0" i="0" u="none" strike="noStrike" kern="1200" cap="none" spc="0" normalizeH="0" baseline="0" noProof="0">
                          <a:solidFill>
                            <a:srgbClr val="000000"/>
                          </a:solidFill>
                          <a:latin typeface="Segoe UI"/>
                          <a:ea typeface="+mn-ea"/>
                          <a:cs typeface="Segoe UI"/>
                        </a:rPr>
                        <a:t> Lite) — re-checks links at moment of click</a:t>
                      </a:r>
                    </a:p>
                  </a:txBody>
                  <a:tcPr marL="72000" marR="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bg1">
                          <a:lumMod val="85000"/>
                        </a:schemeClr>
                      </a:solidFill>
                    </a:lnT>
                    <a:lnB w="6350">
                      <a:solidFill>
                        <a:schemeClr val="bg1">
                          <a:lumMod val="8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56513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kern="1200" cap="none" spc="0" normalizeH="0" baseline="0" noProof="0">
                          <a:solidFill>
                            <a:srgbClr val="000000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>
                        <a:sym typeface=""/>
                      </a:endParaRPr>
                    </a:p>
                  </a:txBody>
                  <a:tcPr marL="72000" marR="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bg1">
                          <a:lumMod val="85000"/>
                        </a:schemeClr>
                      </a:solidFill>
                    </a:lnT>
                    <a:lnB w="6350">
                      <a:solidFill>
                        <a:schemeClr val="bg1">
                          <a:lumMod val="8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56513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kern="1200" cap="none" spc="0" normalizeH="0" baseline="0" noProof="0">
                          <a:solidFill>
                            <a:srgbClr val="000000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>
                        <a:sym typeface=""/>
                      </a:endParaRPr>
                    </a:p>
                  </a:txBody>
                  <a:tcPr marL="72000" marR="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bg1">
                          <a:lumMod val="85000"/>
                        </a:schemeClr>
                      </a:solidFill>
                    </a:lnT>
                    <a:lnB w="6350">
                      <a:solidFill>
                        <a:schemeClr val="bg1">
                          <a:lumMod val="8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327567"/>
                  </a:ext>
                </a:extLst>
              </a:tr>
              <a:tr h="143254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Cloud application, IoT and unified XDR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>
                      <a:noFill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Cloud Apps: Discover/control shadow IT across 31,000+ cloud and AI apps with session governance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IoT (Enterprise IoT): Continuous asset discovery and threat detection for connected devices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XDR: Unified incident correlation, automatic attack disruption, and cross-domain advanced hunting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3254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Information protection and classification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>
                      <a:noFill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Information Protection P1: Manual sensitivity labels, default labeling, basic classification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8650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IP P2: Automatic labeling, trainable classifiers (ML), Exact Data Match (EDM), sensitive data discovery and mapping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662ABD9E-C4F3-93FF-87F3-E45BF0BF1334}"/>
              </a:ext>
            </a:extLst>
          </p:cNvPr>
          <p:cNvSpPr/>
          <p:nvPr/>
        </p:nvSpPr>
        <p:spPr>
          <a:xfrm>
            <a:off x="377826" y="281945"/>
            <a:ext cx="5060448" cy="47089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>
                <a:solidFill>
                  <a:srgbClr val="B740C5"/>
                </a:solidFill>
                <a:latin typeface="Segoe UI Semibold"/>
                <a:cs typeface="Segoe UI Semibold"/>
              </a:rPr>
              <a:t>Business Premium vs Defender Suite for Business Premium + Purview Suite for Business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AA1658-6912-D412-4273-837C563503F2}"/>
              </a:ext>
            </a:extLst>
          </p:cNvPr>
          <p:cNvSpPr txBox="1"/>
          <p:nvPr/>
        </p:nvSpPr>
        <p:spPr>
          <a:xfrm>
            <a:off x="5926914" y="10412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07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DF35C-B396-89AB-E43F-EB619B83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0294E1AA-431C-1550-1473-C8E8099BAF03}"/>
              </a:ext>
            </a:extLst>
          </p:cNvPr>
          <p:cNvSpPr>
            <a:spLocks/>
          </p:cNvSpPr>
          <p:nvPr/>
        </p:nvSpPr>
        <p:spPr bwMode="auto">
          <a:xfrm>
            <a:off x="377825" y="885947"/>
            <a:ext cx="4895850" cy="4871916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460AB8A6-A920-0BEF-AA48-971F0AFEF0E0}"/>
              </a:ext>
            </a:extLst>
          </p:cNvPr>
          <p:cNvSpPr/>
          <p:nvPr/>
        </p:nvSpPr>
        <p:spPr bwMode="auto">
          <a:xfrm flipH="1">
            <a:off x="377810" y="885946"/>
            <a:ext cx="4895851" cy="518674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61A4D120-DB1F-0CAD-0368-0CEB850F8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396162"/>
              </p:ext>
            </p:extLst>
          </p:nvPr>
        </p:nvGraphicFramePr>
        <p:xfrm>
          <a:off x="377826" y="889887"/>
          <a:ext cx="4904332" cy="478870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267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4240858127"/>
                    </a:ext>
                  </a:extLst>
                </a:gridCol>
                <a:gridCol w="1033246">
                  <a:extLst>
                    <a:ext uri="{9D8B030D-6E8A-4147-A177-3AD203B41FA5}">
                      <a16:colId xmlns:a16="http://schemas.microsoft.com/office/drawing/2014/main" val="2771187302"/>
                    </a:ext>
                  </a:extLst>
                </a:gridCol>
              </a:tblGrid>
              <a:tr h="515580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  <a:sym typeface=""/>
                        </a:rPr>
                        <a:t>Incremental security and compliance capabilities</a:t>
                      </a:r>
                      <a:endParaRPr lang="en-US" sz="750" b="0" i="0" u="none" strike="noStrike" kern="1200" cap="none" spc="0" normalizeH="0" baseline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 panose="020B0702040204020203" pitchFamily="34" charset="0"/>
                        <a:ea typeface="Calibri" charset="0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  <a:sym typeface=""/>
                        </a:rPr>
                        <a:t>M365 Business Premium</a:t>
                      </a:r>
                      <a:endParaRPr lang="en-US" sz="750" b="0" i="0" u="none" strike="noStrike" kern="1200" cap="none" spc="0" normalizeH="0" baseline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 panose="020B0702040204020203" pitchFamily="34" charset="0"/>
                        <a:ea typeface="Calibri" charset="0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  <a:sym typeface=""/>
                        </a:rPr>
                        <a:t>Defender + Purview Suite for </a:t>
                      </a:r>
                      <a:r>
                        <a:rPr lang="en-US" sz="7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Segoe UI Semibold" panose="020B0502040204020203" pitchFamily="34" charset="0"/>
                          <a:cs typeface="Segoe UI Semibold" panose="020B0702040204020203" pitchFamily="34" charset="0"/>
                        </a:rPr>
                        <a:t>Business Premium</a:t>
                      </a:r>
                      <a:endParaRPr lang="en-US" sz="750" b="0" i="0" u="none" strike="noStrike" kern="1200" cap="none" spc="0" normalizeH="0" baseline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 panose="020B0702040204020203" pitchFamily="34" charset="0"/>
                        <a:ea typeface="Calibri" charset="0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484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Data loss prevention (DLP)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364377"/>
                  </a:ext>
                </a:extLst>
              </a:tr>
              <a:tr h="25253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DLP for email and files: Prevent accidental sharing of sensitive data via Exchange/SharePoint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899169"/>
                  </a:ext>
                </a:extLst>
              </a:tr>
              <a:tr h="25253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Unified DLP across M365 apps, Teams, endpoints + Endpoint DLP (USB/print/upload) + Adaptive DLP via insider risk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218999"/>
                  </a:ext>
                </a:extLst>
              </a:tr>
              <a:tr h="20448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DLP for Copilot Prompts — blocks Copilot from processing sensitive data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417714"/>
                  </a:ext>
                </a:extLst>
              </a:tr>
              <a:tr h="20448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Data Security Posture Management for AI (DSPM for AI)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79980"/>
                  </a:ext>
                </a:extLst>
              </a:tr>
              <a:tr h="20448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AI data security and compliance (DLP, DSPM, Insider Risk)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466425"/>
                  </a:ext>
                </a:extLst>
              </a:tr>
              <a:tr h="204484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Insider risk management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123767"/>
                  </a:ext>
                </a:extLst>
              </a:tr>
              <a:tr h="25253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Insider Risk Management: Detect data theft, policy violations with privacy analytics + Adaptive Protection for DLP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31894"/>
                  </a:ext>
                </a:extLst>
              </a:tr>
              <a:tr h="20448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eDiscovery, audit and data lifecycle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574047"/>
                  </a:ext>
                </a:extLst>
              </a:tr>
              <a:tr h="28167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Audit (Standard): Log and search audited user/admin activities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97920"/>
                  </a:ext>
                </a:extLst>
              </a:tr>
              <a:tr h="38527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eDiscovery (Premium): Legal hold, review sets, predictive coding; Audit (Premium): 10-year retention, forensic insights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663969"/>
                  </a:ext>
                </a:extLst>
              </a:tr>
              <a:tr h="36261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Data Lifecycle Management: Automated retention/deletion, records management, event-based triggers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96752"/>
                  </a:ext>
                </a:extLst>
              </a:tr>
              <a:tr h="53096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Compliance, encryption and AI: Compliance Manager, Communication Compliance, Message Encryption, Customer Lockbox/Key, Information Barriers, PAM, Copilot governance</a:t>
                      </a:r>
                    </a:p>
                  </a:txBody>
                  <a:tcPr marL="72000" marR="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41296"/>
                  </a:ext>
                </a:extLst>
              </a:tr>
              <a:tr h="200731"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>
                              <a:lumMod val="100000"/>
                            </a:srgb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Copilot Chat</a:t>
                      </a:r>
                    </a:p>
                  </a:txBody>
                  <a:tcPr marL="73152" marR="73152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>
                            <a:lumMod val="100000"/>
                          </a:srgbClr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>
                            <a:lumMod val="100000"/>
                          </a:srgbClr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67171"/>
                  </a:ext>
                </a:extLst>
              </a:tr>
              <a:tr h="2868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4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F25987B9-F769-95B0-BECD-E70D8929F842}"/>
              </a:ext>
            </a:extLst>
          </p:cNvPr>
          <p:cNvSpPr/>
          <p:nvPr/>
        </p:nvSpPr>
        <p:spPr>
          <a:xfrm>
            <a:off x="377826" y="281945"/>
            <a:ext cx="5060448" cy="47089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>
                <a:solidFill>
                  <a:srgbClr val="B740C5"/>
                </a:solidFill>
                <a:latin typeface="Segoe UI Semibold"/>
                <a:cs typeface="Segoe UI Semibold"/>
              </a:rPr>
              <a:t>Business Premium vs Defender Suite for Business Premium + Purview Suite for Business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99D688-0EA1-9A9E-C85D-5C28156573F7}"/>
              </a:ext>
            </a:extLst>
          </p:cNvPr>
          <p:cNvSpPr txBox="1"/>
          <p:nvPr/>
        </p:nvSpPr>
        <p:spPr>
          <a:xfrm>
            <a:off x="5926914" y="10412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6995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2_Office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revision>1</cp:revision>
  <dcterms:created xsi:type="dcterms:W3CDTF">2026-03-24T15:15:07Z</dcterms:created>
  <dcterms:modified xsi:type="dcterms:W3CDTF">2026-07-06T15:05:18Z</dcterms:modified>
</cp:coreProperties>
</file>