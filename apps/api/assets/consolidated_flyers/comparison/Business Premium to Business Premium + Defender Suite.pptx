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70125" r:id="rId2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40C5"/>
    <a:srgbClr val="EDD1EC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F0CA85-B6EC-F37F-4EB4-67FEBAA6E748}" v="105" dt="2026-07-06T14:51:10.843"/>
    <p1510:client id="{837BB7F6-003E-A64D-7E78-78392874CE8D}" v="94" dt="2026-07-06T15:06:55.67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517"/>
        <p:guide pos="17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77F0CA85-B6EC-F37F-4EB4-67FEBAA6E748}"/>
    <pc:docChg chg="modSld">
      <pc:chgData name="Seema Kapri" userId="S::seema.kapri@hsv.digital::3468d2f6-a5eb-4e01-882c-f62721c4c7bf" providerId="AD" clId="Web-{77F0CA85-B6EC-F37F-4EB4-67FEBAA6E748}" dt="2026-07-06T14:50:10.608" v="101"/>
      <pc:docMkLst>
        <pc:docMk/>
      </pc:docMkLst>
      <pc:sldChg chg="modSp">
        <pc:chgData name="Seema Kapri" userId="S::seema.kapri@hsv.digital::3468d2f6-a5eb-4e01-882c-f62721c4c7bf" providerId="AD" clId="Web-{77F0CA85-B6EC-F37F-4EB4-67FEBAA6E748}" dt="2026-07-06T14:50:10.608" v="101"/>
        <pc:sldMkLst>
          <pc:docMk/>
          <pc:sldMk cId="2922998690" sldId="2147470125"/>
        </pc:sldMkLst>
        <pc:graphicFrameChg chg="mod modGraphic">
          <ac:chgData name="Seema Kapri" userId="S::seema.kapri@hsv.digital::3468d2f6-a5eb-4e01-882c-f62721c4c7bf" providerId="AD" clId="Web-{77F0CA85-B6EC-F37F-4EB4-67FEBAA6E748}" dt="2026-07-06T14:50:10.608" v="101"/>
          <ac:graphicFrameMkLst>
            <pc:docMk/>
            <pc:sldMk cId="2922998690" sldId="2147470125"/>
            <ac:graphicFrameMk id="12" creationId="{5064A099-8075-3472-8D77-5C3F420E4660}"/>
          </ac:graphicFrameMkLst>
        </pc:graphicFrameChg>
      </pc:sldChg>
    </pc:docChg>
  </pc:docChgLst>
  <pc:docChgLst>
    <pc:chgData name="Seema Kapri" userId="S::seema.kapri@hsv.digital::3468d2f6-a5eb-4e01-882c-f62721c4c7bf" providerId="AD" clId="Web-{837BB7F6-003E-A64D-7E78-78392874CE8D}"/>
    <pc:docChg chg="modSld">
      <pc:chgData name="Seema Kapri" userId="S::seema.kapri@hsv.digital::3468d2f6-a5eb-4e01-882c-f62721c4c7bf" providerId="AD" clId="Web-{837BB7F6-003E-A64D-7E78-78392874CE8D}" dt="2026-07-06T15:06:55.674" v="16"/>
      <pc:docMkLst>
        <pc:docMk/>
      </pc:docMkLst>
      <pc:sldChg chg="modSp">
        <pc:chgData name="Seema Kapri" userId="S::seema.kapri@hsv.digital::3468d2f6-a5eb-4e01-882c-f62721c4c7bf" providerId="AD" clId="Web-{837BB7F6-003E-A64D-7E78-78392874CE8D}" dt="2026-07-06T15:06:55.674" v="16"/>
        <pc:sldMkLst>
          <pc:docMk/>
          <pc:sldMk cId="2922998690" sldId="2147470125"/>
        </pc:sldMkLst>
        <pc:graphicFrameChg chg="mod modGraphic">
          <ac:chgData name="Seema Kapri" userId="S::seema.kapri@hsv.digital::3468d2f6-a5eb-4e01-882c-f62721c4c7bf" providerId="AD" clId="Web-{837BB7F6-003E-A64D-7E78-78392874CE8D}" dt="2026-07-06T15:06:55.674" v="16"/>
          <ac:graphicFrameMkLst>
            <pc:docMk/>
            <pc:sldMk cId="2922998690" sldId="2147470125"/>
            <ac:graphicFrameMk id="12" creationId="{5064A099-8075-3472-8D77-5C3F420E4660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undo custSel modSld">
      <pc:chgData name="Shreya Singh" userId="b354311e-5542-4a3b-80c7-af4347e0a1ac" providerId="ADAL" clId="{24CE2105-6015-495D-A54D-6F3B21ACCFC8}" dt="2026-07-01T09:58:08.502" v="24" actId="14734"/>
      <pc:docMkLst>
        <pc:docMk/>
      </pc:docMkLst>
      <pc:sldChg chg="modSp mod">
        <pc:chgData name="Shreya Singh" userId="b354311e-5542-4a3b-80c7-af4347e0a1ac" providerId="ADAL" clId="{24CE2105-6015-495D-A54D-6F3B21ACCFC8}" dt="2026-07-01T09:58:08.502" v="24" actId="14734"/>
        <pc:sldMkLst>
          <pc:docMk/>
          <pc:sldMk cId="2922998690" sldId="2147470125"/>
        </pc:sldMkLst>
        <pc:graphicFrameChg chg="mod modGraphic">
          <ac:chgData name="Shreya Singh" userId="b354311e-5542-4a3b-80c7-af4347e0a1ac" providerId="ADAL" clId="{24CE2105-6015-495D-A54D-6F3B21ACCFC8}" dt="2026-07-01T09:58:08.502" v="24" actId="14734"/>
          <ac:graphicFrameMkLst>
            <pc:docMk/>
            <pc:sldMk cId="2922998690" sldId="2147470125"/>
            <ac:graphicFrameMk id="12" creationId="{5064A099-8075-3472-8D77-5C3F420E466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EE892-4ADA-EAC8-8309-7365EF8F4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A4A5B-D23C-7D83-599B-E676645A3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5A2FF-A3CC-0D3B-8C7D-E81843F1D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65245-73D4-2C3D-8091-A92D2C4E3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141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B5251-E3E5-2774-D8E0-D46D69DC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1119D320-6825-AD36-6CCB-C74903DB3F3E}"/>
              </a:ext>
            </a:extLst>
          </p:cNvPr>
          <p:cNvSpPr>
            <a:spLocks/>
          </p:cNvSpPr>
          <p:nvPr/>
        </p:nvSpPr>
        <p:spPr bwMode="auto">
          <a:xfrm>
            <a:off x="377825" y="885947"/>
            <a:ext cx="4895850" cy="6784853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87A532E0-2EC6-B63E-5A50-FDCE070E3E55}"/>
              </a:ext>
            </a:extLst>
          </p:cNvPr>
          <p:cNvSpPr/>
          <p:nvPr/>
        </p:nvSpPr>
        <p:spPr bwMode="auto">
          <a:xfrm flipH="1">
            <a:off x="377818" y="885947"/>
            <a:ext cx="4895851" cy="351182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5064A099-8075-3472-8D77-5C3F420E4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196000"/>
              </p:ext>
            </p:extLst>
          </p:nvPr>
        </p:nvGraphicFramePr>
        <p:xfrm>
          <a:off x="377826" y="885950"/>
          <a:ext cx="4895850" cy="6669723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794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06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800" b="1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+mn-ea"/>
                          <a:cs typeface="Segoe UI Semibold"/>
                          <a:sym typeface=""/>
                        </a:rPr>
                        <a:t>Incremental capabilities</a:t>
                      </a:r>
                    </a:p>
                  </a:txBody>
                  <a:tcPr marL="108000" marR="75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  <a:t>Business Premium</a:t>
                      </a:r>
                      <a:endParaRPr lang="en-US" sz="650" b="1" i="0" u="none" strike="noStrike" kern="1200" cap="none" spc="0" normalizeH="0" baseline="0">
                        <a:solidFill>
                          <a:schemeClr val="bg1">
                            <a:lumMod val="100000"/>
                          </a:schemeClr>
                        </a:solidFill>
                        <a:latin typeface="Segoe UI Semibold"/>
                        <a:ea typeface="Calibri"/>
                        <a:cs typeface="Segoe UI Semibold"/>
                        <a:sym typeface="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  <a:t>Defender Suite </a:t>
                      </a:r>
                      <a:br>
                        <a:rPr lang="en-US" sz="650" b="0" i="0" u="none" strike="noStrike" kern="1200" cap="none" spc="0" normalizeH="0" baseline="0">
                          <a:solidFill>
                            <a:srgbClr val="FFFFFF"/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</a:br>
                      <a:r>
                        <a:rPr lang="en-US" sz="65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Calibri"/>
                          <a:cs typeface="Segoe UI Semibold"/>
                          <a:sym typeface=""/>
                        </a:rPr>
                        <a:t>for Business Premium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8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Identity &amp; Access Management</a:t>
                      </a: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098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Entra ID P1: SSO, MFA, self-service password reset, Conditional Access, automated user provisioning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49225"/>
                  </a:ext>
                </a:extLst>
              </a:tr>
              <a:tr h="147968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Entra ID P2: Risk-based Conditional Access with real-time sign-in risk and user risk detection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52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Entra ID Protection: ML-driven anomaly detection for compromised credentials and suspicious sign-ins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37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Entra ID Governance: Access reviews, entitlement management, and Privileged Identity Management (PIM)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991779"/>
                  </a:ext>
                </a:extLst>
              </a:tr>
              <a:tr h="16382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Identity threat detection and response</a:t>
                      </a:r>
                      <a:endParaRPr lang="en-US" sz="700" b="0" i="0" u="none" strike="noStrike" kern="1200" cap="none" spc="0" normalizeH="0" baseline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  <a:sym typeface="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82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Defender for Identity: Monitor on-premises AD and hybrid identity infrastructure for compromise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211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Detect lateral movement (pass-the-hash, pass-the-ticket, golden ticket) and credential theft attacks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1362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Real-time identity attack blocking integrated with Defender XDR for automated containment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850097"/>
                  </a:ext>
                </a:extLst>
              </a:tr>
              <a:tr h="15193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  <a:sym typeface=""/>
                        </a:rPr>
                        <a:t>Endpoint security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982563"/>
                  </a:ext>
                </a:extLst>
              </a:tr>
              <a:tr h="234502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Defender for Business: Next-gen antivirus, EDR, automated remediation, threat and vulnerability management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298539"/>
                  </a:ext>
                </a:extLst>
              </a:tr>
              <a:tr h="15523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Attack surface reduction (ASR) rules, network protection, web content filtering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03467"/>
                  </a:ext>
                </a:extLst>
              </a:tr>
              <a:tr h="128811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Defender for Endpoint P2: Advanced threat hunting with custom detection rules and KQL queries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017987"/>
                  </a:ext>
                </a:extLst>
              </a:tr>
              <a:tr h="142022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Live response for remote forensic investigation and remediation directly on endpoints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536655"/>
                  </a:ext>
                </a:extLst>
              </a:tr>
              <a:tr h="13211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Extended 6-month data retention on device timeline (vs. 30 days) for deeper investigation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586103"/>
                  </a:ext>
                </a:extLst>
              </a:tr>
              <a:tr h="148628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Advanced behavioral analytics and applied threat intelligence for APT detection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731555"/>
                  </a:ext>
                </a:extLst>
              </a:tr>
              <a:tr h="1486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Monthly Security Summary Report — posture across identity, devices, info, apps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6320"/>
                  </a:ext>
                </a:extLst>
              </a:tr>
              <a:tr h="1486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Device Exposure Score in Microsoft 365 Lighthouse — CSP/MSP cross-tenant view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254965"/>
                  </a:ext>
                </a:extLst>
              </a:tr>
              <a:tr h="15523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  <a:sym typeface=""/>
                        </a:rPr>
                        <a:t>Email and collaboration security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627575"/>
                  </a:ext>
                </a:extLst>
              </a:tr>
              <a:tr h="2444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Defender for Office 365 Plan 1: Safe Links, Safe Attachments, anti-phishing policies across email, Teams, SharePoint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98252"/>
                  </a:ext>
                </a:extLst>
              </a:tr>
              <a:tr h="1288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Defender for Office 365 P2: Automated Investigation and Response (AIR) for email-borne threats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204603"/>
                  </a:ext>
                </a:extLst>
              </a:tr>
              <a:tr h="234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Attack Simulation Training: Run phishing simulations and security awareness campaigns for employees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418024"/>
                  </a:ext>
                </a:extLst>
              </a:tr>
              <a:tr h="234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Threat Explorer and Trackers: Deep-dive forensic investigation, campaign views, and compromise detection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395197"/>
                  </a:ext>
                </a:extLst>
              </a:tr>
              <a:tr h="1486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↑ Advanced hunting across email entities with proactive threat detection capabilities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107959"/>
                  </a:ext>
                </a:extLst>
              </a:tr>
              <a:tr h="14862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 URL time-of-click protection (</a:t>
                      </a:r>
                      <a:r>
                        <a:rPr lang="en-US" sz="65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SafeLinks</a:t>
                      </a: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 Lite) — re-checks links at moment of click</a:t>
                      </a:r>
                      <a:endParaRPr lang="en-US"/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/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/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381896"/>
                  </a:ext>
                </a:extLst>
              </a:tr>
              <a:tr h="148628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Cloud application and SaaS security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768545"/>
                  </a:ext>
                </a:extLst>
              </a:tr>
              <a:tr h="171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Defender for Cloud Apps: Discover and control shadow IT across 31,000+ cloud and AI apps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616640"/>
                  </a:ext>
                </a:extLst>
              </a:tr>
              <a:tr h="155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Session-level Conditional Access, app governance, and real-time monitoring of SaaS usage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063641"/>
                  </a:ext>
                </a:extLst>
              </a:tr>
              <a:tr h="171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Detect risky OAuth apps, anomalous user behavior, and potential data exfiltration in cloud services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641306"/>
                  </a:ext>
                </a:extLst>
              </a:tr>
              <a:tr h="118903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Enterprise IoT security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70084"/>
                  </a:ext>
                </a:extLst>
              </a:tr>
              <a:tr h="247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Defender for IoT (Enterprise IoT): Continuous asset discovery, threat detection, and vulnerability assessment for printers, cameras, VoIP, smart devices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785803"/>
                  </a:ext>
                </a:extLst>
              </a:tr>
              <a:tr h="122205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Unified security operations (XDR)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 marB="0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D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309490"/>
                  </a:ext>
                </a:extLst>
              </a:tr>
              <a:tr h="254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Defender XDR: Unified incident correlation across endpoints, email, identity, cloud apps, and IoT in a single portal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171828"/>
                  </a:ext>
                </a:extLst>
              </a:tr>
              <a:tr h="2411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chemeClr val="tx1"/>
                          </a:solidFill>
                          <a:latin typeface="Segoe UI"/>
                          <a:ea typeface="Calibri"/>
                          <a:cs typeface="Segoe UI"/>
                        </a:rPr>
                        <a:t>Automatic attack disruption with AI-driven real-time containment and cross-domain advanced hunting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1B7D3A"/>
                          </a:solidFill>
                          <a:latin typeface="Segoe UI"/>
                          <a:ea typeface="Calibri"/>
                          <a:cs typeface="Segoe UI"/>
                        </a:rPr>
                        <a:t>✓</a:t>
                      </a:r>
                      <a:endParaRPr lang="en-US" sz="700">
                        <a:latin typeface="Segoe UI"/>
                        <a:ea typeface="Calibri"/>
                        <a:cs typeface="Segoe UI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53754"/>
                  </a:ext>
                </a:extLst>
              </a:tr>
              <a:tr h="115606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Copilot Chat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621478"/>
                  </a:ext>
                </a:extLst>
              </a:tr>
              <a:tr h="142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739530"/>
                  </a:ext>
                </a:extLst>
              </a:tr>
              <a:tr h="168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8433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5A75A7D5-4D88-6E2A-FE2A-40A198174D5D}"/>
              </a:ext>
            </a:extLst>
          </p:cNvPr>
          <p:cNvSpPr/>
          <p:nvPr/>
        </p:nvSpPr>
        <p:spPr>
          <a:xfrm>
            <a:off x="377826" y="281945"/>
            <a:ext cx="4895850" cy="47089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</a:pPr>
            <a:r>
              <a:rPr lang="en-US">
                <a:solidFill>
                  <a:srgbClr val="B740C5"/>
                </a:solidFill>
                <a:latin typeface="Segoe UI Semibold"/>
                <a:cs typeface="Segoe UI Semibold"/>
              </a:rPr>
              <a:t>Business Premium vs </a:t>
            </a:r>
            <a:br>
              <a:rPr lang="en-US">
                <a:solidFill>
                  <a:srgbClr val="B740C5"/>
                </a:solidFill>
                <a:latin typeface="Segoe UI Semibold"/>
                <a:cs typeface="Segoe UI Semibold"/>
              </a:rPr>
            </a:br>
            <a:r>
              <a:rPr lang="en-US">
                <a:solidFill>
                  <a:srgbClr val="B740C5"/>
                </a:solidFill>
                <a:latin typeface="Segoe UI Semibold"/>
                <a:cs typeface="Segoe UI Semibold"/>
              </a:rPr>
              <a:t>Business Premium + Defender Suite</a:t>
            </a:r>
          </a:p>
        </p:txBody>
      </p:sp>
    </p:spTree>
    <p:extLst>
      <p:ext uri="{BB962C8B-B14F-4D97-AF65-F5344CB8AC3E}">
        <p14:creationId xmlns:p14="http://schemas.microsoft.com/office/powerpoint/2010/main" val="292299869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revision>1</cp:revision>
  <dcterms:created xsi:type="dcterms:W3CDTF">2026-03-24T15:15:07Z</dcterms:created>
  <dcterms:modified xsi:type="dcterms:W3CDTF">2026-07-06T15:07:46Z</dcterms:modified>
</cp:coreProperties>
</file>