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29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25481-0E3E-7E35-B1DA-F53D49099765}" v="22" dt="2026-07-06T15:22:04.98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75" d="100"/>
          <a:sy n="75" d="100"/>
        </p:scale>
        <p:origin x="1772" y="-848"/>
      </p:cViewPr>
      <p:guideLst>
        <p:guide orient="horz" pos="2517"/>
        <p:guide pos="1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E9F25481-0E3E-7E35-B1DA-F53D49099765}"/>
    <pc:docChg chg="modSld">
      <pc:chgData name="Seema Kapri" userId="S::seema.kapri@hsv.digital::3468d2f6-a5eb-4e01-882c-f62721c4c7bf" providerId="AD" clId="Web-{E9F25481-0E3E-7E35-B1DA-F53D49099765}" dt="2026-07-06T15:18:52.486" v="0"/>
      <pc:docMkLst>
        <pc:docMk/>
      </pc:docMkLst>
      <pc:sldChg chg="modSp">
        <pc:chgData name="Seema Kapri" userId="S::seema.kapri@hsv.digital::3468d2f6-a5eb-4e01-882c-f62721c4c7bf" providerId="AD" clId="Web-{E9F25481-0E3E-7E35-B1DA-F53D49099765}" dt="2026-07-06T15:18:52.486" v="0"/>
        <pc:sldMkLst>
          <pc:docMk/>
          <pc:sldMk cId="1830360411" sldId="2147470129"/>
        </pc:sldMkLst>
        <pc:graphicFrameChg chg="modGraphic">
          <ac:chgData name="Seema Kapri" userId="S::seema.kapri@hsv.digital::3468d2f6-a5eb-4e01-882c-f62721c4c7bf" providerId="AD" clId="Web-{E9F25481-0E3E-7E35-B1DA-F53D49099765}" dt="2026-07-06T15:18:52.486" v="0"/>
          <ac:graphicFrameMkLst>
            <pc:docMk/>
            <pc:sldMk cId="1830360411" sldId="2147470129"/>
            <ac:graphicFrameMk id="12" creationId="{B844A012-32C7-C437-EBC7-89823B838AE8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modSld">
      <pc:chgData name="Shreya Singh" userId="b354311e-5542-4a3b-80c7-af4347e0a1ac" providerId="ADAL" clId="{24CE2105-6015-495D-A54D-6F3B21ACCFC8}" dt="2026-07-01T09:57:50.471" v="27" actId="14100"/>
      <pc:docMkLst>
        <pc:docMk/>
      </pc:docMkLst>
      <pc:sldChg chg="modSp mod">
        <pc:chgData name="Shreya Singh" userId="b354311e-5542-4a3b-80c7-af4347e0a1ac" providerId="ADAL" clId="{24CE2105-6015-495D-A54D-6F3B21ACCFC8}" dt="2026-07-01T09:57:50.471" v="27" actId="14100"/>
        <pc:sldMkLst>
          <pc:docMk/>
          <pc:sldMk cId="1830360411" sldId="2147470129"/>
        </pc:sldMkLst>
        <pc:graphicFrameChg chg="mod modGraphic">
          <ac:chgData name="Shreya Singh" userId="b354311e-5542-4a3b-80c7-af4347e0a1ac" providerId="ADAL" clId="{24CE2105-6015-495D-A54D-6F3B21ACCFC8}" dt="2026-07-01T09:57:50.471" v="27" actId="14100"/>
          <ac:graphicFrameMkLst>
            <pc:docMk/>
            <pc:sldMk cId="1830360411" sldId="2147470129"/>
            <ac:graphicFrameMk id="12" creationId="{B844A012-32C7-C437-EBC7-89823B838AE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5B94-7254-B64C-EA7B-1C93678F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FCFC6-82FA-0164-A8DD-69AC1B01F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42F50-57BB-A401-D242-44FF3C29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B0A73-7982-EA4C-11CA-FF7E233ED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38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1D6DC-7F54-5C0C-BB3F-DCAECA583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1D802A91-D977-BEE1-C0B9-A5878CCB2D88}"/>
              </a:ext>
            </a:extLst>
          </p:cNvPr>
          <p:cNvSpPr>
            <a:spLocks/>
          </p:cNvSpPr>
          <p:nvPr/>
        </p:nvSpPr>
        <p:spPr bwMode="auto">
          <a:xfrm>
            <a:off x="377825" y="885947"/>
            <a:ext cx="4895850" cy="6873753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2CC90207-12FE-9661-44AE-AE5EE43851FF}"/>
              </a:ext>
            </a:extLst>
          </p:cNvPr>
          <p:cNvSpPr/>
          <p:nvPr/>
        </p:nvSpPr>
        <p:spPr bwMode="auto">
          <a:xfrm flipH="1">
            <a:off x="377818" y="885947"/>
            <a:ext cx="4895851" cy="469103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B844A012-32C7-C437-EBC7-89823B838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110850"/>
              </p:ext>
            </p:extLst>
          </p:nvPr>
        </p:nvGraphicFramePr>
        <p:xfrm>
          <a:off x="377826" y="885949"/>
          <a:ext cx="4895850" cy="665222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72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65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Incremental capabilities</a:t>
                      </a:r>
                    </a:p>
                  </a:txBody>
                  <a:tcPr marL="108000" marR="75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Business Premium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Purview Suite </a:t>
                      </a:r>
                      <a:br>
                        <a:rPr lang="en-US" sz="800" b="0" i="0" u="none" strike="noStrike" kern="1200" cap="none" spc="0" normalizeH="0" baseline="0" dirty="0">
                          <a:solidFill>
                            <a:srgbClr val="FFFFFF"/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</a:br>
                      <a:r>
                        <a:rPr lang="en-US" sz="8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for Business Premium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7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Address oversharing concerns</a:t>
                      </a:r>
                    </a:p>
                  </a:txBody>
                  <a:tcPr marL="7200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/>
                    </a:p>
                  </a:txBody>
                  <a:tcPr marL="72000" marR="0" marT="0" marB="0" anchor="ctr"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/>
                    </a:p>
                  </a:txBody>
                  <a:tcPr marL="72000" marR="0" marT="0" marB="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Identify potentially overshared sites and files across all of Microsoft 365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Sites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Sites and files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49225"/>
                  </a:ext>
                </a:extLst>
              </a:tr>
              <a:tr h="149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Create oversharing assessments targeted to specific Microsoft 365 locations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Restrict user and/or Copilot + Agent access to risky sites while remediating risks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Prevent Copilot + Agents from processing certain sensitive files and from using them in responses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991779"/>
                  </a:ext>
                </a:extLst>
              </a:tr>
              <a:tr h="1642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Receive and act on policy suggestions to mitigate your specific oversharing risks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3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latin typeface="Segoe UI"/>
                          <a:ea typeface="Calibri"/>
                          <a:cs typeface="Segoe UI"/>
                        </a:rPr>
                        <a:t>Remove organization-wide site access as needed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2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latin typeface="Segoe UI"/>
                          <a:ea typeface="Calibri"/>
                          <a:cs typeface="Segoe UI"/>
                        </a:rPr>
                        <a:t>Get notifications when new oversharing occurs with options for remediation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42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latin typeface="Segoe UI"/>
                          <a:ea typeface="Calibri"/>
                          <a:cs typeface="Segoe UI"/>
                        </a:rPr>
                        <a:t>Secure sensitive data through file level access controls and Data Loss Prevention policies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82563"/>
                  </a:ext>
                </a:extLst>
              </a:tr>
              <a:tr h="157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latin typeface="Segoe UI"/>
                          <a:ea typeface="Calibri"/>
                          <a:cs typeface="Segoe UI"/>
                        </a:rPr>
                        <a:t>Improve Copilot + Agent responses by archiving or deleting unneeded content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700826"/>
                  </a:ext>
                </a:extLst>
              </a:tr>
              <a:tr h="17837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Protect against data loss and insider risk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1005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View reports of sensitive data and unprotected files referenced in Copilot + Agent interactions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7080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Get alerted to risky AI use, such as an attempted prompt injection attack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04216"/>
                  </a:ext>
                </a:extLst>
              </a:tr>
              <a:tr h="242760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View prompt and response text and referenced files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IN" sz="650" kern="120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Via search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Via search </a:t>
                      </a:r>
                      <a:b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</a:b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and alerts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912513"/>
                  </a:ext>
                </a:extLst>
              </a:tr>
              <a:tr h="17136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Detect when content contains sensitive data and ask the user to manually apply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3380"/>
                  </a:ext>
                </a:extLst>
              </a:tr>
              <a:tr h="157080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Detect when content contains sensitive data and auto-apply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527937"/>
                  </a:ext>
                </a:extLst>
              </a:tr>
              <a:tr h="26656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Copilot + Agent response and Copilot + Agent created documents inherit sensitivity label and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24012"/>
                  </a:ext>
                </a:extLst>
              </a:tr>
              <a:tr h="16660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Block Copilot + Agent access to files with a specific sensitivity label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85489"/>
                  </a:ext>
                </a:extLst>
              </a:tr>
              <a:tr h="16660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Protect files even if they are moved or downloaded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017648"/>
                  </a:ext>
                </a:extLst>
              </a:tr>
              <a:tr h="17136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Get alerted to risky user actions that deviate from their usual pattern of behavior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92232"/>
                  </a:ext>
                </a:extLst>
              </a:tr>
              <a:tr h="166599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Correlate and sequence risk alerts to identify high severity risk patterns for a user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34814"/>
                  </a:ext>
                </a:extLst>
              </a:tr>
              <a:tr h="17136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Automatically add a user to more strict security policies based on their risk patterns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22731"/>
                  </a:ext>
                </a:extLst>
              </a:tr>
              <a:tr h="17136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DLP for Copilot Prompts — blocks Copilot from processing sensitive data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547765"/>
                  </a:ext>
                </a:extLst>
              </a:tr>
              <a:tr h="17136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 Security Posture Management for AI (DSPM for AI)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457444"/>
                  </a:ext>
                </a:extLst>
              </a:tr>
              <a:tr h="171361"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AI data security and compliance (DLP, DSPM, Insider Risk)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999454"/>
                  </a:ext>
                </a:extLst>
              </a:tr>
              <a:tr h="17837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Govern AI use to meet regulations and policies, Copilot Chat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4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Audit Copilot + Agent interactions to access detailed log information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5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Enforce retention and deletion policies for Copilot + Agent interactions and meeting recordings + transcripts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2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Include a user’s Copilot + Agent prompts and responses in a legal hold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7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Receive an alert if a possible compliance or ethical violation occurs and start an investigation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90570"/>
                  </a:ext>
                </a:extLst>
              </a:tr>
              <a:tr h="266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Perform an admin search for litigation or an investigation and include Copilot + Agent generated content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758097"/>
                  </a:ext>
                </a:extLst>
              </a:tr>
              <a:tr h="161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charset="0"/>
                          <a:cs typeface="Segoe UI" panose="020B0502040204020203" pitchFamily="34" charset="0"/>
                        </a:rPr>
                        <a:t>Assess and track adherence to regulatory frameworks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175670"/>
                  </a:ext>
                </a:extLst>
              </a:tr>
              <a:tr h="161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348361"/>
                  </a:ext>
                </a:extLst>
              </a:tr>
              <a:tr h="161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556768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BAD6DA4F-AE35-E3D4-59C9-13D699AC54F1}"/>
              </a:ext>
            </a:extLst>
          </p:cNvPr>
          <p:cNvSpPr/>
          <p:nvPr/>
        </p:nvSpPr>
        <p:spPr>
          <a:xfrm>
            <a:off x="377826" y="281945"/>
            <a:ext cx="4895850" cy="469103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  <a:t>Business Premium vs </a:t>
            </a:r>
            <a:b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</a:br>
            <a: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  <a:t>Business Premium + Purview Suite</a:t>
            </a:r>
          </a:p>
        </p:txBody>
      </p:sp>
    </p:spTree>
    <p:extLst>
      <p:ext uri="{BB962C8B-B14F-4D97-AF65-F5344CB8AC3E}">
        <p14:creationId xmlns:p14="http://schemas.microsoft.com/office/powerpoint/2010/main" val="183036041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488</Words>
  <Application>Microsoft Office PowerPoint</Application>
  <PresentationFormat>Custom</PresentationFormat>
  <Paragraphs>89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6</cp:revision>
  <dcterms:created xsi:type="dcterms:W3CDTF">2026-03-24T15:15:07Z</dcterms:created>
  <dcterms:modified xsi:type="dcterms:W3CDTF">2026-07-06T15:22:05Z</dcterms:modified>
</cp:coreProperties>
</file>