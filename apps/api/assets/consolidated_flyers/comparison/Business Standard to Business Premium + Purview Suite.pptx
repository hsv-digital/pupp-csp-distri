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147470126" r:id="rId2"/>
  </p:sldIdLst>
  <p:sldSz cx="5651500" cy="7991475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17" userDrawn="1">
          <p15:clr>
            <a:srgbClr val="A4A3A4"/>
          </p15:clr>
        </p15:guide>
        <p15:guide id="2" pos="17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40C5"/>
    <a:srgbClr val="EDD1EC"/>
    <a:srgbClr val="8A226F"/>
    <a:srgbClr val="F2E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EE68F3-822B-1472-C5BD-7652F261525E}" v="1" dt="2026-07-06T15:19:10.41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400" d="100"/>
          <a:sy n="400" d="100"/>
        </p:scale>
        <p:origin x="-4012" y="-17392"/>
      </p:cViewPr>
      <p:guideLst>
        <p:guide orient="horz" pos="2517"/>
        <p:guide pos="17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ema Kapri" userId="S::seema.kapri@hsv.digital::3468d2f6-a5eb-4e01-882c-f62721c4c7bf" providerId="AD" clId="Web-{6EEE68F3-822B-1472-C5BD-7652F261525E}"/>
    <pc:docChg chg="modSld">
      <pc:chgData name="Seema Kapri" userId="S::seema.kapri@hsv.digital::3468d2f6-a5eb-4e01-882c-f62721c4c7bf" providerId="AD" clId="Web-{6EEE68F3-822B-1472-C5BD-7652F261525E}" dt="2026-07-06T15:19:10.410" v="0"/>
      <pc:docMkLst>
        <pc:docMk/>
      </pc:docMkLst>
      <pc:sldChg chg="modSp">
        <pc:chgData name="Seema Kapri" userId="S::seema.kapri@hsv.digital::3468d2f6-a5eb-4e01-882c-f62721c4c7bf" providerId="AD" clId="Web-{6EEE68F3-822B-1472-C5BD-7652F261525E}" dt="2026-07-06T15:19:10.410" v="0"/>
        <pc:sldMkLst>
          <pc:docMk/>
          <pc:sldMk cId="2066579910" sldId="2147470126"/>
        </pc:sldMkLst>
        <pc:graphicFrameChg chg="modGraphic">
          <ac:chgData name="Seema Kapri" userId="S::seema.kapri@hsv.digital::3468d2f6-a5eb-4e01-882c-f62721c4c7bf" providerId="AD" clId="Web-{6EEE68F3-822B-1472-C5BD-7652F261525E}" dt="2026-07-06T15:19:10.410" v="0"/>
          <ac:graphicFrameMkLst>
            <pc:docMk/>
            <pc:sldMk cId="2066579910" sldId="2147470126"/>
            <ac:graphicFrameMk id="12" creationId="{EDC20D37-EC6D-DE3E-AA02-02630D78F503}"/>
          </ac:graphicFrameMkLst>
        </pc:graphicFrameChg>
      </pc:sldChg>
    </pc:docChg>
  </pc:docChgLst>
  <pc:docChgLst>
    <pc:chgData name="Shreya Singh" userId="b354311e-5542-4a3b-80c7-af4347e0a1ac" providerId="ADAL" clId="{24CE2105-6015-495D-A54D-6F3B21ACCFC8}"/>
    <pc:docChg chg="modSld">
      <pc:chgData name="Shreya Singh" userId="b354311e-5542-4a3b-80c7-af4347e0a1ac" providerId="ADAL" clId="{24CE2105-6015-495D-A54D-6F3B21ACCFC8}" dt="2026-07-01T09:54:24.087" v="28" actId="14100"/>
      <pc:docMkLst>
        <pc:docMk/>
      </pc:docMkLst>
      <pc:sldChg chg="modSp mod">
        <pc:chgData name="Shreya Singh" userId="b354311e-5542-4a3b-80c7-af4347e0a1ac" providerId="ADAL" clId="{24CE2105-6015-495D-A54D-6F3B21ACCFC8}" dt="2026-07-01T09:54:24.087" v="28" actId="14100"/>
        <pc:sldMkLst>
          <pc:docMk/>
          <pc:sldMk cId="2066579910" sldId="2147470126"/>
        </pc:sldMkLst>
        <pc:spChg chg="mod">
          <ac:chgData name="Shreya Singh" userId="b354311e-5542-4a3b-80c7-af4347e0a1ac" providerId="ADAL" clId="{24CE2105-6015-495D-A54D-6F3B21ACCFC8}" dt="2026-07-01T09:54:24.087" v="28" actId="14100"/>
          <ac:spMkLst>
            <pc:docMk/>
            <pc:sldMk cId="2066579910" sldId="2147470126"/>
            <ac:spMk id="4" creationId="{03148DF1-777A-D227-F6B5-23E701222BF0}"/>
          </ac:spMkLst>
        </pc:spChg>
        <pc:graphicFrameChg chg="mod modGraphic">
          <ac:chgData name="Shreya Singh" userId="b354311e-5542-4a3b-80c7-af4347e0a1ac" providerId="ADAL" clId="{24CE2105-6015-495D-A54D-6F3B21ACCFC8}" dt="2026-07-01T09:54:04.447" v="26" actId="14734"/>
          <ac:graphicFrameMkLst>
            <pc:docMk/>
            <pc:sldMk cId="2066579910" sldId="2147470126"/>
            <ac:graphicFrameMk id="12" creationId="{EDC20D37-EC6D-DE3E-AA02-02630D78F50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A0BA04-CCF9-4555-86FF-FAF42E81E4A2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52850" y="857250"/>
            <a:ext cx="16383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4A72A-6E2F-4343-B7FF-0EAC6B5BD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562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563EF-ABEB-4A55-1BDA-B0F75E119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146676-9874-DFED-A12F-A3E367CDBF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4FCB86-B2CF-B98B-726E-1FD2E97B5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A5DB9-696B-F07C-E512-CB67CB0815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72A-6E2F-4343-B7FF-0EAC6B5BD07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331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3863" y="1307866"/>
            <a:ext cx="4803775" cy="2782217"/>
          </a:xfrm>
        </p:spPr>
        <p:txBody>
          <a:bodyPr anchor="b"/>
          <a:lstStyle>
            <a:lvl1pPr algn="ctr">
              <a:defRPr sz="370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6438" y="4197375"/>
            <a:ext cx="4238625" cy="1929423"/>
          </a:xfrm>
        </p:spPr>
        <p:txBody>
          <a:bodyPr/>
          <a:lstStyle>
            <a:lvl1pPr marL="0" indent="0" algn="ctr">
              <a:buNone/>
              <a:defRPr sz="1483"/>
            </a:lvl1pPr>
            <a:lvl2pPr marL="282566" indent="0" algn="ctr">
              <a:buNone/>
              <a:defRPr sz="1236"/>
            </a:lvl2pPr>
            <a:lvl3pPr marL="565131" indent="0" algn="ctr">
              <a:buNone/>
              <a:defRPr sz="1112"/>
            </a:lvl3pPr>
            <a:lvl4pPr marL="847697" indent="0" algn="ctr">
              <a:buNone/>
              <a:defRPr sz="989"/>
            </a:lvl4pPr>
            <a:lvl5pPr marL="1130262" indent="0" algn="ctr">
              <a:buNone/>
              <a:defRPr sz="989"/>
            </a:lvl5pPr>
            <a:lvl6pPr marL="1412828" indent="0" algn="ctr">
              <a:buNone/>
              <a:defRPr sz="989"/>
            </a:lvl6pPr>
            <a:lvl7pPr marL="1695394" indent="0" algn="ctr">
              <a:buNone/>
              <a:defRPr sz="989"/>
            </a:lvl7pPr>
            <a:lvl8pPr marL="1977959" indent="0" algn="ctr">
              <a:buNone/>
              <a:defRPr sz="989"/>
            </a:lvl8pPr>
            <a:lvl9pPr marL="2260525" indent="0" algn="ctr">
              <a:buNone/>
              <a:defRPr sz="98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75733-6F7F-4117-9D24-6C952A0F31DE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8">
          <p15:clr>
            <a:srgbClr val="FBAE40"/>
          </p15:clr>
        </p15:guide>
        <p15:guide id="2" pos="24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8541" y="425474"/>
            <a:ext cx="4874419" cy="1544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541" y="2127361"/>
            <a:ext cx="4874419" cy="5070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8541" y="7406916"/>
            <a:ext cx="1271588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475733-6F7F-4117-9D24-6C952A0F31DE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72060" y="7406916"/>
            <a:ext cx="1907381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372" y="7406916"/>
            <a:ext cx="1271588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30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565131" rtl="0" eaLnBrk="1" latinLnBrk="0" hangingPunct="1">
        <a:lnSpc>
          <a:spcPct val="90000"/>
        </a:lnSpc>
        <a:spcBef>
          <a:spcPct val="0"/>
        </a:spcBef>
        <a:buNone/>
        <a:defRPr sz="27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283" indent="-141283" algn="l" defTabSz="565131" rtl="0" eaLnBrk="1" latinLnBrk="0" hangingPunct="1">
        <a:lnSpc>
          <a:spcPct val="90000"/>
        </a:lnSpc>
        <a:spcBef>
          <a:spcPts val="618"/>
        </a:spcBef>
        <a:buFont typeface="Arial" panose="020B0604020202020204" pitchFamily="34" charset="0"/>
        <a:buChar char="•"/>
        <a:defRPr sz="1730" kern="1200">
          <a:solidFill>
            <a:schemeClr val="tx1"/>
          </a:solidFill>
          <a:latin typeface="+mn-lt"/>
          <a:ea typeface="+mn-ea"/>
          <a:cs typeface="+mn-cs"/>
        </a:defRPr>
      </a:lvl1pPr>
      <a:lvl2pPr marL="423848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483" kern="1200">
          <a:solidFill>
            <a:schemeClr val="tx1"/>
          </a:solidFill>
          <a:latin typeface="+mn-lt"/>
          <a:ea typeface="+mn-ea"/>
          <a:cs typeface="+mn-cs"/>
        </a:defRPr>
      </a:lvl2pPr>
      <a:lvl3pPr marL="706414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236" kern="1200">
          <a:solidFill>
            <a:schemeClr val="tx1"/>
          </a:solidFill>
          <a:latin typeface="+mn-lt"/>
          <a:ea typeface="+mn-ea"/>
          <a:cs typeface="+mn-cs"/>
        </a:defRPr>
      </a:lvl3pPr>
      <a:lvl4pPr marL="988980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271545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1554111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6pPr>
      <a:lvl7pPr marL="1836676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7pPr>
      <a:lvl8pPr marL="2119242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8pPr>
      <a:lvl9pPr marL="2401808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1pPr>
      <a:lvl2pPr marL="282566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2pPr>
      <a:lvl3pPr marL="565131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3pPr>
      <a:lvl4pPr marL="847697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130262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1412828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6pPr>
      <a:lvl7pPr marL="1695394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7pPr>
      <a:lvl8pPr marL="1977959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8pPr>
      <a:lvl9pPr marL="2260525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785" userDrawn="1">
          <p15:clr>
            <a:srgbClr val="F26B43"/>
          </p15:clr>
        </p15:guide>
        <p15:guide id="2" pos="238" userDrawn="1">
          <p15:clr>
            <a:srgbClr val="F26B43"/>
          </p15:clr>
        </p15:guide>
        <p15:guide id="3" pos="3322" userDrawn="1">
          <p15:clr>
            <a:srgbClr val="F26B43"/>
          </p15:clr>
        </p15:guide>
        <p15:guide id="4" orient="horz" pos="249" userDrawn="1">
          <p15:clr>
            <a:srgbClr val="F26B43"/>
          </p15:clr>
        </p15:guide>
        <p15:guide id="5" orient="horz" pos="6094">
          <p15:clr>
            <a:srgbClr val="F26B43"/>
          </p15:clr>
        </p15:guide>
        <p15:guide id="6" pos="2448">
          <p15:clr>
            <a:srgbClr val="F26B43"/>
          </p15:clr>
        </p15:guide>
        <p15:guide id="7" orient="horz" pos="105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5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9BBB6F-4D9E-CF5E-B53D-91E5C1262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53">
            <a:extLst>
              <a:ext uri="{FF2B5EF4-FFF2-40B4-BE49-F238E27FC236}">
                <a16:creationId xmlns:a16="http://schemas.microsoft.com/office/drawing/2014/main" id="{03148DF1-777A-D227-F6B5-23E701222BF0}"/>
              </a:ext>
            </a:extLst>
          </p:cNvPr>
          <p:cNvSpPr>
            <a:spLocks/>
          </p:cNvSpPr>
          <p:nvPr/>
        </p:nvSpPr>
        <p:spPr bwMode="auto">
          <a:xfrm>
            <a:off x="377825" y="885947"/>
            <a:ext cx="4895850" cy="6783266"/>
          </a:xfrm>
          <a:prstGeom prst="roundRect">
            <a:avLst>
              <a:gd name="adj" fmla="val 1963"/>
            </a:avLst>
          </a:prstGeom>
          <a:solidFill>
            <a:srgbClr val="FFFFFF">
              <a:alpha val="80000"/>
            </a:srgbClr>
          </a:solidFill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txBody>
          <a:bodyPr rot="0" spcFirstLastPara="0" vert="horz" wrap="square" lIns="132875" tIns="106300" rIns="132875" bIns="1063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751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3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6DD84013-E694-D9ED-FD02-7EA08E49D089}"/>
              </a:ext>
            </a:extLst>
          </p:cNvPr>
          <p:cNvSpPr/>
          <p:nvPr/>
        </p:nvSpPr>
        <p:spPr bwMode="auto">
          <a:xfrm flipH="1">
            <a:off x="377815" y="885947"/>
            <a:ext cx="4895851" cy="436441"/>
          </a:xfrm>
          <a:prstGeom prst="round2SameRect">
            <a:avLst>
              <a:gd name="adj1" fmla="val 16174"/>
              <a:gd name="adj2" fmla="val 0"/>
            </a:avLst>
          </a:prstGeom>
          <a:solidFill>
            <a:srgbClr val="8A226F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/>
          <a:p>
            <a:pPr marL="0" marR="0" lvl="0" indent="0" algn="ctr" defTabSz="92938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196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Segoe UI Semibold" panose="020B0502040204020203" pitchFamily="34" charset="0"/>
            </a:endParaRPr>
          </a:p>
        </p:txBody>
      </p:sp>
      <p:graphicFrame>
        <p:nvGraphicFramePr>
          <p:cNvPr id="12" name="Table 0">
            <a:extLst>
              <a:ext uri="{FF2B5EF4-FFF2-40B4-BE49-F238E27FC236}">
                <a16:creationId xmlns:a16="http://schemas.microsoft.com/office/drawing/2014/main" id="{EDC20D37-EC6D-DE3E-AA02-02630D78F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458559"/>
              </p:ext>
            </p:extLst>
          </p:nvPr>
        </p:nvGraphicFramePr>
        <p:xfrm>
          <a:off x="377826" y="885945"/>
          <a:ext cx="4895850" cy="6558560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3521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9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Segoe UI Semibold" panose="020B0502040204020203" pitchFamily="34" charset="0"/>
                          <a:cs typeface="Segoe UI Semibold" panose="020B0702040204020203" pitchFamily="34" charset="0"/>
                        </a:rPr>
                        <a:t>Incremental data security and compliance capabilities for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Segoe UI Semibold" panose="020B0502040204020203" pitchFamily="34" charset="0"/>
                          <a:cs typeface="Segoe UI Semibold" panose="020B0702040204020203" pitchFamily="34" charset="0"/>
                        </a:rPr>
                        <a:t>Business Standard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Segoe UI Semibold" panose="020B0502040204020203" pitchFamily="34" charset="0"/>
                          <a:cs typeface="Segoe UI Semibold" panose="020B0702040204020203" pitchFamily="34" charset="0"/>
                        </a:rPr>
                        <a:t>Purview Suite for Business Premium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40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Address oversharing concerns</a:t>
                      </a:r>
                    </a:p>
                  </a:txBody>
                  <a:tcPr marL="72000" marR="0" marT="0" marB="0" anchor="ctr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/>
                    </a:p>
                  </a:txBody>
                  <a:tcPr marL="72000" marR="0" marT="0" marB="0" anchor="ctr"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 dirty="0"/>
                    </a:p>
                  </a:txBody>
                  <a:tcPr marL="72000" marR="0" marT="0" marB="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Identify potentially overshared sites and files across all of Microsoft 365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Sites</a:t>
                      </a: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Sites and files</a:t>
                      </a: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949225"/>
                  </a:ext>
                </a:extLst>
              </a:tr>
              <a:tr h="1385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Create oversharing assessments targeted to specific Microsoft 365 locations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6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Restrict user and/or Copilot + Agent access to risky sites while remediating risks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Prevent Copilot + Agents from processing certain sensitive files and from using them in responses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991779"/>
                  </a:ext>
                </a:extLst>
              </a:tr>
              <a:tr h="148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Receive and act on policy suggestions to mitigate your specific oversharing risks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charset="0"/>
                          <a:cs typeface="Segoe UI" panose="020B0502040204020203" pitchFamily="34" charset="0"/>
                        </a:rPr>
                        <a:t>Remove organization-wide site access as needed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kern="1200" noProof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kern="1200" noProof="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3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charset="0"/>
                          <a:cs typeface="Segoe UI" panose="020B0502040204020203" pitchFamily="34" charset="0"/>
                        </a:rPr>
                        <a:t>Get notifications when new oversharing occurs with options for remediation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69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charset="0"/>
                          <a:cs typeface="Segoe UI" panose="020B0502040204020203" pitchFamily="34" charset="0"/>
                        </a:rPr>
                        <a:t>Secure sensitive data through file level access controls and Data Loss Prevention policies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kern="1200" noProof="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982563"/>
                  </a:ext>
                </a:extLst>
              </a:tr>
              <a:tr h="1793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charset="0"/>
                          <a:cs typeface="Segoe UI" panose="020B0502040204020203" pitchFamily="34" charset="0"/>
                        </a:rPr>
                        <a:t>Improve Copilot + Agent responses by archiving or deleting unneeded content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kern="1200" noProof="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Sites</a:t>
                      </a: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kern="1200" noProof="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Sites and files</a:t>
                      </a: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700826"/>
                  </a:ext>
                </a:extLst>
              </a:tr>
              <a:tr h="16153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Protect against data loss and insider risk</a:t>
                      </a: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034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View reports of sensitive data and unprotected files referenced in Copilot + Agent interactions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7415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Get alerted to risky AI use, such as an attempted prompt injection attack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04216"/>
                  </a:ext>
                </a:extLst>
              </a:tr>
              <a:tr h="242523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View prompt and response text and referenced files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Via search and alerts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912513"/>
                  </a:ext>
                </a:extLst>
              </a:tr>
              <a:tr h="161682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Detect when content contains sensitive data and ask the user to manually apply protections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3380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Detect when content contains sensitive data and auto-apply protections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527937"/>
                  </a:ext>
                </a:extLst>
              </a:tr>
              <a:tr h="271054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Copilot + Agent response and Copilot + Agent created documents inherit sensitivity label and protections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noProof="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24012"/>
                  </a:ext>
                </a:extLst>
              </a:tr>
              <a:tr h="147415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Block Copilot + Agent access to files with a specific sensitivity label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noProof="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985489"/>
                  </a:ext>
                </a:extLst>
              </a:tr>
              <a:tr h="156927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Protect files even if they are moved or downloaded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noProof="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017648"/>
                  </a:ext>
                </a:extLst>
              </a:tr>
              <a:tr h="166438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Get alerted to risky user actions that deviate from their usual pattern of behavior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noProof="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392232"/>
                  </a:ext>
                </a:extLst>
              </a:tr>
              <a:tr h="171192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Correlate and sequence risk alerts to identify high severity risk patterns for a user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noProof="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534814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Automatically add a user to more strict security policies based on their risk patterns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noProof="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522731"/>
                  </a:ext>
                </a:extLst>
              </a:tr>
              <a:tr h="161681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Purview DLP for Copilot Prompts — blocks Copilot from processing sensitive data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360809"/>
                  </a:ext>
                </a:extLst>
              </a:tr>
              <a:tr h="161681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Data Security Posture Management for AI (DSPM for AI)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917943"/>
                  </a:ext>
                </a:extLst>
              </a:tr>
              <a:tr h="161681">
                <a:tc>
                  <a:txBody>
                    <a:bodyPr/>
                    <a:lstStyle/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Purview AI data security and compliance (DLP, DSPM, Insider Risk)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275625"/>
                  </a:ext>
                </a:extLst>
              </a:tr>
              <a:tr h="152170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Govern AI use to meet regulations and policies, Copilot Chat</a:t>
                      </a: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6927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Audit Copilot + Agent interactions to access detailed log information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61544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Enforce retention and deletion policies for Copilot + Agent interactions and meeting recordings + transcripts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6927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Include a user’s Copilot + Agent prompts and responses in a legal hold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28257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Receive an alert if a possible compliance or ethical violation occurs and start an investigation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90570"/>
                  </a:ext>
                </a:extLst>
              </a:tr>
              <a:tr h="242523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Perform an admin search for litigation or an investigation and include Copilot + Agent generated content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noProof="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758097"/>
                  </a:ext>
                </a:extLst>
              </a:tr>
              <a:tr h="156927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Assess and track adherence to regulatory frameworks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175670"/>
                  </a:ext>
                </a:extLst>
              </a:tr>
              <a:tr h="2242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Copilot Chat enhancements — inbox &amp; calendar awareness + Word/Excel/PowerPoint agents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807667"/>
                  </a:ext>
                </a:extLst>
              </a:tr>
              <a:tr h="156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Copilot Chat Analytics — admin reporting on adoption and usage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604295"/>
                  </a:ext>
                </a:extLst>
              </a:tr>
            </a:tbl>
          </a:graphicData>
        </a:graphic>
      </p:graphicFrame>
      <p:sp>
        <p:nvSpPr>
          <p:cNvPr id="7" name="Incremental capabilities from Current SKU to Target SKU">
            <a:extLst>
              <a:ext uri="{FF2B5EF4-FFF2-40B4-BE49-F238E27FC236}">
                <a16:creationId xmlns:a16="http://schemas.microsoft.com/office/drawing/2014/main" id="{1EDCBB6D-F473-4127-8E11-431804803ADF}"/>
              </a:ext>
            </a:extLst>
          </p:cNvPr>
          <p:cNvSpPr/>
          <p:nvPr/>
        </p:nvSpPr>
        <p:spPr>
          <a:xfrm>
            <a:off x="377826" y="281945"/>
            <a:ext cx="4895850" cy="47089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defTabSz="910968">
              <a:lnSpc>
                <a:spcPct val="85000"/>
              </a:lnSpc>
              <a:defRPr/>
            </a:pPr>
            <a:r>
              <a:rPr lang="en-US" dirty="0">
                <a:solidFill>
                  <a:srgbClr val="B740C5"/>
                </a:solidFill>
                <a:latin typeface="Segoe UI Semibold"/>
                <a:cs typeface="Segoe UI Semibold"/>
              </a:rPr>
              <a:t>Business Standard vs </a:t>
            </a:r>
            <a:br>
              <a:rPr lang="en-US" dirty="0">
                <a:solidFill>
                  <a:srgbClr val="B740C5"/>
                </a:solidFill>
                <a:latin typeface="Segoe UI Semibold"/>
                <a:cs typeface="Segoe UI Semibold"/>
              </a:rPr>
            </a:br>
            <a:r>
              <a:rPr lang="en-US" dirty="0">
                <a:solidFill>
                  <a:srgbClr val="B740C5"/>
                </a:solidFill>
                <a:latin typeface="Segoe UI Semibold"/>
                <a:cs typeface="Segoe UI Semibold"/>
              </a:rPr>
              <a:t>Business Premium + Purview Suite</a:t>
            </a:r>
          </a:p>
        </p:txBody>
      </p:sp>
    </p:spTree>
    <p:extLst>
      <p:ext uri="{BB962C8B-B14F-4D97-AF65-F5344CB8AC3E}">
        <p14:creationId xmlns:p14="http://schemas.microsoft.com/office/powerpoint/2010/main" val="2066579910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483</Words>
  <Application>Microsoft Office PowerPoint</Application>
  <PresentationFormat>Custom</PresentationFormat>
  <Paragraphs>79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2_Office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Seema Kapari</dc:creator>
  <cp:lastModifiedBy>Shreya Singh</cp:lastModifiedBy>
  <cp:revision>5</cp:revision>
  <dcterms:created xsi:type="dcterms:W3CDTF">2026-03-24T15:15:07Z</dcterms:created>
  <dcterms:modified xsi:type="dcterms:W3CDTF">2026-07-06T15:22:04Z</dcterms:modified>
</cp:coreProperties>
</file>