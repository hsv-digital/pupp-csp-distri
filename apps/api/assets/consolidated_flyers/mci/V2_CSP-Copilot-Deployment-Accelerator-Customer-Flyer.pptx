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147470051" r:id="rId2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6 scenario" id="{65DC1BD4-C832-453B-B761-A584D004BC54}">
          <p14:sldIdLst>
            <p14:sldId id="21474700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58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C03BC4"/>
    <a:srgbClr val="F2E5DE"/>
    <a:srgbClr val="0078D4"/>
    <a:srgbClr val="B740C5"/>
    <a:srgbClr val="0F6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698" y="43"/>
      </p:cViewPr>
      <p:guideLst>
        <p:guide orient="horz" pos="2458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vika Abdulla" userId="377c5ba8-b904-4b9f-a957-4ff6d2e9489b" providerId="ADAL" clId="{0DC57CA2-0E12-4681-B9B7-33FD8D5B5E5D}"/>
    <pc:docChg chg="undo custSel modSld">
      <pc:chgData name="Rashvika Abdulla" userId="377c5ba8-b904-4b9f-a957-4ff6d2e9489b" providerId="ADAL" clId="{0DC57CA2-0E12-4681-B9B7-33FD8D5B5E5D}" dt="2026-07-06T13:58:32.789" v="27" actId="1035"/>
      <pc:docMkLst>
        <pc:docMk/>
      </pc:docMkLst>
      <pc:sldChg chg="modSp mod">
        <pc:chgData name="Rashvika Abdulla" userId="377c5ba8-b904-4b9f-a957-4ff6d2e9489b" providerId="ADAL" clId="{0DC57CA2-0E12-4681-B9B7-33FD8D5B5E5D}" dt="2026-07-06T13:58:32.789" v="27" actId="1035"/>
        <pc:sldMkLst>
          <pc:docMk/>
          <pc:sldMk cId="0" sldId="2147470051"/>
        </pc:sldMkLst>
        <pc:spChg chg="mod">
          <ac:chgData name="Rashvika Abdulla" userId="377c5ba8-b904-4b9f-a957-4ff6d2e9489b" providerId="ADAL" clId="{0DC57CA2-0E12-4681-B9B7-33FD8D5B5E5D}" dt="2026-07-06T13:56:17.289" v="1"/>
          <ac:spMkLst>
            <pc:docMk/>
            <pc:sldMk cId="0" sldId="2147470051"/>
            <ac:spMk id="4" creationId="{DF858B90-5458-E56F-2B96-5B67630FD1D9}"/>
          </ac:spMkLst>
        </pc:spChg>
        <pc:spChg chg="mod">
          <ac:chgData name="Rashvika Abdulla" userId="377c5ba8-b904-4b9f-a957-4ff6d2e9489b" providerId="ADAL" clId="{0DC57CA2-0E12-4681-B9B7-33FD8D5B5E5D}" dt="2026-07-06T13:56:02.931" v="0"/>
          <ac:spMkLst>
            <pc:docMk/>
            <pc:sldMk cId="0" sldId="2147470051"/>
            <ac:spMk id="5" creationId="{4979E832-4316-7486-85D4-F98F422B35BD}"/>
          </ac:spMkLst>
        </pc:spChg>
        <pc:spChg chg="mod">
          <ac:chgData name="Rashvika Abdulla" userId="377c5ba8-b904-4b9f-a957-4ff6d2e9489b" providerId="ADAL" clId="{0DC57CA2-0E12-4681-B9B7-33FD8D5B5E5D}" dt="2026-07-06T13:56:32.665" v="3"/>
          <ac:spMkLst>
            <pc:docMk/>
            <pc:sldMk cId="0" sldId="2147470051"/>
            <ac:spMk id="1384" creationId="{5AB4649A-C2EF-B775-C04D-C44E8AE34323}"/>
          </ac:spMkLst>
        </pc:spChg>
        <pc:spChg chg="mod">
          <ac:chgData name="Rashvika Abdulla" userId="377c5ba8-b904-4b9f-a957-4ff6d2e9489b" providerId="ADAL" clId="{0DC57CA2-0E12-4681-B9B7-33FD8D5B5E5D}" dt="2026-07-06T13:56:55.224" v="6"/>
          <ac:spMkLst>
            <pc:docMk/>
            <pc:sldMk cId="0" sldId="2147470051"/>
            <ac:spMk id="1385" creationId="{99679035-9319-4E81-830B-F45D2A66FA96}"/>
          </ac:spMkLst>
        </pc:spChg>
        <pc:spChg chg="mod">
          <ac:chgData name="Rashvika Abdulla" userId="377c5ba8-b904-4b9f-a957-4ff6d2e9489b" providerId="ADAL" clId="{0DC57CA2-0E12-4681-B9B7-33FD8D5B5E5D}" dt="2026-07-06T13:57:02.980" v="7"/>
          <ac:spMkLst>
            <pc:docMk/>
            <pc:sldMk cId="0" sldId="2147470051"/>
            <ac:spMk id="1386" creationId="{07BC2FE8-C700-0F2D-A041-C7505E0F0F8E}"/>
          </ac:spMkLst>
        </pc:spChg>
        <pc:spChg chg="mod">
          <ac:chgData name="Rashvika Abdulla" userId="377c5ba8-b904-4b9f-a957-4ff6d2e9489b" providerId="ADAL" clId="{0DC57CA2-0E12-4681-B9B7-33FD8D5B5E5D}" dt="2026-07-06T13:57:24.456" v="10" actId="14100"/>
          <ac:spMkLst>
            <pc:docMk/>
            <pc:sldMk cId="0" sldId="2147470051"/>
            <ac:spMk id="1387" creationId="{BF1C2AA5-1D72-EDF9-E635-77191F7D9913}"/>
          </ac:spMkLst>
        </pc:spChg>
        <pc:spChg chg="mod">
          <ac:chgData name="Rashvika Abdulla" userId="377c5ba8-b904-4b9f-a957-4ff6d2e9489b" providerId="ADAL" clId="{0DC57CA2-0E12-4681-B9B7-33FD8D5B5E5D}" dt="2026-07-06T13:56:22.203" v="2"/>
          <ac:spMkLst>
            <pc:docMk/>
            <pc:sldMk cId="0" sldId="2147470051"/>
            <ac:spMk id="1496" creationId="{FD7406BE-217E-F3CE-365B-10855873F00D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18" creationId="{1AFB695B-19E3-6B23-A767-B7D925AEA552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27" creationId="{C4946514-9AFE-30E6-3D84-7324A721A038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28" creationId="{68021260-3B96-EF76-D1E5-6CF112B08EB6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30" creationId="{A79F7794-8AC1-E9AB-DF09-4BE78694252C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31" creationId="{DA5A39D6-5130-4351-5E21-384697B674CC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32" creationId="{7F0C6F55-F17B-8474-3D39-831966D13761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33" creationId="{D2F2E134-F404-0B65-4699-6D6C55A75368}"/>
          </ac:spMkLst>
        </pc:spChg>
        <pc:spChg chg="mod">
          <ac:chgData name="Rashvika Abdulla" userId="377c5ba8-b904-4b9f-a957-4ff6d2e9489b" providerId="ADAL" clId="{0DC57CA2-0E12-4681-B9B7-33FD8D5B5E5D}" dt="2026-07-06T13:58:32.789" v="27" actId="1035"/>
          <ac:spMkLst>
            <pc:docMk/>
            <pc:sldMk cId="0" sldId="2147470051"/>
            <ac:spMk id="1534" creationId="{367FA250-836A-3C9C-2AC5-E19122C87957}"/>
          </ac:spMkLst>
        </pc:spChg>
        <pc:spChg chg="mod">
          <ac:chgData name="Rashvika Abdulla" userId="377c5ba8-b904-4b9f-a957-4ff6d2e9489b" providerId="ADAL" clId="{0DC57CA2-0E12-4681-B9B7-33FD8D5B5E5D}" dt="2026-07-06T13:58:06.119" v="15"/>
          <ac:spMkLst>
            <pc:docMk/>
            <pc:sldMk cId="0" sldId="2147470051"/>
            <ac:spMk id="1536" creationId="{7636C491-1D63-2F74-E3FD-99CA3804A4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5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53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785" userDrawn="1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4885" userDrawn="1">
          <p15:clr>
            <a:srgbClr val="C35EA4"/>
          </p15:clr>
        </p15:guide>
        <p15:guide id="27" orient="horz" pos="167" userDrawn="1">
          <p15:clr>
            <a:srgbClr val="A4A3A4"/>
          </p15:clr>
        </p15:guide>
        <p15:guide id="28" pos="175" userDrawn="1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33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Rectangle: Rounded Corners 1392">
            <a:extLst>
              <a:ext uri="{FF2B5EF4-FFF2-40B4-BE49-F238E27FC236}">
                <a16:creationId xmlns:a16="http://schemas.microsoft.com/office/drawing/2014/main" id="{A5F6DF20-F9AF-0D61-D2DF-91486A21A072}"/>
              </a:ext>
            </a:extLst>
          </p:cNvPr>
          <p:cNvSpPr>
            <a:spLocks/>
          </p:cNvSpPr>
          <p:nvPr/>
        </p:nvSpPr>
        <p:spPr bwMode="auto">
          <a:xfrm>
            <a:off x="277813" y="2932176"/>
            <a:ext cx="5111750" cy="1228344"/>
          </a:xfrm>
          <a:prstGeom prst="roundRect">
            <a:avLst>
              <a:gd name="adj" fmla="val 7170"/>
            </a:avLst>
          </a:prstGeom>
          <a:solidFill>
            <a:srgbClr val="F2E5D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3BE46357-0616-FCC1-D7C6-36362C5DE065}"/>
              </a:ext>
            </a:extLst>
          </p:cNvPr>
          <p:cNvSpPr/>
          <p:nvPr/>
        </p:nvSpPr>
        <p:spPr bwMode="auto">
          <a:xfrm>
            <a:off x="-1" y="1"/>
            <a:ext cx="5667375" cy="1866899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223CB-34FB-03D8-9FBD-DA3F43856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877" t="56128" r="60860" b="-102"/>
          <a:stretch>
            <a:fillRect/>
          </a:stretch>
        </p:blipFill>
        <p:spPr>
          <a:xfrm>
            <a:off x="878897" y="-11042"/>
            <a:ext cx="4792775" cy="1483618"/>
          </a:xfrm>
          <a:prstGeom prst="rect">
            <a:avLst/>
          </a:prstGeom>
        </p:spPr>
      </p:pic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189C2F85-2DEC-4ABB-873B-85E65EF3C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9635"/>
          <a:stretch>
            <a:fillRect/>
          </a:stretch>
        </p:blipFill>
        <p:spPr bwMode="black">
          <a:xfrm>
            <a:off x="275179" y="259472"/>
            <a:ext cx="796714" cy="167302"/>
          </a:xfrm>
          <a:prstGeom prst="rect">
            <a:avLst/>
          </a:prstGeom>
        </p:spPr>
      </p:pic>
      <p:sp>
        <p:nvSpPr>
          <p:cNvPr id="4" name="Title 31">
            <a:extLst>
              <a:ext uri="{FF2B5EF4-FFF2-40B4-BE49-F238E27FC236}">
                <a16:creationId xmlns:a16="http://schemas.microsoft.com/office/drawing/2014/main" id="{DF858B90-5458-E56F-2B96-5B67630FD1D9}"/>
              </a:ext>
            </a:extLst>
          </p:cNvPr>
          <p:cNvSpPr txBox="1">
            <a:spLocks/>
          </p:cNvSpPr>
          <p:nvPr/>
        </p:nvSpPr>
        <p:spPr>
          <a:xfrm>
            <a:off x="278386" y="917806"/>
            <a:ext cx="4644134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785" b="0" kern="1200" cap="none" spc="-32" baseline="0" dirty="0" smtClean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36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  <a:t>CSP Deployment Accelerator for </a:t>
            </a:r>
            <a:b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</a:b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/>
                <a:cs typeface="Segoe UI Semibold"/>
              </a:rPr>
              <a:t>Microsoft 365 Copilot</a:t>
            </a:r>
            <a:endParaRPr lang="en-US" sz="2400" b="0" i="0" u="none" strike="noStrike" kern="1200" cap="none" spc="-23" normalizeH="0" baseline="0" noProof="0" dirty="0">
              <a:ln w="3175">
                <a:noFill/>
              </a:ln>
              <a:solidFill>
                <a:srgbClr val="8A226F"/>
              </a:solidFill>
              <a:effectLst/>
              <a:uLnTx/>
              <a:uFillTx/>
              <a:latin typeface="Segoe UI Semibold"/>
              <a:cs typeface="Segoe UI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9E832-4316-7486-85D4-F98F422B35BD}"/>
              </a:ext>
            </a:extLst>
          </p:cNvPr>
          <p:cNvSpPr txBox="1"/>
          <p:nvPr/>
        </p:nvSpPr>
        <p:spPr>
          <a:xfrm>
            <a:off x="275179" y="670918"/>
            <a:ext cx="444922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latin typeface="Segoe UI"/>
              </a:rPr>
              <a:t>Accelerate your Microsoft 365 journey with partner-led services</a:t>
            </a:r>
          </a:p>
        </p:txBody>
      </p:sp>
      <p:sp>
        <p:nvSpPr>
          <p:cNvPr id="1496" name="Text Placeholder 99">
            <a:extLst>
              <a:ext uri="{FF2B5EF4-FFF2-40B4-BE49-F238E27FC236}">
                <a16:creationId xmlns:a16="http://schemas.microsoft.com/office/drawing/2014/main" id="{FD7406BE-217E-F3CE-365B-10855873F00D}"/>
              </a:ext>
            </a:extLst>
          </p:cNvPr>
          <p:cNvSpPr txBox="1">
            <a:spLocks/>
          </p:cNvSpPr>
          <p:nvPr/>
        </p:nvSpPr>
        <p:spPr>
          <a:xfrm>
            <a:off x="277813" y="2022731"/>
            <a:ext cx="5111750" cy="76944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000000"/>
                </a:solidFill>
                <a:latin typeface="Segoe UI"/>
              </a:rPr>
              <a:t>The CSP Deployment Accelerator for Microsoft 365 Copilot helps eligible organizations deploy, adopt, and realize value from Microsoft 365 Copilot with support from a qualified Microsoft partner. With Microsoft co-funded, partner-led deployment and adoption services, customers can reduce deployment complexity, activate high-value scenarios, and help users get measurable value from Microsoft 365 Copilot faster.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BFCFB65-D4E7-9275-CD4A-80BBC065C884}"/>
              </a:ext>
            </a:extLst>
          </p:cNvPr>
          <p:cNvSpPr/>
          <p:nvPr/>
        </p:nvSpPr>
        <p:spPr bwMode="auto">
          <a:xfrm>
            <a:off x="277813" y="6907695"/>
            <a:ext cx="5111749" cy="847243"/>
          </a:xfrm>
          <a:prstGeom prst="roundRect">
            <a:avLst>
              <a:gd name="adj" fmla="val 8004"/>
            </a:avLst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99">
            <a:extLst>
              <a:ext uri="{FF2B5EF4-FFF2-40B4-BE49-F238E27FC236}">
                <a16:creationId xmlns:a16="http://schemas.microsoft.com/office/drawing/2014/main" id="{7E35D35B-9B4E-9363-0DFE-9A77C75AE6E2}"/>
              </a:ext>
            </a:extLst>
          </p:cNvPr>
          <p:cNvSpPr txBox="1">
            <a:spLocks/>
          </p:cNvSpPr>
          <p:nvPr/>
        </p:nvSpPr>
        <p:spPr>
          <a:xfrm>
            <a:off x="375349" y="3035175"/>
            <a:ext cx="493960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8A226F"/>
                </a:solidFill>
                <a:latin typeface="+mj-lt"/>
              </a:rPr>
              <a:t>Program benefits</a:t>
            </a:r>
          </a:p>
        </p:txBody>
      </p:sp>
      <p:sp>
        <p:nvSpPr>
          <p:cNvPr id="1384" name="Text Placeholder 99">
            <a:extLst>
              <a:ext uri="{FF2B5EF4-FFF2-40B4-BE49-F238E27FC236}">
                <a16:creationId xmlns:a16="http://schemas.microsoft.com/office/drawing/2014/main" id="{5AB4649A-C2EF-B775-C04D-C44E8AE34323}"/>
              </a:ext>
            </a:extLst>
          </p:cNvPr>
          <p:cNvSpPr txBox="1">
            <a:spLocks/>
          </p:cNvSpPr>
          <p:nvPr/>
        </p:nvSpPr>
        <p:spPr>
          <a:xfrm>
            <a:off x="375349" y="3248535"/>
            <a:ext cx="1051115" cy="65402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+mj-lt"/>
              </a:rPr>
              <a:t>Funded services: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Microsoft co-invests in deployment and adoption services delivered by partners.</a:t>
            </a:r>
          </a:p>
        </p:txBody>
      </p:sp>
      <p:sp>
        <p:nvSpPr>
          <p:cNvPr id="1385" name="Text Placeholder 99">
            <a:extLst>
              <a:ext uri="{FF2B5EF4-FFF2-40B4-BE49-F238E27FC236}">
                <a16:creationId xmlns:a16="http://schemas.microsoft.com/office/drawing/2014/main" id="{99679035-9319-4E81-830B-F45D2A66FA96}"/>
              </a:ext>
            </a:extLst>
          </p:cNvPr>
          <p:cNvSpPr txBox="1">
            <a:spLocks/>
          </p:cNvSpPr>
          <p:nvPr/>
        </p:nvSpPr>
        <p:spPr>
          <a:xfrm>
            <a:off x="1699620" y="3248535"/>
            <a:ext cx="1100645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Faster value: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Accelerate activation of Microsoft 365 Copilot and help users become productive faster</a:t>
            </a:r>
          </a:p>
        </p:txBody>
      </p:sp>
      <p:sp>
        <p:nvSpPr>
          <p:cNvPr id="1386" name="Text Placeholder 99">
            <a:extLst>
              <a:ext uri="{FF2B5EF4-FFF2-40B4-BE49-F238E27FC236}">
                <a16:creationId xmlns:a16="http://schemas.microsoft.com/office/drawing/2014/main" id="{07BC2FE8-C700-0F2D-A041-C7505E0F0F8E}"/>
              </a:ext>
            </a:extLst>
          </p:cNvPr>
          <p:cNvSpPr txBox="1">
            <a:spLocks/>
          </p:cNvSpPr>
          <p:nvPr/>
        </p:nvSpPr>
        <p:spPr>
          <a:xfrm>
            <a:off x="3073421" y="3248535"/>
            <a:ext cx="1004444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Adoption at scale: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Rapid activation of high-impact, high-frequency workflows that transform business processes</a:t>
            </a:r>
          </a:p>
        </p:txBody>
      </p:sp>
      <p:sp>
        <p:nvSpPr>
          <p:cNvPr id="1387" name="Text Placeholder 99">
            <a:extLst>
              <a:ext uri="{FF2B5EF4-FFF2-40B4-BE49-F238E27FC236}">
                <a16:creationId xmlns:a16="http://schemas.microsoft.com/office/drawing/2014/main" id="{BF1C2AA5-1D72-EDF9-E635-77191F7D9913}"/>
              </a:ext>
            </a:extLst>
          </p:cNvPr>
          <p:cNvSpPr txBox="1">
            <a:spLocks/>
          </p:cNvSpPr>
          <p:nvPr/>
        </p:nvSpPr>
        <p:spPr>
          <a:xfrm>
            <a:off x="4351019" y="3248535"/>
            <a:ext cx="967741" cy="65402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Measurable ROI: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Business outcome driven scenarios with success metrics and reporting.</a:t>
            </a:r>
          </a:p>
        </p:txBody>
      </p:sp>
      <p:cxnSp>
        <p:nvCxnSpPr>
          <p:cNvPr id="1392" name="Straight Connector 1391">
            <a:extLst>
              <a:ext uri="{FF2B5EF4-FFF2-40B4-BE49-F238E27FC236}">
                <a16:creationId xmlns:a16="http://schemas.microsoft.com/office/drawing/2014/main" id="{435F3F62-FBB9-9B45-F23B-FB48C458D29D}"/>
              </a:ext>
            </a:extLst>
          </p:cNvPr>
          <p:cNvCxnSpPr>
            <a:cxnSpLocks/>
          </p:cNvCxnSpPr>
          <p:nvPr/>
        </p:nvCxnSpPr>
        <p:spPr>
          <a:xfrm>
            <a:off x="1563042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1395">
            <a:extLst>
              <a:ext uri="{FF2B5EF4-FFF2-40B4-BE49-F238E27FC236}">
                <a16:creationId xmlns:a16="http://schemas.microsoft.com/office/drawing/2014/main" id="{BFDADDE4-C9AD-D077-8F98-1385A7E3AB0A}"/>
              </a:ext>
            </a:extLst>
          </p:cNvPr>
          <p:cNvCxnSpPr>
            <a:cxnSpLocks/>
          </p:cNvCxnSpPr>
          <p:nvPr/>
        </p:nvCxnSpPr>
        <p:spPr>
          <a:xfrm>
            <a:off x="2936843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7CB96533-9C5E-C0BE-8287-E5CF6B9F8054}"/>
              </a:ext>
            </a:extLst>
          </p:cNvPr>
          <p:cNvCxnSpPr>
            <a:cxnSpLocks/>
          </p:cNvCxnSpPr>
          <p:nvPr/>
        </p:nvCxnSpPr>
        <p:spPr>
          <a:xfrm>
            <a:off x="4214443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8" name="Rectangle: Rounded Corners 1517">
            <a:extLst>
              <a:ext uri="{FF2B5EF4-FFF2-40B4-BE49-F238E27FC236}">
                <a16:creationId xmlns:a16="http://schemas.microsoft.com/office/drawing/2014/main" id="{1AFB695B-19E3-6B23-A767-B7D925AEA552}"/>
              </a:ext>
            </a:extLst>
          </p:cNvPr>
          <p:cNvSpPr>
            <a:spLocks/>
          </p:cNvSpPr>
          <p:nvPr/>
        </p:nvSpPr>
        <p:spPr bwMode="auto">
          <a:xfrm>
            <a:off x="277813" y="4290468"/>
            <a:ext cx="2487295" cy="2496412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7" name="Rectangle: Rounded Corners 1526">
            <a:extLst>
              <a:ext uri="{FF2B5EF4-FFF2-40B4-BE49-F238E27FC236}">
                <a16:creationId xmlns:a16="http://schemas.microsoft.com/office/drawing/2014/main" id="{C4946514-9AFE-30E6-3D84-7324A721A038}"/>
              </a:ext>
            </a:extLst>
          </p:cNvPr>
          <p:cNvSpPr>
            <a:spLocks/>
          </p:cNvSpPr>
          <p:nvPr/>
        </p:nvSpPr>
        <p:spPr bwMode="auto">
          <a:xfrm>
            <a:off x="2902268" y="4290468"/>
            <a:ext cx="2487295" cy="2496412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8" name="Rectangle: Top Corners Rounded 1527">
            <a:extLst>
              <a:ext uri="{FF2B5EF4-FFF2-40B4-BE49-F238E27FC236}">
                <a16:creationId xmlns:a16="http://schemas.microsoft.com/office/drawing/2014/main" id="{68021260-3B96-EF76-D1E5-6CF112B08EB6}"/>
              </a:ext>
            </a:extLst>
          </p:cNvPr>
          <p:cNvSpPr/>
          <p:nvPr/>
        </p:nvSpPr>
        <p:spPr bwMode="auto">
          <a:xfrm>
            <a:off x="277813" y="429046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0" name="Rectangle: Top Corners Rounded 1529">
            <a:extLst>
              <a:ext uri="{FF2B5EF4-FFF2-40B4-BE49-F238E27FC236}">
                <a16:creationId xmlns:a16="http://schemas.microsoft.com/office/drawing/2014/main" id="{A79F7794-8AC1-E9AB-DF09-4BE78694252C}"/>
              </a:ext>
            </a:extLst>
          </p:cNvPr>
          <p:cNvSpPr/>
          <p:nvPr/>
        </p:nvSpPr>
        <p:spPr bwMode="auto">
          <a:xfrm>
            <a:off x="2902268" y="429046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1" name="Text Placeholder 99">
            <a:extLst>
              <a:ext uri="{FF2B5EF4-FFF2-40B4-BE49-F238E27FC236}">
                <a16:creationId xmlns:a16="http://schemas.microsoft.com/office/drawing/2014/main" id="{DA5A39D6-5130-4351-5E21-384697B674CC}"/>
              </a:ext>
            </a:extLst>
          </p:cNvPr>
          <p:cNvSpPr txBox="1">
            <a:spLocks/>
          </p:cNvSpPr>
          <p:nvPr/>
        </p:nvSpPr>
        <p:spPr>
          <a:xfrm>
            <a:off x="581375" y="4379508"/>
            <a:ext cx="188017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Eligibility | Customers must:</a:t>
            </a:r>
          </a:p>
        </p:txBody>
      </p:sp>
      <p:sp>
        <p:nvSpPr>
          <p:cNvPr id="1532" name="Text Placeholder 99">
            <a:extLst>
              <a:ext uri="{FF2B5EF4-FFF2-40B4-BE49-F238E27FC236}">
                <a16:creationId xmlns:a16="http://schemas.microsoft.com/office/drawing/2014/main" id="{7F0C6F55-F17B-8474-3D39-831966D13761}"/>
              </a:ext>
            </a:extLst>
          </p:cNvPr>
          <p:cNvSpPr txBox="1">
            <a:spLocks/>
          </p:cNvSpPr>
          <p:nvPr/>
        </p:nvSpPr>
        <p:spPr>
          <a:xfrm>
            <a:off x="2982215" y="4379508"/>
            <a:ext cx="232740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What to expect | Partner may help you:</a:t>
            </a:r>
          </a:p>
        </p:txBody>
      </p:sp>
      <p:sp>
        <p:nvSpPr>
          <p:cNvPr id="1533" name="Text Placeholder 99">
            <a:extLst>
              <a:ext uri="{FF2B5EF4-FFF2-40B4-BE49-F238E27FC236}">
                <a16:creationId xmlns:a16="http://schemas.microsoft.com/office/drawing/2014/main" id="{D2F2E134-F404-0B65-4699-6D6C55A75368}"/>
              </a:ext>
            </a:extLst>
          </p:cNvPr>
          <p:cNvSpPr txBox="1">
            <a:spLocks/>
          </p:cNvSpPr>
          <p:nvPr/>
        </p:nvSpPr>
        <p:spPr>
          <a:xfrm>
            <a:off x="383255" y="4710559"/>
            <a:ext cx="2276411" cy="140807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Purchase a minimum of 50+ Microsoft 365 Copilot seats through eligible CSP transactions.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Work with an eligible Microsoft partner to validate eligibility and plan deployment.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Complete eligible CSP transactions between July 1, 2026, and June 30, 2027.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Be nominated prior to the sale or within 60 days of provisioning.</a:t>
            </a:r>
          </a:p>
        </p:txBody>
      </p:sp>
      <p:sp>
        <p:nvSpPr>
          <p:cNvPr id="1534" name="Text Placeholder 99">
            <a:extLst>
              <a:ext uri="{FF2B5EF4-FFF2-40B4-BE49-F238E27FC236}">
                <a16:creationId xmlns:a16="http://schemas.microsoft.com/office/drawing/2014/main" id="{367FA250-836A-3C9C-2AC5-E19122C87957}"/>
              </a:ext>
            </a:extLst>
          </p:cNvPr>
          <p:cNvSpPr txBox="1">
            <a:spLocks/>
          </p:cNvSpPr>
          <p:nvPr/>
        </p:nvSpPr>
        <p:spPr>
          <a:xfrm>
            <a:off x="3007710" y="4710559"/>
            <a:ext cx="2276411" cy="195438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Assess readiness and prepare your tenant for Microsoft 365 Copilot deployment.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Deploy Copilot, assign licenses, and configure Copilot reporting.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Configure security, compliance, and governance controls to help protect users, devices, and data.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Activate high-value scenarios and train users.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Support adoption through communication planning and change management.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Provide ongoing optimization and measure impact.</a:t>
            </a:r>
          </a:p>
        </p:txBody>
      </p:sp>
      <p:sp>
        <p:nvSpPr>
          <p:cNvPr id="1535" name="Text Placeholder 99">
            <a:extLst>
              <a:ext uri="{FF2B5EF4-FFF2-40B4-BE49-F238E27FC236}">
                <a16:creationId xmlns:a16="http://schemas.microsoft.com/office/drawing/2014/main" id="{BCB143F9-E2F3-BF55-B13E-4F576E16DACB}"/>
              </a:ext>
            </a:extLst>
          </p:cNvPr>
          <p:cNvSpPr txBox="1">
            <a:spLocks/>
          </p:cNvSpPr>
          <p:nvPr/>
        </p:nvSpPr>
        <p:spPr>
          <a:xfrm>
            <a:off x="468599" y="7034749"/>
            <a:ext cx="4624914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Ready to get started?</a:t>
            </a:r>
          </a:p>
        </p:txBody>
      </p:sp>
      <p:sp>
        <p:nvSpPr>
          <p:cNvPr id="1536" name="Text Placeholder 99">
            <a:extLst>
              <a:ext uri="{FF2B5EF4-FFF2-40B4-BE49-F238E27FC236}">
                <a16:creationId xmlns:a16="http://schemas.microsoft.com/office/drawing/2014/main" id="{7636C491-1D63-2F74-E3FD-99CA3804A425}"/>
              </a:ext>
            </a:extLst>
          </p:cNvPr>
          <p:cNvSpPr txBox="1">
            <a:spLocks/>
          </p:cNvSpPr>
          <p:nvPr/>
        </p:nvSpPr>
        <p:spPr>
          <a:xfrm>
            <a:off x="468599" y="7235220"/>
            <a:ext cx="4719097" cy="392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tabLst/>
              <a:defRPr/>
            </a:pPr>
            <a:r>
              <a:rPr lang="en-US" sz="850" b="0" i="0" dirty="0">
                <a:solidFill>
                  <a:schemeClr val="bg1"/>
                </a:solidFill>
                <a:latin typeface="Segoe UI"/>
              </a:rPr>
              <a:t>Coordinate with your Microsoft partner to validate eligibility, confirm seat requirements, and plan your deployment. You'll receive hands-on support to help deploy, adopt, and realize value from Microsoft 365 Copilot across your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317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Segoe Sans Display</vt:lpstr>
      <vt:lpstr>Segoe UI</vt:lpstr>
      <vt:lpstr>Segoe UI Semibold</vt:lpstr>
      <vt:lpstr>Wingdings</vt:lpstr>
      <vt:lpstr>2_CSP Template Diamond 06/23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Rashvika Abdulla</cp:lastModifiedBy>
  <cp:revision>16</cp:revision>
  <dcterms:created xsi:type="dcterms:W3CDTF">2026-02-21T17:45:29Z</dcterms:created>
  <dcterms:modified xsi:type="dcterms:W3CDTF">2026-07-06T13:58:37Z</dcterms:modified>
</cp:coreProperties>
</file>