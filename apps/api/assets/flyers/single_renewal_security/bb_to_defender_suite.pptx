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4" r:id="rId15"/>
    <p:sldMasterId id="2147483755" r:id="rId16"/>
    <p:sldMasterId id="2147483756" r:id="rId17"/>
    <p:sldMasterId id="2147483757"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5D3C6-1226-972B-D424-578A913E2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E4D83-F370-0232-8F88-5DFE88FA0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4C738-EF0C-ACFB-1BF8-0DDE06BAD43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F4D6830-84AC-81C9-0145-835C249AB126}"/>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798813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C5809A9E-8D57-5C23-7964-B65E9DDED319}"/>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19D0C2AA-3B78-BC3E-BB96-E8F87BE4B552}"/>
              </a:ext>
            </a:extLst>
          </p:cNvPr>
          <p:cNvSpPr>
            <a:spLocks/>
          </p:cNvSpPr>
          <p:nvPr/>
        </p:nvSpPr>
        <p:spPr bwMode="auto">
          <a:xfrm>
            <a:off x="377825" y="835147"/>
            <a:ext cx="4895850" cy="6894920"/>
          </a:xfrm>
          <a:prstGeom prst="roundRect">
            <a:avLst>
              <a:gd name="adj" fmla="val 1963"/>
            </a:avLst>
          </a:prstGeom>
          <a:solidFill>
            <a:srgbClr val="FFFFFF"/>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EA2E513C-CDC4-9ECE-EC9F-1E093F755CAF}"/>
              </a:ext>
            </a:extLst>
          </p:cNvPr>
          <p:cNvSpPr/>
          <p:nvPr/>
        </p:nvSpPr>
        <p:spPr bwMode="auto">
          <a:xfrm flipH="1">
            <a:off x="377812" y="835147"/>
            <a:ext cx="4895851" cy="409453"/>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6" name="Table 0">
            <a:extLst>
              <a:ext uri="{FF2B5EF4-FFF2-40B4-BE49-F238E27FC236}">
                <a16:creationId xmlns:a16="http://schemas.microsoft.com/office/drawing/2014/main" id="{B04491EF-AD3B-4712-4905-81577F047A62}"/>
              </a:ext>
            </a:extLst>
          </p:cNvPr>
          <p:cNvGraphicFramePr>
            <a:graphicFrameLocks noGrp="1"/>
          </p:cNvGraphicFramePr>
          <p:nvPr>
            <p:extLst>
              <p:ext uri="{D42A27DB-BD31-4B8C-83A1-F6EECF244321}">
                <p14:modId xmlns:p14="http://schemas.microsoft.com/office/powerpoint/2010/main" val="486006241"/>
              </p:ext>
            </p:extLst>
          </p:nvPr>
        </p:nvGraphicFramePr>
        <p:xfrm>
          <a:off x="377813" y="835146"/>
          <a:ext cx="4895850" cy="6880928"/>
        </p:xfrm>
        <a:graphic>
          <a:graphicData uri="http://schemas.openxmlformats.org/drawingml/2006/table">
            <a:tbl>
              <a:tblPr/>
              <a:tblGrid>
                <a:gridCol w="3578224">
                  <a:extLst>
                    <a:ext uri="{9D8B030D-6E8A-4147-A177-3AD203B41FA5}">
                      <a16:colId xmlns:a16="http://schemas.microsoft.com/office/drawing/2014/main" val="20000"/>
                    </a:ext>
                  </a:extLst>
                </a:gridCol>
                <a:gridCol w="425450">
                  <a:extLst>
                    <a:ext uri="{9D8B030D-6E8A-4147-A177-3AD203B41FA5}">
                      <a16:colId xmlns:a16="http://schemas.microsoft.com/office/drawing/2014/main" val="20001"/>
                    </a:ext>
                  </a:extLst>
                </a:gridCol>
                <a:gridCol w="892176">
                  <a:extLst>
                    <a:ext uri="{9D8B030D-6E8A-4147-A177-3AD203B41FA5}">
                      <a16:colId xmlns:a16="http://schemas.microsoft.com/office/drawing/2014/main" val="20002"/>
                    </a:ext>
                  </a:extLst>
                </a:gridCol>
              </a:tblGrid>
              <a:tr h="423368">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rPr>
                        <a:t>Incremental capabilities</a:t>
                      </a:r>
                    </a:p>
                  </a:txBody>
                  <a:tcPr marL="72000" marR="72000" marT="36000" marB="3600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381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a:buNone/>
                      </a:pPr>
                      <a:r>
                        <a:rPr lang="en-US" sz="700" b="0" i="0" u="none" strike="noStrike" kern="1200" cap="none" spc="0" normalizeH="0" baseline="0" dirty="0">
                          <a:solidFill>
                            <a:schemeClr val="bg1">
                              <a:lumMod val="100000"/>
                            </a:schemeClr>
                          </a:solidFill>
                          <a:latin typeface="Segoe UI Semibold"/>
                          <a:ea typeface="+mn-ea"/>
                          <a:cs typeface="Segoe UI Semibold"/>
                        </a:rPr>
                        <a:t>Business Basic</a:t>
                      </a:r>
                    </a:p>
                  </a:txBody>
                  <a:tcPr marL="36000" marR="36000" marT="36000" marB="3600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381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rPr>
                        <a:t>Business Premium+ Defender Suite for Business Premium</a:t>
                      </a:r>
                    </a:p>
                  </a:txBody>
                  <a:tcPr marL="36000" marR="36000" marT="36000" marB="3600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381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solidFill>
                          <a:latin typeface="Segoe UI Semibold"/>
                          <a:ea typeface="+mn-ea"/>
                          <a:cs typeface="Segoe UI Semibold"/>
                        </a:rPr>
                        <a:t>Productivity and collaboration</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0001"/>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Web and mobile versions of Word, Excel, PowerPoint, Outlook (100 GB); Teams (chat, call, meet); OneDrive (1 TB); SharePoint; Forms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Desktop versions of Word, Excel, PowerPoint, Outlook, OneNote, and Access (PC) — install on up to 5 PC/Mac + 5 tablets + 5 mobile</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Microsoft Loop (collaborative workspaces), Clipchamp (video editing), and webinar hosting with attendee registration</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10504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Advanced grammar and style suggestions with Microsoft Editor (premium features)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solidFill>
                          <a:latin typeface="Segoe UI Semibold"/>
                          <a:ea typeface="+mn-ea"/>
                          <a:cs typeface="Segoe UI Semibold"/>
                        </a:rPr>
                        <a:t>Security, Device management and Windows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0007"/>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Microsoft Intune Plan 1: Endpoint management, security policies, and app deployment across iOS, Android, Windows, macOS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Windows Autopilot (zero-touch device setup), Windows Autopatch (automated updates), MAM, Endpoint Analytics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10504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Windows 11 Pro upgrade, Azure Virtual Desktop, Shared Computer Activation</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solidFill>
                          <a:latin typeface="Segoe UI Semibold"/>
                          <a:ea typeface="+mn-ea"/>
                          <a:cs typeface="Segoe UI Semibold"/>
                        </a:rPr>
                        <a:t>Identity and access management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0011"/>
                  </a:ext>
                </a:extLst>
              </a:tr>
              <a:tr h="10504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Entra ID (Free): Basic SSO and MFA for cloud apps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12845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 Entra ID P2: Risk-based Conditional Access with real-time sign-in and user risk detection</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4"/>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 Entra ID Protection: ML-driven anomaly detection for compromised credentials and suspicious sign-ins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5"/>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 Entra ID Governance: Access reviews, entitlement management, and Privileged Identity Management (PIM)</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6"/>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solidFill>
                          <a:latin typeface="Segoe UI Semibold"/>
                          <a:ea typeface="+mn-ea"/>
                          <a:cs typeface="Segoe UI Semibold"/>
                        </a:rPr>
                        <a:t>Identity threat detection and response</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0017"/>
                  </a:ext>
                </a:extLst>
              </a:tr>
              <a:tr h="10504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Defender for Identity: Monitor on-premises AD and hybrid identity for compromise</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8"/>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Detect lateral movement (pass-the-hash, pass-the-ticket, golden ticket) and credential theft attacks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9"/>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solidFill>
                          <a:latin typeface="Segoe UI Semibold"/>
                          <a:ea typeface="+mn-ea"/>
                          <a:cs typeface="Segoe UI Semibold"/>
                        </a:rPr>
                        <a:t>Endpoint security</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0020"/>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Defender for Business: Next-gen antivirus, EDR, automated remediation, threat and vulnerability management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21"/>
                  </a:ext>
                </a:extLst>
              </a:tr>
              <a:tr h="1442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 Defender for Endpoint P2: Advanced threat hunting, custom detection rules, KQL queries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22"/>
                  </a:ext>
                </a:extLst>
              </a:tr>
              <a:tr h="148138">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 Live response, 6-month data retention and advanced behavioral analytics for APT detection</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23"/>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solidFill>
                          <a:latin typeface="Segoe UI Semibold"/>
                          <a:ea typeface="+mn-ea"/>
                          <a:cs typeface="Segoe UI Semibold"/>
                        </a:rPr>
                        <a:t>Email and collaboration security</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0024"/>
                  </a:ext>
                </a:extLst>
              </a:tr>
              <a:tr h="10504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Basic anti-spam and anti-malware filtering via Exchange Online Protection (EOP)</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25"/>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 Defender for Office 365 P1: Safe Links, Safe Attachments, anti-phishing policies across email, Teams, SharePoint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26"/>
                  </a:ext>
                </a:extLst>
              </a:tr>
              <a:tr h="21373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 Defender for Office 365 P2: Automated Investigation and Response (AIR), Attack Simulation Training</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27"/>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 Threat Explorer, Threat Trackers, advanced hunting across email entities with campaign views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28"/>
                  </a:ext>
                </a:extLst>
              </a:tr>
              <a:tr h="210085">
                <a:tc>
                  <a:txBody>
                    <a:bodyPr/>
                    <a:lstStyle/>
                    <a:p>
                      <a:pPr lvl="0" algn="l">
                        <a:buNone/>
                      </a:pPr>
                      <a:r>
                        <a:rPr lang="en-US" sz="650" b="0" i="0" u="none" strike="noStrike" dirty="0">
                          <a:solidFill>
                            <a:srgbClr val="000000"/>
                          </a:solidFill>
                          <a:effectLst/>
                          <a:latin typeface="Segoe UI"/>
                          <a:cs typeface="Segoe UI"/>
                        </a:rPr>
                        <a:t>URL time-of-click protection (</a:t>
                      </a:r>
                      <a:r>
                        <a:rPr lang="en-US" sz="650" b="0" i="0" u="none" strike="noStrike" dirty="0" err="1">
                          <a:solidFill>
                            <a:srgbClr val="000000"/>
                          </a:solidFill>
                          <a:effectLst/>
                          <a:latin typeface="Segoe UI"/>
                          <a:cs typeface="Segoe UI"/>
                        </a:rPr>
                        <a:t>SafeLinks</a:t>
                      </a:r>
                      <a:r>
                        <a:rPr lang="en-US" sz="650" b="0" i="0" u="none" strike="noStrike" dirty="0">
                          <a:solidFill>
                            <a:srgbClr val="000000"/>
                          </a:solidFill>
                          <a:effectLst/>
                          <a:latin typeface="Segoe UI"/>
                          <a:cs typeface="Segoe UI"/>
                        </a:rPr>
                        <a:t> Lite) — re-checks links at moment of click</a:t>
                      </a:r>
                      <a:endParaRPr lang="en-US"/>
                    </a:p>
                  </a:txBody>
                  <a:tcPr marL="73152" marR="73152"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a:lnSpc>
                          <a:spcPct val="100000"/>
                        </a:lnSpc>
                        <a:spcBef>
                          <a:spcPts val="0"/>
                        </a:spcBef>
                        <a:spcAft>
                          <a:spcPts val="0"/>
                        </a:spcAft>
                        <a:buClrTx/>
                        <a:buSzTx/>
                        <a:buFontTx/>
                        <a:buNone/>
                      </a:pPr>
                      <a:r>
                        <a:rPr lang="en-US" sz="650" b="0" i="0" u="none" strike="noStrike" kern="1200" cap="none" spc="0" normalizeH="0" baseline="0" noProof="0" dirty="0">
                          <a:ln>
                            <a:noFill/>
                          </a:ln>
                          <a:solidFill>
                            <a:prstClr val="black"/>
                          </a:solidFill>
                          <a:effectLst/>
                          <a:uLnTx/>
                          <a:uFillTx/>
                          <a:latin typeface="Segoe UI"/>
                          <a:ea typeface="+mn-ea"/>
                          <a:cs typeface="Segoe UI"/>
                        </a:rPr>
                        <a:t>✓</a:t>
                      </a:r>
                      <a:endParaRPr lang="en-US"/>
                    </a:p>
                  </a:txBody>
                  <a:tcPr marL="72000" marR="72000" marT="0" marB="0" anchor="ctr">
                    <a:lnL w="0">
                      <a:noFill/>
                    </a:lnL>
                    <a:lnR w="0">
                      <a:noFill/>
                    </a:lnR>
                    <a:lnT w="6350">
                      <a:solidFill>
                        <a:schemeClr val="bg1">
                          <a:lumMod val="85000"/>
                        </a:schemeClr>
                      </a:solidFill>
                    </a:lnT>
                    <a:lnB w="6350">
                      <a:solidFill>
                        <a:schemeClr val="bg1">
                          <a:lumMod val="85000"/>
                        </a:schemeClr>
                      </a:solidFill>
                    </a:lnB>
                    <a:lnTlToBr w="0">
                      <a:noFill/>
                    </a:lnTlToBr>
                    <a:lnBlToTr w="0">
                      <a:noFill/>
                    </a:lnBlToTr>
                    <a:solidFill>
                      <a:schemeClr val="bg1"/>
                    </a:solidFill>
                  </a:tcPr>
                </a:tc>
                <a:tc>
                  <a:txBody>
                    <a:bodyPr/>
                    <a:lstStyle/>
                    <a:p>
                      <a:pPr marL="0" marR="0" lvl="0" indent="0" algn="ctr" defTabSz="565131" rtl="0">
                        <a:lnSpc>
                          <a:spcPct val="100000"/>
                        </a:lnSpc>
                        <a:spcBef>
                          <a:spcPts val="0"/>
                        </a:spcBef>
                        <a:spcAft>
                          <a:spcPts val="0"/>
                        </a:spcAft>
                        <a:buClrTx/>
                        <a:buSzTx/>
                        <a:buFontTx/>
                        <a:buNone/>
                      </a:pPr>
                      <a:r>
                        <a:rPr lang="en-US" sz="650" b="0" i="0" u="none" strike="noStrike" kern="1200" cap="none" spc="0" normalizeH="0" baseline="0" noProof="0" dirty="0">
                          <a:ln>
                            <a:noFill/>
                          </a:ln>
                          <a:solidFill>
                            <a:prstClr val="black"/>
                          </a:solidFill>
                          <a:effectLst/>
                          <a:uLnTx/>
                          <a:uFillTx/>
                          <a:latin typeface="Segoe UI"/>
                          <a:ea typeface="+mn-ea"/>
                          <a:cs typeface="Segoe UI"/>
                        </a:rPr>
                        <a:t>✓</a:t>
                      </a:r>
                      <a:endParaRPr lang="en-US"/>
                    </a:p>
                  </a:txBody>
                  <a:tcPr marL="72000" marR="72000" marT="0" marB="0" anchor="ctr">
                    <a:lnL w="0">
                      <a:noFill/>
                    </a:lnL>
                    <a:lnR w="0">
                      <a:noFill/>
                    </a:lnR>
                    <a:lnT w="6350">
                      <a:solidFill>
                        <a:schemeClr val="bg1">
                          <a:lumMod val="85000"/>
                        </a:schemeClr>
                      </a:solidFill>
                    </a:lnT>
                    <a:lnB w="6350">
                      <a:solidFill>
                        <a:schemeClr val="bg1">
                          <a:lumMod val="85000"/>
                        </a:schemeClr>
                      </a:solidFill>
                    </a:lnB>
                    <a:lnTlToBr w="0">
                      <a:noFill/>
                    </a:lnTlToBr>
                    <a:lnBlToTr w="0">
                      <a:noFill/>
                    </a:lnBlToTr>
                    <a:solidFill>
                      <a:schemeClr val="bg1"/>
                    </a:solidFill>
                  </a:tcPr>
                </a:tc>
                <a:extLst>
                  <a:ext uri="{0D108BD9-81ED-4DB2-BD59-A6C34878D82A}">
                    <a16:rowId xmlns:a16="http://schemas.microsoft.com/office/drawing/2014/main" val="329573332"/>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solidFill>
                          <a:latin typeface="Segoe UI Semibold"/>
                          <a:ea typeface="+mn-ea"/>
                          <a:cs typeface="Segoe UI Semibold"/>
                        </a:rPr>
                        <a:t>Cloud application, IoT and Unified XDR</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0029"/>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Defender for Cloud Apps: Discover/control shadow IT across 31,000+ cloud and AI apps with session governance</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30"/>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Defender for IoT (Enterprise IoT): Continuous asset discovery and threat detection for connected devices</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31"/>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Defender XDR: Unified incident correlation, automatic attack disruption, and cross-domain advanced hunting</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32"/>
                  </a:ext>
                </a:extLst>
              </a:tr>
              <a:tr h="11312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Data security baseline</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580451518"/>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Purview Information Protection P1: Manual sensitivity labels, default labeling, basic classification</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a:ea typeface="+mn-ea"/>
                          <a:cs typeface="Segoe UI"/>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8176799"/>
                  </a:ext>
                </a:extLst>
              </a:tr>
              <a:tr h="21008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Purview DLP for email and files; Audit (Standard); BitLocker; Credential Guard; Windows Information Protection</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9855295"/>
                  </a:ext>
                </a:extLst>
              </a:tr>
              <a:tr h="164640">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Monthly Security Summary Report — posture across identity, devices, info, apps</a:t>
                      </a:r>
                    </a:p>
                  </a:txBody>
                  <a:tcPr marL="73152" marR="73152"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864462"/>
                  </a:ext>
                </a:extLst>
              </a:tr>
              <a:tr h="128289">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Device Exposure Score in Microsoft 365 Lighthouse — CSP/MSP cross-tenant view</a:t>
                      </a:r>
                    </a:p>
                  </a:txBody>
                  <a:tcPr marL="73152" marR="73152"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5801907"/>
                  </a:ext>
                </a:extLst>
              </a:tr>
              <a:tr h="226245">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Common: Secure Score, Copilot Chat (AI), Power Apps/Automate/Dataverse for Teams, Viva (Connections, Insights, Engage, Learning)</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133312109"/>
                  </a:ext>
                </a:extLst>
              </a:tr>
              <a:tr h="149572">
                <a:tc>
                  <a:txBody>
                    <a:bodyPr/>
                    <a:lstStyle/>
                    <a:p>
                      <a:pPr algn="l" fontAlgn="ctr">
                        <a:buNone/>
                      </a:pPr>
                      <a:r>
                        <a:rPr lang="en-US" sz="650" b="0" i="0" u="none" strike="noStrike" dirty="0">
                          <a:solidFill>
                            <a:srgbClr val="000000"/>
                          </a:solidFill>
                          <a:effectLst/>
                          <a:latin typeface="Segoe UI"/>
                          <a:cs typeface="Segoe UI"/>
                        </a:rPr>
                        <a:t>Inbox &amp; </a:t>
                      </a:r>
                      <a:r>
                        <a:rPr lang="en-US" sz="650" b="0" i="0" u="none" strike="noStrike" dirty="0" err="1">
                          <a:solidFill>
                            <a:srgbClr val="000000"/>
                          </a:solidFill>
                          <a:effectLst/>
                          <a:latin typeface="Segoe UI"/>
                          <a:cs typeface="Segoe UI"/>
                        </a:rPr>
                        <a:t>Calender</a:t>
                      </a:r>
                      <a:r>
                        <a:rPr lang="en-US" sz="650" b="0" i="0" u="none" strike="noStrike" dirty="0">
                          <a:solidFill>
                            <a:srgbClr val="000000"/>
                          </a:solidFill>
                          <a:effectLst/>
                          <a:latin typeface="Segoe UI"/>
                          <a:cs typeface="Segoe UI"/>
                        </a:rPr>
                        <a:t> awareness with Copilot Chat enhancements </a:t>
                      </a:r>
                    </a:p>
                  </a:txBody>
                  <a:tcPr marL="73152" marR="73152"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8669115"/>
                  </a:ext>
                </a:extLst>
              </a:tr>
              <a:tr h="152628">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7957609"/>
                  </a:ext>
                </a:extLst>
              </a:tr>
            </a:tbl>
          </a:graphicData>
        </a:graphic>
      </p:graphicFrame>
      <p:sp>
        <p:nvSpPr>
          <p:cNvPr id="7" name="Incremental capabilities from Current SKU to Target SKU">
            <a:extLst>
              <a:ext uri="{FF2B5EF4-FFF2-40B4-BE49-F238E27FC236}">
                <a16:creationId xmlns:a16="http://schemas.microsoft.com/office/drawing/2014/main" id="{2A2760CD-5170-408A-9A92-34B0FFB1D18F}"/>
              </a:ext>
            </a:extLst>
          </p:cNvPr>
          <p:cNvSpPr/>
          <p:nvPr/>
        </p:nvSpPr>
        <p:spPr>
          <a:xfrm>
            <a:off x="377826" y="256545"/>
            <a:ext cx="4895849" cy="470898"/>
          </a:xfrm>
          <a:prstGeom prst="rect">
            <a:avLst/>
          </a:prstGeom>
          <a:noFill/>
          <a:ln/>
        </p:spPr>
        <p:txBody>
          <a:bodyPr wrap="square" lIns="0" tIns="0" rIns="0" bIns="0" rtlCol="0" anchor="t" anchorCtr="0">
            <a:spAutoFit/>
          </a:bodyPr>
          <a:lstStyle/>
          <a:p>
            <a:pPr defTabSz="910968">
              <a:lnSpc>
                <a:spcPct val="85000"/>
              </a:lnSpc>
              <a:defRPr/>
            </a:pPr>
            <a:r>
              <a:rPr lang="en-US">
                <a:solidFill>
                  <a:srgbClr val="B740C5"/>
                </a:solidFill>
                <a:latin typeface="Segoe UI Semibold"/>
                <a:cs typeface="Segoe UI Semibold"/>
              </a:rPr>
              <a:t>Business Basic vs Business Premium + Defender Suite for Business Premium</a:t>
            </a:r>
          </a:p>
        </p:txBody>
      </p:sp>
    </p:spTree>
    <p:extLst>
      <p:ext uri="{BB962C8B-B14F-4D97-AF65-F5344CB8AC3E}">
        <p14:creationId xmlns:p14="http://schemas.microsoft.com/office/powerpoint/2010/main" val="4022100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