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29.xml" ContentType="application/vnd.openxmlformats-officedocument.presentationml.slideLayout+xml"/>
  <Override PartName="/ppt/slideMasters/slideMaster6.xml" ContentType="application/vnd.openxmlformats-officedocument.presentationml.slideMaster+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slideLayouts/slideLayout3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5" r:id="rId17"/>
    <p:sldMasterId id="2147483766" r:id="rId18"/>
    <p:sldMasterId id="2147483767" r:id="rId19"/>
    <p:sldMasterId id="2147483768" r:id="rId20"/>
    <p:sldMasterId id="2147483769" r:id="rId21"/>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6672D-357E-AE09-D76A-014F0C627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32C0C-3521-A55B-026E-F6FFB5301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7E4CC-0EBA-7350-C27A-39771D1BD90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D91036C-4868-F8EA-7F02-3A83D0A2A247}"/>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798207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A722-ED30-BC52-7C61-7FAE2E83F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24E27-ADDD-BA01-D929-49AFC2C55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C8893-18A0-FCBB-C4B1-A8A9C1CAC68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505BE07-2F50-DBFF-E35C-ADCBDCB36C11}"/>
              </a:ext>
            </a:extLst>
          </p:cNvPr>
          <p:cNvSpPr>
            <a:spLocks noGrp="1"/>
          </p:cNvSpPr>
          <p:nvPr>
            <p:ph type="sldNum" sz="quarter" idx="5"/>
          </p:nvPr>
        </p:nvSpPr>
        <p:spPr/>
        <p:txBody>
          <a:bodyPr/>
          <a:lstStyle/>
          <a:p>
            <a:fld id="{7034A72A-6E2F-4343-B7FF-0EAC6B5BD073}" type="slidenum">
              <a:rPr lang="en-IN" smtClean="0"/>
              <a:t>2</a:t>
            </a:fld>
            <a:endParaRPr lang="en-IN"/>
          </a:p>
        </p:txBody>
      </p:sp>
    </p:spTree>
    <p:extLst>
      <p:ext uri="{BB962C8B-B14F-4D97-AF65-F5344CB8AC3E}">
        <p14:creationId xmlns:p14="http://schemas.microsoft.com/office/powerpoint/2010/main" val="84023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7.xml"/><Relationship Id="rId1" Type="http://schemas.openxmlformats.org/officeDocument/2006/relationships/slideLayout" Target="../slideLayouts/slideLayout25.xml"/><Relationship Id="rId5" Type="http://schemas.openxmlformats.org/officeDocument/2006/relationships/theme" Target="../theme/theme6.xml"/><Relationship Id="rId4" Type="http://schemas.openxmlformats.org/officeDocument/2006/relationships/slideLayout" Target="../slideLayouts/slideLayout2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31.xml"/><Relationship Id="rId1" Type="http://schemas.openxmlformats.org/officeDocument/2006/relationships/slideLayout" Target="../slideLayouts/slideLayout29.xml"/><Relationship Id="rId5" Type="http://schemas.openxmlformats.org/officeDocument/2006/relationships/theme" Target="../theme/theme7.xml"/><Relationship Id="rId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90E49530-003F-7A9B-9E60-5EDE4A6239BD}"/>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9F5867F4-BA91-BF36-7360-B2321D8FBF5A}"/>
              </a:ext>
            </a:extLst>
          </p:cNvPr>
          <p:cNvSpPr>
            <a:spLocks/>
          </p:cNvSpPr>
          <p:nvPr/>
        </p:nvSpPr>
        <p:spPr bwMode="auto">
          <a:xfrm>
            <a:off x="377825" y="885947"/>
            <a:ext cx="4895850" cy="696900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CAE529FA-3ADB-F704-2CB4-7E60D339C6DF}"/>
              </a:ext>
            </a:extLst>
          </p:cNvPr>
          <p:cNvSpPr/>
          <p:nvPr/>
        </p:nvSpPr>
        <p:spPr bwMode="auto">
          <a:xfrm flipH="1">
            <a:off x="377809" y="885948"/>
            <a:ext cx="4895851" cy="378972"/>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6" name="Table 0">
            <a:extLst>
              <a:ext uri="{FF2B5EF4-FFF2-40B4-BE49-F238E27FC236}">
                <a16:creationId xmlns:a16="http://schemas.microsoft.com/office/drawing/2014/main" id="{5E3B4D72-8ECF-FC71-F452-7A93BBB0309B}"/>
              </a:ext>
            </a:extLst>
          </p:cNvPr>
          <p:cNvGraphicFramePr>
            <a:graphicFrameLocks noGrp="1"/>
          </p:cNvGraphicFramePr>
          <p:nvPr>
            <p:extLst>
              <p:ext uri="{D42A27DB-BD31-4B8C-83A1-F6EECF244321}">
                <p14:modId xmlns:p14="http://schemas.microsoft.com/office/powerpoint/2010/main" val="424205249"/>
              </p:ext>
            </p:extLst>
          </p:nvPr>
        </p:nvGraphicFramePr>
        <p:xfrm>
          <a:off x="377826" y="885943"/>
          <a:ext cx="4895850" cy="7017836"/>
        </p:xfrm>
        <a:graphic>
          <a:graphicData uri="http://schemas.openxmlformats.org/drawingml/2006/table">
            <a:tbl>
              <a:tblPr>
                <a:effectLst/>
                <a:tableStyleId>{2D5ABB26-0587-4C30-8999-92F81FD0307C}</a:tableStyleId>
              </a:tblPr>
              <a:tblGrid>
                <a:gridCol w="3218814">
                  <a:extLst>
                    <a:ext uri="{9D8B030D-6E8A-4147-A177-3AD203B41FA5}">
                      <a16:colId xmlns:a16="http://schemas.microsoft.com/office/drawing/2014/main" val="20000"/>
                    </a:ext>
                  </a:extLst>
                </a:gridCol>
                <a:gridCol w="471904">
                  <a:extLst>
                    <a:ext uri="{9D8B030D-6E8A-4147-A177-3AD203B41FA5}">
                      <a16:colId xmlns:a16="http://schemas.microsoft.com/office/drawing/2014/main" val="3158391110"/>
                    </a:ext>
                  </a:extLst>
                </a:gridCol>
                <a:gridCol w="1205132">
                  <a:extLst>
                    <a:ext uri="{9D8B030D-6E8A-4147-A177-3AD203B41FA5}">
                      <a16:colId xmlns:a16="http://schemas.microsoft.com/office/drawing/2014/main" val="20001"/>
                    </a:ext>
                  </a:extLst>
                </a:gridCol>
              </a:tblGrid>
              <a:tr h="37030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72000" marR="72000" marT="0" marB="0" anchor="ctr">
                    <a:lnB w="6350" cap="flat" cmpd="sng" algn="ctr">
                      <a:solidFill>
                        <a:schemeClr val="bg1">
                          <a:lumMod val="85000"/>
                        </a:schemeClr>
                      </a:solidFill>
                      <a:prstDash val="solid"/>
                      <a:round/>
                      <a:headEnd type="none" w="med" len="med"/>
                      <a:tailEnd type="none" w="med" len="med"/>
                    </a:lnB>
                  </a:tcPr>
                </a:tc>
                <a:tc>
                  <a:txBody>
                    <a:body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 Basic</a:t>
                      </a:r>
                    </a:p>
                  </a:txBody>
                  <a:tcPr marL="36000" marR="36000" marT="0"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rPr>
                        <a:t>Business Premium</a:t>
                      </a: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 Defender &amp; Purview Suite for </a:t>
                      </a: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rPr>
                        <a:t>Business Premium</a:t>
                      </a:r>
                      <a:endPar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Productivity and collaboration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4258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 and mobile versions of Word, Excel, PowerPoint, Outlook (100 GB); Teams (chat, call, meet); OneDrive (1 TB); SharePoint; Forms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2895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Desktop versions of Word, Excel, PowerPoint, Outlook, OneNote, and Access (PC) — install on up to 5 PC/Mac + 5 tablets + 5 mobile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4"/>
                  </a:ext>
                </a:extLst>
              </a:tr>
              <a:tr h="25066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Loop (collaborative workspaces), Clipchamp (video editing), and webinar hosting with attendee registration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3239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Advanced grammar and style suggestions with Microsoft Editor (premium features)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Device management and Windows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07"/>
                  </a:ext>
                </a:extLst>
              </a:tr>
              <a:tr h="26249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Intune Plan 1: Endpoint management, security policies, and app deployment across iOS, Android, Windows, macOS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8"/>
                  </a:ext>
                </a:extLst>
              </a:tr>
              <a:tr h="23718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Windows Autopilot (zero-touch device setup), Windows Autopatch (automated updates), MAM, Endpoint Analytics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9"/>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Windows 11 Pro upgrade, Azure Virtual Desktop, Shared Computer Activation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44747">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Monthly Security Summary Report — posture across identity, devices, info, apps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3152"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87579711"/>
                  </a:ext>
                </a:extLst>
              </a:tr>
              <a:tr h="144747">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Device Exposure Score in Microsoft 365 Lighthouse — CSP/MSP cross-tenant view</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3152"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4208952"/>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and access management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1"/>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Entra ID (Free): Basic SSO and MFA for cloud apps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2"/>
                  </a:ext>
                </a:extLst>
              </a:tr>
              <a:tr h="22895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P2: Risk-based Conditional Access with real-time sign-in and user risk detection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2334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Protection: ML-driven anomaly detection for compromised credentials and suspicious sign-ins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424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Governance: Access reviews, entitlement management, and Privileged Identity Management (PIM)</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threat detection and response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7"/>
                  </a:ext>
                </a:extLst>
              </a:tr>
              <a:tr h="13595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Identity: Monitor on-premises AD and hybrid identity for compromise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8"/>
                  </a:ext>
                </a:extLst>
              </a:tr>
              <a:tr h="23467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Detect lateral movement (pass-the-hash, pass-the-ticket, golden ticket) and credential theft attacks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9"/>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Endpoint security</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0"/>
                  </a:ext>
                </a:extLst>
              </a:tr>
              <a:tr h="26519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Business: Next-gen antivirus, EDR, automated remediation, threat and vulnerability management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1"/>
                  </a:ext>
                </a:extLst>
              </a:tr>
              <a:tr h="24477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Endpoint P2: Advanced threat hunting, custom detection rules, KQL queries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2"/>
                  </a:ext>
                </a:extLst>
              </a:tr>
              <a:tr h="23586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Live response, 6-month data retention and advanced behavioral analytics for APT detection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Email and collaboration security</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4"/>
                  </a:ext>
                </a:extLst>
              </a:tr>
              <a:tr h="14408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Basic anti-spam and anti-malware filtering via Exchange Online Protection (EOP)</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7885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Office 365 P1: Safe Links, Safe Attachments, anti-phishing policies across email, Teams, SharePoint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6"/>
                  </a:ext>
                </a:extLst>
              </a:tr>
              <a:tr h="25439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Office 365 P2: Automated Investigation and Response (AIR), Attack Simulation Training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7"/>
                  </a:ext>
                </a:extLst>
              </a:tr>
              <a:tr h="24950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Threat Explorer, Threat Trackers, advanced hunting across email entities with campaign views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8"/>
                  </a:ext>
                </a:extLst>
              </a:tr>
              <a:tr h="249504">
                <a:tc>
                  <a:txBody>
                    <a:bodyPr/>
                    <a:lstStyle/>
                    <a:p>
                      <a:pPr lvl="0" algn="l">
                        <a:buNone/>
                      </a:pPr>
                      <a:r>
                        <a:rPr lang="en-US" sz="650" b="0" i="0" u="none" strike="noStrike" dirty="0">
                          <a:solidFill>
                            <a:srgbClr val="000000"/>
                          </a:solidFill>
                          <a:effectLst/>
                          <a:latin typeface="Segoe UI"/>
                          <a:cs typeface="Segoe UI"/>
                        </a:rPr>
                        <a:t>URL time-of-click protection (</a:t>
                      </a:r>
                      <a:r>
                        <a:rPr lang="en-US" sz="650" b="0" i="0" u="none" strike="noStrike" err="1">
                          <a:solidFill>
                            <a:srgbClr val="000000"/>
                          </a:solidFill>
                          <a:effectLst/>
                          <a:latin typeface="Segoe UI"/>
                          <a:cs typeface="Segoe UI"/>
                        </a:rPr>
                        <a:t>SafeLinks</a:t>
                      </a:r>
                      <a:r>
                        <a:rPr lang="en-US" sz="650" b="0" i="0" u="none" strike="noStrike" dirty="0">
                          <a:solidFill>
                            <a:srgbClr val="000000"/>
                          </a:solidFill>
                          <a:effectLst/>
                          <a:latin typeface="Segoe UI"/>
                          <a:cs typeface="Segoe UI"/>
                        </a:rPr>
                        <a:t> Lite) — re-checks links at moment of click</a:t>
                      </a:r>
                      <a:endParaRPr lang="en-US">
                        <a:sym typeface=""/>
                      </a:endParaRP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00940250"/>
                  </a:ext>
                </a:extLst>
              </a:tr>
              <a:tr h="1447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Cloud application, IoT and Unified XDR</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23684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Cloud Apps: Discover/control shadow IT across 31,000+ cloud and AI apps with session governance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183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IoT (Enterprise IoT): Continuous asset discovery and threat detection for connected devices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24821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XDR: Unified incident correlation, automatic attack disruption, and cross-domain advanced hunting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bl>
          </a:graphicData>
        </a:graphic>
      </p:graphicFrame>
      <p:sp>
        <p:nvSpPr>
          <p:cNvPr id="7" name="Incremental capabilities from Current SKU to Target SKU">
            <a:extLst>
              <a:ext uri="{FF2B5EF4-FFF2-40B4-BE49-F238E27FC236}">
                <a16:creationId xmlns:a16="http://schemas.microsoft.com/office/drawing/2014/main" id="{C59477DA-FB4A-3A17-594A-3E2828B6C023}"/>
              </a:ext>
            </a:extLst>
          </p:cNvPr>
          <p:cNvSpPr/>
          <p:nvPr/>
        </p:nvSpPr>
        <p:spPr>
          <a:xfrm>
            <a:off x="377826" y="281945"/>
            <a:ext cx="5036385"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Basic vs Business Premium + Defender Suite + Purview Suite for Business Premium</a:t>
            </a:r>
          </a:p>
        </p:txBody>
      </p:sp>
    </p:spTree>
    <p:extLst>
      <p:ext uri="{BB962C8B-B14F-4D97-AF65-F5344CB8AC3E}">
        <p14:creationId xmlns:p14="http://schemas.microsoft.com/office/powerpoint/2010/main" val="1298678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154DA86C-9812-61FD-C116-144F5741CA2A}"/>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82678507-997D-319C-EDD2-27137CC61E42}"/>
              </a:ext>
            </a:extLst>
          </p:cNvPr>
          <p:cNvSpPr>
            <a:spLocks/>
          </p:cNvSpPr>
          <p:nvPr/>
        </p:nvSpPr>
        <p:spPr bwMode="auto">
          <a:xfrm>
            <a:off x="377808" y="896532"/>
            <a:ext cx="4895850" cy="3543388"/>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3678D041-0B2C-2AE8-AF4C-C94646DD6858}"/>
              </a:ext>
            </a:extLst>
          </p:cNvPr>
          <p:cNvSpPr/>
          <p:nvPr/>
        </p:nvSpPr>
        <p:spPr bwMode="auto">
          <a:xfrm flipH="1">
            <a:off x="377809" y="885948"/>
            <a:ext cx="4895851" cy="378972"/>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6" name="Table 0">
            <a:extLst>
              <a:ext uri="{FF2B5EF4-FFF2-40B4-BE49-F238E27FC236}">
                <a16:creationId xmlns:a16="http://schemas.microsoft.com/office/drawing/2014/main" id="{B895A84E-A541-A841-386E-2842E038E3B3}"/>
              </a:ext>
            </a:extLst>
          </p:cNvPr>
          <p:cNvGraphicFramePr>
            <a:graphicFrameLocks noGrp="1"/>
          </p:cNvGraphicFramePr>
          <p:nvPr>
            <p:extLst>
              <p:ext uri="{D42A27DB-BD31-4B8C-83A1-F6EECF244321}">
                <p14:modId xmlns:p14="http://schemas.microsoft.com/office/powerpoint/2010/main" val="457083465"/>
              </p:ext>
            </p:extLst>
          </p:nvPr>
        </p:nvGraphicFramePr>
        <p:xfrm>
          <a:off x="377810" y="880442"/>
          <a:ext cx="4895850" cy="3496085"/>
        </p:xfrm>
        <a:graphic>
          <a:graphicData uri="http://schemas.openxmlformats.org/drawingml/2006/table">
            <a:tbl>
              <a:tblPr>
                <a:effectLst/>
                <a:tableStyleId>{2D5ABB26-0587-4C30-8999-92F81FD0307C}</a:tableStyleId>
              </a:tblPr>
              <a:tblGrid>
                <a:gridCol w="3218814">
                  <a:extLst>
                    <a:ext uri="{9D8B030D-6E8A-4147-A177-3AD203B41FA5}">
                      <a16:colId xmlns:a16="http://schemas.microsoft.com/office/drawing/2014/main" val="20000"/>
                    </a:ext>
                  </a:extLst>
                </a:gridCol>
                <a:gridCol w="471904">
                  <a:extLst>
                    <a:ext uri="{9D8B030D-6E8A-4147-A177-3AD203B41FA5}">
                      <a16:colId xmlns:a16="http://schemas.microsoft.com/office/drawing/2014/main" val="3158391110"/>
                    </a:ext>
                  </a:extLst>
                </a:gridCol>
                <a:gridCol w="1205132">
                  <a:extLst>
                    <a:ext uri="{9D8B030D-6E8A-4147-A177-3AD203B41FA5}">
                      <a16:colId xmlns:a16="http://schemas.microsoft.com/office/drawing/2014/main" val="20001"/>
                    </a:ext>
                  </a:extLst>
                </a:gridCol>
              </a:tblGrid>
              <a:tr h="38532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72000" marR="72000" marT="0" marB="0" anchor="ctr">
                    <a:lnB w="6350" cap="flat" cmpd="sng" algn="ctr">
                      <a:solidFill>
                        <a:schemeClr val="bg1">
                          <a:lumMod val="85000"/>
                        </a:schemeClr>
                      </a:solidFill>
                      <a:prstDash val="solid"/>
                      <a:round/>
                      <a:headEnd type="none" w="med" len="med"/>
                      <a:tailEnd type="none" w="med" len="med"/>
                    </a:lnB>
                  </a:tcPr>
                </a:tc>
                <a:tc>
                  <a:txBody>
                    <a:body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 Basic</a:t>
                      </a:r>
                    </a:p>
                  </a:txBody>
                  <a:tcPr marL="36000" marR="36000" marT="0"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rPr>
                        <a:t>Business Premium</a:t>
                      </a: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 Defender &amp; Purview Suite for </a:t>
                      </a:r>
                      <a:r>
                        <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rPr>
                        <a:t>Business Premium</a:t>
                      </a:r>
                      <a:endParaRPr lang="en-US" sz="700" b="0"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3463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Information Protection, Classification and DLP</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753087951"/>
                  </a:ext>
                </a:extLst>
              </a:tr>
              <a:tr h="2844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IP P1: Manual sensitivity labels, basic classification; Purview DLP for email/files via Exchange/SharePoint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54912338"/>
                  </a:ext>
                </a:extLst>
              </a:tr>
              <a:tr h="26987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IP P2: Auto labeling, trainable classifiers (ML), EDM, data discovery; Unified/Endpoint/Adaptive DLP across M365</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8819017"/>
                  </a:ext>
                </a:extLst>
              </a:tr>
              <a:tr h="28257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Insider Risk Management: Detect data theft, policy violations with privacy analytics + Adaptive Protection for DLP</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49834599"/>
                  </a:ext>
                </a:extLst>
              </a:tr>
              <a:tr h="18076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11636259"/>
                  </a:ext>
                </a:extLst>
              </a:tr>
              <a:tr h="20320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80110116"/>
                  </a:ext>
                </a:extLst>
              </a:tr>
              <a:tr h="22352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2611584"/>
                  </a:ext>
                </a:extLst>
              </a:tr>
              <a:tr h="134635">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eDiscovery, audit and data lifecycle</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endParaRPr lang="en-IN"/>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2318161446"/>
                  </a:ext>
                </a:extLst>
              </a:tr>
              <a:tr h="17651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Audit (Standard): Log and search audited user/admin activities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2409275"/>
                  </a:ext>
                </a:extLst>
              </a:tr>
              <a:tr h="27622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eDiscovery (Premium): Legal hold, review sets, predictive coding; Audit (Premium): 10-year retention, forensic insights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23397066"/>
                  </a:ext>
                </a:extLst>
              </a:tr>
              <a:tr h="27622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Lifecycle Management: Automated retention/deletion, records management, event-based triggers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22757167"/>
                  </a:ext>
                </a:extLst>
              </a:tr>
              <a:tr h="135269">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rPr>
                        <a:t>Copilot Chat</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311771">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21087">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7" name="Incremental capabilities from Current SKU to Target SKU">
            <a:extLst>
              <a:ext uri="{FF2B5EF4-FFF2-40B4-BE49-F238E27FC236}">
                <a16:creationId xmlns:a16="http://schemas.microsoft.com/office/drawing/2014/main" id="{D45E92C4-B71C-E11C-BBD2-C4A654BE4D7F}"/>
              </a:ext>
            </a:extLst>
          </p:cNvPr>
          <p:cNvSpPr/>
          <p:nvPr/>
        </p:nvSpPr>
        <p:spPr>
          <a:xfrm>
            <a:off x="377826" y="281945"/>
            <a:ext cx="5036385"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Basic vs Business Premium + Defender Suite + Purview Suite for Business Premium</a:t>
            </a:r>
          </a:p>
        </p:txBody>
      </p:sp>
    </p:spTree>
    <p:extLst>
      <p:ext uri="{BB962C8B-B14F-4D97-AF65-F5344CB8AC3E}">
        <p14:creationId xmlns:p14="http://schemas.microsoft.com/office/powerpoint/2010/main" val="236140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