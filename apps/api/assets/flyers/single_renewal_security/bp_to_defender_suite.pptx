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8.xml" ContentType="application/vnd.openxmlformats-officedocument.presentationml.slideLayout+xml"/>
  <Override PartName="/ppt/slideMasters/slideMaster5.xml" ContentType="application/vnd.openxmlformats-officedocument.presentationml.slideMaster+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4" r:id="rId15"/>
    <p:sldMasterId id="2147483755" r:id="rId16"/>
    <p:sldMasterId id="2147483756" r:id="rId17"/>
    <p:sldMasterId id="2147483757"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55C22-1068-6C9E-3308-80DE976D5928}" v="1" dt="2026-04-11T11:24:50.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13655C22-1068-6C9E-3308-80DE976D5928}"/>
    <pc:docChg chg="mod modSld modMainMaster setSldSz">
      <pc:chgData name="Seema Kapri" userId="S::seema.kapri@hsv.digital::3468d2f6-a5eb-4e01-882c-f62721c4c7bf" providerId="AD" clId="Web-{13655C22-1068-6C9E-3308-80DE976D5928}" dt="2026-04-11T11:24:50.832" v="0"/>
      <pc:docMkLst>
        <pc:docMk/>
      </pc:docMkLst>
      <pc:sldChg chg="modSp">
        <pc:chgData name="Seema Kapri" userId="S::seema.kapri@hsv.digital::3468d2f6-a5eb-4e01-882c-f62721c4c7bf" providerId="AD" clId="Web-{13655C22-1068-6C9E-3308-80DE976D5928}" dt="2026-04-11T11:24:50.832" v="0"/>
        <pc:sldMkLst>
          <pc:docMk/>
          <pc:sldMk cId="4067805866" sldId="2147470016"/>
        </pc:sldMkLst>
        <pc:spChg chg="mod">
          <ac:chgData name="Seema Kapri" userId="S::seema.kapri@hsv.digital::3468d2f6-a5eb-4e01-882c-f62721c4c7bf" providerId="AD" clId="Web-{13655C22-1068-6C9E-3308-80DE976D5928}" dt="2026-04-11T11:24:50.832" v="0"/>
          <ac:spMkLst>
            <pc:docMk/>
            <pc:sldMk cId="4067805866" sldId="2147470016"/>
            <ac:spMk id="5" creationId="{CE6CFC70-06C7-C291-DA51-1D3359F2C52E}"/>
          </ac:spMkLst>
        </pc:spChg>
        <pc:spChg chg="mod">
          <ac:chgData name="Seema Kapri" userId="S::seema.kapri@hsv.digital::3468d2f6-a5eb-4e01-882c-f62721c4c7bf" providerId="AD" clId="Web-{13655C22-1068-6C9E-3308-80DE976D5928}" dt="2026-04-11T11:24:50.832" v="0"/>
          <ac:spMkLst>
            <pc:docMk/>
            <pc:sldMk cId="4067805866" sldId="2147470016"/>
            <ac:spMk id="15" creationId="{FDC09689-9230-8774-332C-E0502BB2667B}"/>
          </ac:spMkLst>
        </pc:spChg>
        <pc:spChg chg="mod">
          <ac:chgData name="Seema Kapri" userId="S::seema.kapri@hsv.digital::3468d2f6-a5eb-4e01-882c-f62721c4c7bf" providerId="AD" clId="Web-{13655C22-1068-6C9E-3308-80DE976D5928}" dt="2026-04-11T11:24:50.832" v="0"/>
          <ac:spMkLst>
            <pc:docMk/>
            <pc:sldMk cId="4067805866" sldId="2147470016"/>
            <ac:spMk id="17" creationId="{C205F477-06BB-0464-B7D7-F14F37D38EC1}"/>
          </ac:spMkLst>
        </pc:spChg>
        <pc:spChg chg="mod">
          <ac:chgData name="Seema Kapri" userId="S::seema.kapri@hsv.digital::3468d2f6-a5eb-4e01-882c-f62721c4c7bf" providerId="AD" clId="Web-{13655C22-1068-6C9E-3308-80DE976D5928}" dt="2026-04-11T11:24:50.832" v="0"/>
          <ac:spMkLst>
            <pc:docMk/>
            <pc:sldMk cId="4067805866" sldId="2147470016"/>
            <ac:spMk id="19" creationId="{44D2AC6F-4F84-F587-BEF3-F143A00E6D9B}"/>
          </ac:spMkLst>
        </pc:spChg>
        <pc:spChg chg="mod">
          <ac:chgData name="Seema Kapri" userId="S::seema.kapri@hsv.digital::3468d2f6-a5eb-4e01-882c-f62721c4c7bf" providerId="AD" clId="Web-{13655C22-1068-6C9E-3308-80DE976D5928}" dt="2026-04-11T11:24:50.832" v="0"/>
          <ac:spMkLst>
            <pc:docMk/>
            <pc:sldMk cId="4067805866" sldId="2147470016"/>
            <ac:spMk id="25" creationId="{8ACFB9E0-57EC-A667-BD67-1FCD18922E87}"/>
          </ac:spMkLst>
        </pc:spChg>
        <pc:spChg chg="mod">
          <ac:chgData name="Seema Kapri" userId="S::seema.kapri@hsv.digital::3468d2f6-a5eb-4e01-882c-f62721c4c7bf" providerId="AD" clId="Web-{13655C22-1068-6C9E-3308-80DE976D5928}" dt="2026-04-11T11:24:50.832" v="0"/>
          <ac:spMkLst>
            <pc:docMk/>
            <pc:sldMk cId="4067805866" sldId="2147470016"/>
            <ac:spMk id="31" creationId="{7619480A-D377-F04B-D795-8C3BA6F6AE38}"/>
          </ac:spMkLst>
        </pc:spChg>
        <pc:spChg chg="mod">
          <ac:chgData name="Seema Kapri" userId="S::seema.kapri@hsv.digital::3468d2f6-a5eb-4e01-882c-f62721c4c7bf" providerId="AD" clId="Web-{13655C22-1068-6C9E-3308-80DE976D5928}" dt="2026-04-11T11:24:50.832" v="0"/>
          <ac:spMkLst>
            <pc:docMk/>
            <pc:sldMk cId="4067805866" sldId="2147470016"/>
            <ac:spMk id="37" creationId="{2D7D97C9-E218-702D-C573-EC595E24D206}"/>
          </ac:spMkLst>
        </pc:spChg>
        <pc:spChg chg="mod">
          <ac:chgData name="Seema Kapri" userId="S::seema.kapri@hsv.digital::3468d2f6-a5eb-4e01-882c-f62721c4c7bf" providerId="AD" clId="Web-{13655C22-1068-6C9E-3308-80DE976D5928}" dt="2026-04-11T11:24:50.832" v="0"/>
          <ac:spMkLst>
            <pc:docMk/>
            <pc:sldMk cId="4067805866" sldId="2147470016"/>
            <ac:spMk id="38" creationId="{04B475BC-BA57-5216-CE2C-96C8D24A3BE0}"/>
          </ac:spMkLst>
        </pc:spChg>
        <pc:spChg chg="mod">
          <ac:chgData name="Seema Kapri" userId="S::seema.kapri@hsv.digital::3468d2f6-a5eb-4e01-882c-f62721c4c7bf" providerId="AD" clId="Web-{13655C22-1068-6C9E-3308-80DE976D5928}" dt="2026-04-11T11:24:50.832" v="0"/>
          <ac:spMkLst>
            <pc:docMk/>
            <pc:sldMk cId="4067805866" sldId="2147470016"/>
            <ac:spMk id="65" creationId="{9AD2FB6B-6EDB-68E4-2601-4F9CF0B3A50C}"/>
          </ac:spMkLst>
        </pc:spChg>
        <pc:spChg chg="mod">
          <ac:chgData name="Seema Kapri" userId="S::seema.kapri@hsv.digital::3468d2f6-a5eb-4e01-882c-f62721c4c7bf" providerId="AD" clId="Web-{13655C22-1068-6C9E-3308-80DE976D5928}" dt="2026-04-11T11:24:50.832" v="0"/>
          <ac:spMkLst>
            <pc:docMk/>
            <pc:sldMk cId="4067805866" sldId="2147470016"/>
            <ac:spMk id="66" creationId="{20E541FA-397B-06A1-8116-BCFA09464965}"/>
          </ac:spMkLst>
        </pc:spChg>
      </pc:sldChg>
      <pc:sldMasterChg chg="modSp modSldLayout">
        <pc:chgData name="Seema Kapri" userId="S::seema.kapri@hsv.digital::3468d2f6-a5eb-4e01-882c-f62721c4c7bf" providerId="AD" clId="Web-{13655C22-1068-6C9E-3308-80DE976D5928}" dt="2026-04-11T11:24:50.832" v="0"/>
        <pc:sldMasterMkLst>
          <pc:docMk/>
          <pc:sldMasterMk cId="1122647173" sldId="2147483732"/>
        </pc:sldMasterMkLst>
        <pc:spChg chg="mod">
          <ac:chgData name="Seema Kapri" userId="S::seema.kapri@hsv.digital::3468d2f6-a5eb-4e01-882c-f62721c4c7bf" providerId="AD" clId="Web-{13655C22-1068-6C9E-3308-80DE976D5928}" dt="2026-04-11T11:24:50.832" v="0"/>
          <ac:spMkLst>
            <pc:docMk/>
            <pc:sldMasterMk cId="1122647173" sldId="2147483732"/>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6" creationId="{00000000-0000-0000-0000-000000000000}"/>
          </ac:spMkLst>
        </pc:spChg>
        <pc:sldLayoutChg chg="modSp">
          <pc:chgData name="Seema Kapri" userId="S::seema.kapri@hsv.digital::3468d2f6-a5eb-4e01-882c-f62721c4c7bf" providerId="AD" clId="Web-{13655C22-1068-6C9E-3308-80DE976D5928}" dt="2026-04-11T11:24:50.832" v="0"/>
          <pc:sldLayoutMkLst>
            <pc:docMk/>
            <pc:sldMasterMk cId="1122647173" sldId="2147483732"/>
            <pc:sldLayoutMk cId="17524809" sldId="2147483733"/>
          </pc:sldLayoutMkLst>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092314792" sldId="2147483735"/>
          </pc:sldLayoutMkLst>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4580187" sldId="2147483736"/>
          </pc:sldLayoutMkLst>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880376873" sldId="2147483737"/>
          </pc:sldLayoutMkLst>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2752899885" sldId="2147483740"/>
          </pc:sldLayoutMkLst>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1722206160" sldId="2147483741"/>
          </pc:sldLayoutMkLst>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785386807" sldId="2147483743"/>
          </pc:sldLayoutMkLst>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EE892-4ADA-EAC8-8309-7365EF8F4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A4A5B-D23C-7D83-599B-E676645A3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5A2FF-A3CC-0D3B-8C7D-E81843F1DC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2F65245-73D4-2C3D-8091-A92D2C4E3A3C}"/>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2862141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6.xml"/><Relationship Id="rId1" Type="http://schemas.openxmlformats.org/officeDocument/2006/relationships/slideLayout" Target="../slideLayouts/slideLayout14.xml"/><Relationship Id="rId5" Type="http://schemas.openxmlformats.org/officeDocument/2006/relationships/theme" Target="../theme/theme5.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20.xml"/><Relationship Id="rId1" Type="http://schemas.openxmlformats.org/officeDocument/2006/relationships/slideLayout" Target="../slideLayouts/slideLayout18.xml"/><Relationship Id="rId5" Type="http://schemas.openxmlformats.org/officeDocument/2006/relationships/theme" Target="../theme/theme6.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32376" y="382837"/>
            <a:ext cx="5583573" cy="7563630"/>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28140" y="45091"/>
            <a:ext cx="5587808" cy="1396952"/>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98864" y="1689276"/>
            <a:ext cx="1447766" cy="2432742"/>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IN" sz="1436" err="1">
              <a:solidFill>
                <a:srgbClr val="C03BC4"/>
              </a:solidFill>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32375" y="45007"/>
            <a:ext cx="5583574" cy="1376136"/>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98864" y="589210"/>
            <a:ext cx="3913430" cy="55729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1315">
              <a:spcBef>
                <a:spcPts val="0"/>
              </a:spcBef>
            </a:pPr>
            <a:r>
              <a:rPr lang="en-US" sz="2012" dirty="0">
                <a:solidFill>
                  <a:schemeClr val="tx1">
                    <a:lumMod val="95000"/>
                    <a:lumOff val="5000"/>
                  </a:schemeClr>
                </a:solidFill>
                <a:latin typeface="Segoe Sans Display Semibold" pitchFamily="2" charset="0"/>
                <a:cs typeface="Segoe Sans Display Semibold" pitchFamily="2" charset="0"/>
              </a:rPr>
              <a:t>Microsoft Defender Suite </a:t>
            </a:r>
            <a:r>
              <a:rPr lang="en-US" sz="2012">
                <a:solidFill>
                  <a:schemeClr val="tx1">
                    <a:lumMod val="95000"/>
                    <a:lumOff val="5000"/>
                  </a:schemeClr>
                </a:solidFill>
                <a:latin typeface="Segoe Sans Display Semibold" pitchFamily="2" charset="0"/>
                <a:cs typeface="Segoe Sans Display Semibold" pitchFamily="2" charset="0"/>
              </a:rPr>
              <a:t>for Microsoft 365 Business Premium</a:t>
            </a:r>
            <a:endParaRPr lang="en-US" sz="2012" dirty="0">
              <a:solidFill>
                <a:schemeClr val="tx1">
                  <a:lumMod val="95000"/>
                  <a:lumOff val="5000"/>
                </a:schemeClr>
              </a:solidFill>
              <a:latin typeface="Segoe Sans Display Semibold" pitchFamily="2" charset="0"/>
              <a:cs typeface="Segoe Sans Display Semibold" pitchFamily="2" charset="0"/>
            </a:endParaRP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900924" y="1734566"/>
            <a:ext cx="3615737" cy="176903"/>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11">
              <a:defRPr/>
            </a:pPr>
            <a:r>
              <a:rPr lang="en-US" sz="1149">
                <a:solidFill>
                  <a:srgbClr val="C03BC4"/>
                </a:solidFill>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321732" y="269669"/>
            <a:ext cx="1300319" cy="164828"/>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903487" y="2000738"/>
            <a:ext cx="3418925" cy="2141612"/>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35">
              <a:lnSpc>
                <a:spcPts val="1006"/>
              </a:lnSpc>
              <a:spcAft>
                <a:spcPts val="862"/>
              </a:spcAft>
              <a:defRPr/>
            </a:pPr>
            <a:r>
              <a:rPr lang="en-US" sz="985">
                <a:solidFill>
                  <a:srgbClr val="000000"/>
                </a:solidFill>
                <a:latin typeface="Segoe Sans Display" pitchFamily="2" charset="0"/>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Zero Trust across your entire digital estate―</a:t>
            </a:r>
            <a:r>
              <a:rPr lang="en-US" sz="985">
                <a:solidFill>
                  <a:srgbClr val="000000"/>
                </a:solidFill>
                <a:latin typeface="Segoe Sans Display" pitchFamily="2" charset="0"/>
                <a:cs typeface="Segoe Sans Display" pitchFamily="2" charset="0"/>
              </a:rPr>
              <a:t>Assume breach, verify each request, and fully authenticate and authorize every request before granting access.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exposure management―</a:t>
            </a:r>
            <a:r>
              <a:rPr lang="en-US" sz="985">
                <a:solidFill>
                  <a:srgbClr val="000000"/>
                </a:solidFill>
                <a:latin typeface="Segoe Sans Display" pitchFamily="2" charset="0"/>
                <a:cs typeface="Segoe Sans Display" pitchFamily="2" charset="0"/>
              </a:rPr>
              <a:t>Continuously assess security posture, enable </a:t>
            </a:r>
            <a:r>
              <a:rPr lang="en-US" sz="985">
                <a:solidFill>
                  <a:srgbClr val="000000"/>
                </a:solidFill>
                <a:latin typeface="Segoe UI"/>
              </a:rPr>
              <a:t>proactive risk management and protection of assets.</a:t>
            </a:r>
            <a:endParaRPr lang="en-US" sz="985">
              <a:solidFill>
                <a:srgbClr val="000000"/>
              </a:solidFill>
              <a:latin typeface="Segoe Sans Display" pitchFamily="2" charset="0"/>
              <a:cs typeface="Segoe Sans Display" pitchFamily="2" charset="0"/>
            </a:endParaRP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security operations platform</a:t>
            </a:r>
            <a:r>
              <a:rPr lang="en-US" sz="985">
                <a:solidFill>
                  <a:srgbClr val="000000"/>
                </a:solidFill>
                <a:latin typeface="Segoe UI"/>
              </a:rPr>
              <a:t>―Leverage a single, integrated solution for end-to-end security operations, enhancing </a:t>
            </a:r>
            <a:r>
              <a:rPr lang="en-US" sz="985">
                <a:solidFill>
                  <a:srgbClr val="000000"/>
                </a:solidFill>
                <a:latin typeface="Segoe Sans Display" pitchFamily="2" charset="0"/>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309218" y="7635203"/>
            <a:ext cx="5038355" cy="99449"/>
          </a:xfrm>
          <a:prstGeom prst="rect">
            <a:avLst/>
          </a:prstGeom>
          <a:noFill/>
        </p:spPr>
        <p:txBody>
          <a:bodyPr wrap="square" lIns="0" tIns="0" rIns="0" bIns="0" rtlCol="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28468">
              <a:defRPr/>
            </a:pPr>
            <a:r>
              <a:rPr lang="en-US" sz="646" baseline="30000">
                <a:solidFill>
                  <a:srgbClr val="000000"/>
                </a:solidFill>
                <a:latin typeface="Segoe Sans Display" pitchFamily="2" charset="0"/>
                <a:cs typeface="Segoe Sans Display" pitchFamily="2" charset="0"/>
              </a:rPr>
              <a:t>1 </a:t>
            </a:r>
            <a:r>
              <a:rPr lang="en-US" sz="646">
                <a:solidFill>
                  <a:srgbClr val="000000"/>
                </a:solidFill>
                <a:latin typeface="Segoe Sans Text" pitchFamily="2" charset="0"/>
                <a:hlinkClick r:id="rId6"/>
              </a:rPr>
              <a:t>Source: Microsoft</a:t>
            </a:r>
            <a:r>
              <a:rPr lang="en-US" sz="646">
                <a:solidFill>
                  <a:srgbClr val="000000"/>
                </a:solidFill>
                <a:latin typeface="Segoe Sans Text" pitchFamily="2" charset="0"/>
              </a:rPr>
              <a:t> 	</a:t>
            </a:r>
            <a:r>
              <a:rPr lang="en-US" sz="646" baseline="30000">
                <a:solidFill>
                  <a:srgbClr val="000000"/>
                </a:solidFill>
                <a:latin typeface="Segoe Sans Display" pitchFamily="2" charset="0"/>
                <a:cs typeface="Segoe Sans Display" pitchFamily="2" charset="0"/>
              </a:rPr>
              <a:t>2 </a:t>
            </a:r>
            <a:r>
              <a:rPr lang="en-US" sz="646">
                <a:solidFill>
                  <a:srgbClr val="000000"/>
                </a:solidFill>
                <a:latin typeface="Segoe Sans Text" pitchFamily="2" charset="0"/>
              </a:rPr>
              <a:t>Source: </a:t>
            </a:r>
            <a:r>
              <a:rPr lang="en-US" sz="502">
                <a:solidFill>
                  <a:srgbClr val="000000"/>
                </a:solidFill>
                <a:latin typeface="Segoe Sans Text" pitchFamily="2" charset="0"/>
              </a:rPr>
              <a:t>IBM Cost of a Data Breach Report, IBM, p. 6​</a:t>
            </a:r>
            <a:endParaRPr lang="en-US" sz="646">
              <a:solidFill>
                <a:srgbClr val="000000"/>
              </a:solidFill>
              <a:latin typeface="Segoe UI" panose="020B0502040204020203" pitchFamily="34" charset="0"/>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415079" y="4260093"/>
            <a:ext cx="4823604" cy="262756"/>
          </a:xfrm>
          <a:prstGeom prst="rect">
            <a:avLst/>
          </a:prstGeom>
          <a:noFill/>
          <a:ln w="9525">
            <a:noFill/>
          </a:ln>
        </p:spPr>
        <p:txBody>
          <a:bodyPr vert="horz" wrap="square" lIns="65689" tIns="32845" rIns="65689" bIns="32845" rtlCol="0" anchor="ctr" anchorCtr="0">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11" fontAlgn="base">
              <a:spcAft>
                <a:spcPct val="0"/>
              </a:spcAft>
              <a:defRPr/>
            </a:pPr>
            <a:r>
              <a:rPr lang="en-US" sz="1149" spc="0">
                <a:ln>
                  <a:noFill/>
                </a:ln>
                <a:solidFill>
                  <a:srgbClr val="C03BC4"/>
                </a:solidFill>
                <a:latin typeface="Segoe Sans Display Semibold" pitchFamily="2" charset="0"/>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9886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19115"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3908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59621"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379872"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300321" y="5048578"/>
            <a:ext cx="965363"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99923" y="5423310"/>
            <a:ext cx="965363" cy="1689437"/>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Risk-based conditional   access and sign     -in assessment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risky sign-ins and user behavior anomalies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20573"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21488" y="5423312"/>
            <a:ext cx="983471" cy="1427109"/>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Threat and suspicious user activity detection</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Built-in response and automated playbooks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0540"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59701" y="5423310"/>
            <a:ext cx="965363" cy="1836478"/>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Industry-leading antimalware and conditional access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Endpoint security and EDR with advanced threat hunting</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61077" y="5048578"/>
            <a:ext cx="912811"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80240" y="5423311"/>
            <a:ext cx="912811" cy="1532292"/>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Advanced email and collaboration security with automated investigation   and response </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381329" y="5048578"/>
            <a:ext cx="738129"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397177" y="5423312"/>
            <a:ext cx="931068" cy="1563565"/>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“Shadow IT”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Uncovers configuration gaps and offers recommendations</a:t>
            </a:r>
          </a:p>
          <a:p>
            <a:pPr marL="66150" indent="-66150" algn="l" defTabSz="656911">
              <a:spcAft>
                <a:spcPts val="215"/>
              </a:spcAft>
              <a:buSzPct val="100000"/>
              <a:buFont typeface="Wingdings" panose="05000000000000000000" pitchFamily="2" charset="2"/>
              <a:buChar char=""/>
              <a:defRPr/>
            </a:pPr>
            <a:r>
              <a:rPr lang="en-US" sz="887" err="1">
                <a:solidFill>
                  <a:srgbClr val="000000">
                    <a:lumMod val="85000"/>
                    <a:lumOff val="15000"/>
                  </a:srgbClr>
                </a:solidFill>
              </a:rPr>
              <a:t>LoB</a:t>
            </a:r>
            <a:r>
              <a:rPr lang="en-US" sz="887">
                <a:solidFill>
                  <a:srgbClr val="000000">
                    <a:lumMod val="85000"/>
                    <a:lumOff val="15000"/>
                  </a:srgbClr>
                </a:solidFill>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68212" y="4743563"/>
            <a:ext cx="256282" cy="256281"/>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5572" tIns="18476" rIns="105572" bIns="19708"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35047" fontAlgn="base">
                <a:spcBef>
                  <a:spcPts val="1293"/>
                </a:spcBef>
                <a:spcAft>
                  <a:spcPts val="1293"/>
                </a:spcAft>
                <a:tabLst>
                  <a:tab pos="2659093" algn="l"/>
                </a:tabLst>
                <a:defRPr/>
              </a:pPr>
              <a:endParaRPr lang="en-US" sz="1293">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404641" y="4743563"/>
            <a:ext cx="256282" cy="256281"/>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19172" y="4743563"/>
            <a:ext cx="256282" cy="256281"/>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48301" y="4743563"/>
            <a:ext cx="256282" cy="256281"/>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62833" y="4743563"/>
            <a:ext cx="256282" cy="256281"/>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44331" y="1811054"/>
            <a:ext cx="1156828" cy="2158435"/>
            <a:chOff x="474385" y="2278797"/>
            <a:chExt cx="1610317" cy="3004565"/>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1"/>
              <a:ext cx="1610317" cy="1796241"/>
            </a:xfrm>
            <a:prstGeom prst="rect">
              <a:avLst/>
            </a:prstGeom>
            <a:noFill/>
          </p:spPr>
          <p:txBody>
            <a:bodyPr wrap="square" lIns="0" tIns="0" rIns="0" bIns="0"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11">
                <a:spcAft>
                  <a:spcPts val="432"/>
                </a:spcAft>
                <a:defRPr/>
              </a:pPr>
              <a:r>
                <a:rPr lang="en-US" sz="1149">
                  <a:solidFill>
                    <a:srgbClr val="FFFFFF"/>
                  </a:solidFill>
                  <a:latin typeface="Segoe Sans Display Semibold" pitchFamily="2" charset="0"/>
                  <a:cs typeface="Segoe Sans Display Semibold" pitchFamily="2" charset="0"/>
                </a:rPr>
                <a:t>Industry leader</a:t>
              </a:r>
            </a:p>
            <a:p>
              <a:pPr defTabSz="656911">
                <a:spcAft>
                  <a:spcPts val="432"/>
                </a:spcAft>
                <a:defRPr/>
              </a:pPr>
              <a:r>
                <a:rPr lang="en-US" sz="985">
                  <a:solidFill>
                    <a:srgbClr val="FFFFFF"/>
                  </a:solidFill>
                  <a:latin typeface="Segoe Sans Display" pitchFamily="2" charset="0"/>
                  <a:cs typeface="Segoe Sans Display" pitchFamily="2" charset="0"/>
                </a:rPr>
                <a:t>Microsoft is the        only security vendor recognized as a leader across 19 categories by Gartner, Forrester, and IDC.</a:t>
              </a:r>
              <a:r>
                <a:rPr lang="en-US" sz="985" baseline="30000">
                  <a:solidFill>
                    <a:srgbClr val="FFFFFF"/>
                  </a:solidFill>
                  <a:latin typeface="Segoe Sans Display" pitchFamily="2" charset="0"/>
                  <a:cs typeface="Segoe Sans Display" pitchFamily="2" charset="0"/>
                </a:rPr>
                <a:t> 1 </a:t>
              </a:r>
              <a:endParaRPr lang="en-US" sz="985">
                <a:solidFill>
                  <a:srgbClr val="FFFFFF"/>
                </a:solidFill>
                <a:latin typeface="Segoe Sans Display" pitchFamily="2" charset="0"/>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35">
                <a:defRPr/>
              </a:pPr>
              <a:endParaRPr lang="en-US" sz="1293" kern="0">
                <a:solidFill>
                  <a:srgbClr val="000000"/>
                </a:solidFill>
                <a:latin typeface="Segoe Sans Display" pitchFamily="2" charset="0"/>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293">
                <a:solidFill>
                  <a:srgbClr val="000000"/>
                </a:solidFill>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6056" y="1988069"/>
            <a:ext cx="458679" cy="458679"/>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9C6B5251-E3E5-2774-D8E0-D46D69DC4D53}"/>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1119D320-6825-AD36-6CCB-C74903DB3F3E}"/>
              </a:ext>
            </a:extLst>
          </p:cNvPr>
          <p:cNvSpPr>
            <a:spLocks/>
          </p:cNvSpPr>
          <p:nvPr/>
        </p:nvSpPr>
        <p:spPr bwMode="auto">
          <a:xfrm>
            <a:off x="377825" y="885947"/>
            <a:ext cx="4895850" cy="6784853"/>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87A532E0-2EC6-B63E-5A50-FDCE070E3E55}"/>
              </a:ext>
            </a:extLst>
          </p:cNvPr>
          <p:cNvSpPr/>
          <p:nvPr/>
        </p:nvSpPr>
        <p:spPr bwMode="auto">
          <a:xfrm flipH="1">
            <a:off x="377818" y="885947"/>
            <a:ext cx="4895851" cy="351182"/>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12" name="Table 0">
            <a:extLst>
              <a:ext uri="{FF2B5EF4-FFF2-40B4-BE49-F238E27FC236}">
                <a16:creationId xmlns:a16="http://schemas.microsoft.com/office/drawing/2014/main" id="{5064A099-8075-3472-8D77-5C3F420E4660}"/>
              </a:ext>
            </a:extLst>
          </p:cNvPr>
          <p:cNvGraphicFramePr>
            <a:graphicFrameLocks noGrp="1"/>
          </p:cNvGraphicFramePr>
          <p:nvPr>
            <p:extLst>
              <p:ext uri="{D42A27DB-BD31-4B8C-83A1-F6EECF244321}">
                <p14:modId xmlns:p14="http://schemas.microsoft.com/office/powerpoint/2010/main" val="1331196000"/>
              </p:ext>
            </p:extLst>
          </p:nvPr>
        </p:nvGraphicFramePr>
        <p:xfrm>
          <a:off x="377826" y="885950"/>
          <a:ext cx="4895850" cy="6669723"/>
        </p:xfrm>
        <a:graphic>
          <a:graphicData uri="http://schemas.openxmlformats.org/drawingml/2006/table">
            <a:tbl>
              <a:tblPr firstRow="1" bandRow="1">
                <a:effectLst/>
                <a:tableStyleId>{2D5ABB26-0587-4C30-8999-92F81FD0307C}</a:tableStyleId>
              </a:tblPr>
              <a:tblGrid>
                <a:gridCol w="3794781">
                  <a:extLst>
                    <a:ext uri="{9D8B030D-6E8A-4147-A177-3AD203B41FA5}">
                      <a16:colId xmlns:a16="http://schemas.microsoft.com/office/drawing/2014/main" val="20000"/>
                    </a:ext>
                  </a:extLst>
                </a:gridCol>
                <a:gridCol w="483476">
                  <a:extLst>
                    <a:ext uri="{9D8B030D-6E8A-4147-A177-3AD203B41FA5}">
                      <a16:colId xmlns:a16="http://schemas.microsoft.com/office/drawing/2014/main" val="20001"/>
                    </a:ext>
                  </a:extLst>
                </a:gridCol>
                <a:gridCol w="617593">
                  <a:extLst>
                    <a:ext uri="{9D8B030D-6E8A-4147-A177-3AD203B41FA5}">
                      <a16:colId xmlns:a16="http://schemas.microsoft.com/office/drawing/2014/main" val="20002"/>
                    </a:ext>
                  </a:extLst>
                </a:gridCol>
              </a:tblGrid>
              <a:tr h="34806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a:ea typeface="+mn-ea"/>
                          <a:cs typeface="Segoe UI Semibold"/>
                          <a:sym typeface=""/>
                        </a:rPr>
                        <a:t>Incremental capabilities</a:t>
                      </a:r>
                    </a:p>
                  </a:txBody>
                  <a:tcPr marL="108000" marR="7593"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90000"/>
                        </a:lnSpc>
                        <a:spcBef>
                          <a:spcPts val="0"/>
                        </a:spcBef>
                        <a:spcAft>
                          <a:spcPts val="0"/>
                        </a:spcAft>
                        <a:buFontTx/>
                        <a:buNone/>
                      </a:pPr>
                      <a:r>
                        <a:rPr lang="en-US" sz="650" b="0" i="0" u="none" strike="noStrike" kern="1200" cap="none" spc="0" normalizeH="0" baseline="0">
                          <a:solidFill>
                            <a:schemeClr val="bg1">
                              <a:lumMod val="100000"/>
                            </a:schemeClr>
                          </a:solidFill>
                          <a:latin typeface="Segoe UI Semibold"/>
                          <a:ea typeface="Calibri"/>
                          <a:cs typeface="Segoe UI Semibold"/>
                          <a:sym typeface=""/>
                        </a:rPr>
                        <a:t>Business Premium</a:t>
                      </a:r>
                      <a:endParaRPr lang="en-US" sz="650" b="1" i="0" u="none" strike="noStrike" kern="1200" cap="none" spc="0" normalizeH="0" baseline="0">
                        <a:solidFill>
                          <a:schemeClr val="bg1">
                            <a:lumMod val="100000"/>
                          </a:schemeClr>
                        </a:solidFill>
                        <a:latin typeface="Segoe UI Semibold"/>
                        <a:ea typeface="Calibri"/>
                        <a:cs typeface="Segoe UI Semibold"/>
                        <a:sym typeface=""/>
                      </a:endParaRPr>
                    </a:p>
                  </a:txBody>
                  <a:tcPr marL="0" marR="0"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90000"/>
                        </a:lnSpc>
                        <a:spcBef>
                          <a:spcPts val="0"/>
                        </a:spcBef>
                        <a:spcAft>
                          <a:spcPts val="0"/>
                        </a:spcAft>
                        <a:buFontTx/>
                        <a:buNone/>
                      </a:pPr>
                      <a:r>
                        <a:rPr lang="en-US" sz="650" b="0" i="0" u="none" strike="noStrike" kern="1200" cap="none" spc="0" normalizeH="0" baseline="0">
                          <a:solidFill>
                            <a:schemeClr val="bg1">
                              <a:lumMod val="100000"/>
                            </a:schemeClr>
                          </a:solidFill>
                          <a:latin typeface="Segoe UI Semibold"/>
                          <a:ea typeface="Calibri"/>
                          <a:cs typeface="Segoe UI Semibold"/>
                          <a:sym typeface=""/>
                        </a:rPr>
                        <a:t>Defender Suite </a:t>
                      </a:r>
                      <a:br>
                        <a:rPr lang="en-US" sz="650" b="0" i="0" u="none" strike="noStrike" kern="1200" cap="none" spc="0" normalizeH="0" baseline="0">
                          <a:solidFill>
                            <a:srgbClr val="FFFFFF"/>
                          </a:solidFill>
                          <a:latin typeface="Segoe UI Semibold"/>
                          <a:ea typeface="Calibri"/>
                          <a:cs typeface="Segoe UI Semibold"/>
                          <a:sym typeface=""/>
                        </a:rPr>
                      </a:br>
                      <a:r>
                        <a:rPr lang="en-US" sz="650" b="0" i="0" u="none" strike="noStrike" kern="1200" cap="none" spc="0" normalizeH="0" baseline="0">
                          <a:solidFill>
                            <a:schemeClr val="bg1">
                              <a:lumMod val="100000"/>
                            </a:schemeClr>
                          </a:solidFill>
                          <a:latin typeface="Segoe UI Semibold"/>
                          <a:ea typeface="Calibri"/>
                          <a:cs typeface="Segoe UI Semibold"/>
                          <a:sym typeface=""/>
                        </a:rPr>
                        <a:t>for Business Premium</a:t>
                      </a:r>
                    </a:p>
                  </a:txBody>
                  <a:tcPr marL="0" marR="0"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4268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rtl="0" eaLnBrk="1" fontAlgn="ctr" latinLnBrk="0" hangingPunct="1">
                        <a:lnSpc>
                          <a:spcPct val="100000"/>
                        </a:lnSpc>
                        <a:spcBef>
                          <a:spcPts val="0"/>
                        </a:spcBef>
                        <a:spcAft>
                          <a:spcPts val="0"/>
                        </a:spcAft>
                        <a:buClrTx/>
                        <a:buSzTx/>
                        <a:buFontTx/>
                        <a:buNone/>
                      </a:pPr>
                      <a:r>
                        <a:rPr lang="en-US" sz="700" b="0" i="0" u="none" strike="noStrike" kern="1200" cap="none" spc="0" normalizeH="0" baseline="0">
                          <a:solidFill>
                            <a:srgbClr val="8A226F"/>
                          </a:solidFill>
                          <a:latin typeface="Segoe UI Semibold"/>
                          <a:ea typeface="+mn-ea"/>
                          <a:cs typeface="Segoe UI Semibold"/>
                        </a:rPr>
                        <a:t>Identity &amp; Access Management</a:t>
                      </a: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0" marT="0" marB="0" anchor="ct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206098">
                <a:tc>
                  <a:txBody>
                    <a:bodyPr/>
                    <a:lstStyle/>
                    <a:p>
                      <a:pPr marL="0" indent="0" algn="l" defTabSz="565131" rtl="0" eaLnBrk="1" latinLnBrk="0" hangingPunct="1">
                        <a:buNone/>
                      </a:pPr>
                      <a:r>
                        <a:rPr lang="en-US" sz="650" kern="1200">
                          <a:solidFill>
                            <a:schemeClr val="tx1"/>
                          </a:solidFill>
                          <a:latin typeface="Segoe UI"/>
                          <a:ea typeface="Calibri"/>
                          <a:cs typeface="Segoe UI"/>
                        </a:rPr>
                        <a:t>Entra ID P1: SSO, MFA, self-service password reset, Conditional Access, automated user provisioning</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a:solidFill>
                            <a:srgbClr val="000000"/>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a:solidFill>
                            <a:srgbClr val="000000"/>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67949225"/>
                  </a:ext>
                </a:extLst>
              </a:tr>
              <a:tr h="147968">
                <a:tc>
                  <a:txBody>
                    <a:bodyPr/>
                    <a:lstStyle/>
                    <a:p>
                      <a:pPr marL="0" indent="0" algn="l" defTabSz="565131" rtl="0" eaLnBrk="1" latinLnBrk="0" hangingPunct="1">
                        <a:buNone/>
                      </a:pPr>
                      <a:r>
                        <a:rPr lang="en-US" sz="650" kern="1200">
                          <a:solidFill>
                            <a:schemeClr val="tx1"/>
                          </a:solidFill>
                          <a:latin typeface="Segoe UI"/>
                          <a:ea typeface="Calibri"/>
                          <a:cs typeface="Segoe UI"/>
                        </a:rPr>
                        <a:t>↑ Entra ID P2: Risk-based Conditional Access with real-time sign-in risk and user risk detection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32521">
                <a:tc>
                  <a:txBody>
                    <a:bodyPr/>
                    <a:lstStyle/>
                    <a:p>
                      <a:pPr marL="0" indent="0" algn="l" defTabSz="565131" rtl="0" eaLnBrk="1" latinLnBrk="0" hangingPunct="1">
                        <a:buNone/>
                      </a:pPr>
                      <a:r>
                        <a:rPr lang="en-US" sz="650" kern="1200">
                          <a:solidFill>
                            <a:schemeClr val="tx1"/>
                          </a:solidFill>
                          <a:latin typeface="Segoe UI"/>
                          <a:ea typeface="Calibri"/>
                          <a:cs typeface="Segoe UI"/>
                        </a:rPr>
                        <a:t>↑ Entra ID Protection: ML-driven anomaly detection for compromised credentials and suspicious sign-ins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48374">
                <a:tc>
                  <a:txBody>
                    <a:bodyPr/>
                    <a:lstStyle/>
                    <a:p>
                      <a:pPr marL="0" indent="0" algn="l" defTabSz="565131" rtl="0" eaLnBrk="1" latinLnBrk="0" hangingPunct="1">
                        <a:buNone/>
                      </a:pPr>
                      <a:r>
                        <a:rPr lang="en-US" sz="650" kern="1200">
                          <a:solidFill>
                            <a:schemeClr val="tx1"/>
                          </a:solidFill>
                          <a:latin typeface="Segoe UI"/>
                          <a:ea typeface="Calibri"/>
                          <a:cs typeface="Segoe UI"/>
                        </a:rPr>
                        <a:t>↑ Entra ID Governance: Access reviews, entitlement management, and Privileged Identity Management (PIM)</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4991779"/>
                  </a:ext>
                </a:extLst>
              </a:tr>
              <a:tr h="16382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rtl="0" eaLnBrk="1" fontAlgn="ctr" latinLnBrk="0" hangingPunct="1">
                        <a:lnSpc>
                          <a:spcPct val="100000"/>
                        </a:lnSpc>
                        <a:spcBef>
                          <a:spcPts val="0"/>
                        </a:spcBef>
                        <a:spcAft>
                          <a:spcPts val="0"/>
                        </a:spcAft>
                        <a:buClrTx/>
                        <a:buSzTx/>
                        <a:buFontTx/>
                        <a:buNone/>
                      </a:pPr>
                      <a:r>
                        <a:rPr lang="en-US" sz="700" b="0" i="0" u="none" strike="noStrike" kern="1200" cap="none" spc="0" normalizeH="0" baseline="0">
                          <a:solidFill>
                            <a:srgbClr val="8A226F"/>
                          </a:solidFill>
                          <a:latin typeface="Segoe UI Semibold"/>
                          <a:ea typeface="+mn-ea"/>
                          <a:cs typeface="Segoe UI Semibold"/>
                        </a:rPr>
                        <a:t>Identity threat detection and response</a:t>
                      </a: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extLst>
                  <a:ext uri="{0D108BD9-81ED-4DB2-BD59-A6C34878D82A}">
                    <a16:rowId xmlns:a16="http://schemas.microsoft.com/office/drawing/2014/main" val="10006"/>
                  </a:ext>
                </a:extLst>
              </a:tr>
              <a:tr h="163821">
                <a:tc>
                  <a:txBody>
                    <a:bodyPr/>
                    <a:lstStyle/>
                    <a:p>
                      <a:pPr marL="0" indent="0" algn="l" defTabSz="565131" rtl="0" eaLnBrk="1" latinLnBrk="0" hangingPunct="1">
                        <a:buNone/>
                      </a:pPr>
                      <a:r>
                        <a:rPr lang="en-US" sz="650" kern="1200">
                          <a:solidFill>
                            <a:schemeClr val="tx1"/>
                          </a:solidFill>
                          <a:latin typeface="Segoe UI"/>
                          <a:ea typeface="Calibri"/>
                          <a:cs typeface="Segoe UI"/>
                        </a:rPr>
                        <a:t>Defender for Identity: Monitor on-premises AD and hybrid identity infrastructure for compromise</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32114">
                <a:tc>
                  <a:txBody>
                    <a:bodyPr/>
                    <a:lstStyle/>
                    <a:p>
                      <a:pPr marL="0" indent="0" algn="l" defTabSz="565131" rtl="0" eaLnBrk="1" latinLnBrk="0" hangingPunct="1">
                        <a:buNone/>
                      </a:pPr>
                      <a:r>
                        <a:rPr lang="en-US" sz="650" kern="1200">
                          <a:solidFill>
                            <a:schemeClr val="tx1"/>
                          </a:solidFill>
                          <a:latin typeface="Segoe UI"/>
                          <a:ea typeface="Calibri"/>
                          <a:cs typeface="Segoe UI"/>
                        </a:rPr>
                        <a:t>Detect lateral movement (pass-the-hash, pass-the-ticket, golden ticket) and credential theft attacks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1"/>
                  </a:ext>
                </a:extLst>
              </a:tr>
              <a:tr h="141362">
                <a:tc>
                  <a:txBody>
                    <a:bodyPr/>
                    <a:lstStyle/>
                    <a:p>
                      <a:pPr marL="0" indent="0" algn="l" defTabSz="565131" rtl="0" eaLnBrk="1" latinLnBrk="0" hangingPunct="1">
                        <a:buNone/>
                      </a:pPr>
                      <a:r>
                        <a:rPr lang="en-US" sz="650" kern="1200">
                          <a:solidFill>
                            <a:schemeClr val="tx1"/>
                          </a:solidFill>
                          <a:latin typeface="Segoe UI"/>
                          <a:ea typeface="Calibri"/>
                          <a:cs typeface="Segoe UI"/>
                        </a:rPr>
                        <a:t>Real-time identity attack blocking integrated with Defender XDR for automated containment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22850097"/>
                  </a:ext>
                </a:extLst>
              </a:tr>
              <a:tr h="15193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a:solidFill>
                            <a:srgbClr val="8A226F"/>
                          </a:solidFill>
                          <a:latin typeface="Segoe UI Semibold"/>
                          <a:ea typeface="+mn-ea"/>
                          <a:cs typeface="Segoe UI Semibold"/>
                          <a:sym typeface=""/>
                        </a:rPr>
                        <a:t>Endpoint security</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extLst>
                  <a:ext uri="{0D108BD9-81ED-4DB2-BD59-A6C34878D82A}">
                    <a16:rowId xmlns:a16="http://schemas.microsoft.com/office/drawing/2014/main" val="1260982563"/>
                  </a:ext>
                </a:extLst>
              </a:tr>
              <a:tr h="234502">
                <a:tc>
                  <a:txBody>
                    <a:bodyPr/>
                    <a:lstStyle/>
                    <a:p>
                      <a:pPr marL="0" indent="0" algn="l" defTabSz="565131" rtl="0" eaLnBrk="1" latinLnBrk="0" hangingPunct="1">
                        <a:buNone/>
                      </a:pPr>
                      <a:r>
                        <a:rPr lang="en-US" sz="650" kern="1200">
                          <a:solidFill>
                            <a:schemeClr val="tx1"/>
                          </a:solidFill>
                          <a:latin typeface="Segoe UI"/>
                          <a:ea typeface="Calibri"/>
                          <a:cs typeface="Segoe UI"/>
                        </a:rPr>
                        <a:t>Defender for Business: Next-gen antivirus, EDR, automated remediation, threat and vulnerability management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a:solidFill>
                            <a:srgbClr val="000000"/>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a:solidFill>
                            <a:srgbClr val="000000"/>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05298539"/>
                  </a:ext>
                </a:extLst>
              </a:tr>
              <a:tr h="155234">
                <a:tc>
                  <a:txBody>
                    <a:bodyPr/>
                    <a:lstStyle/>
                    <a:p>
                      <a:pPr marL="0" indent="0" algn="l" defTabSz="565131" rtl="0" eaLnBrk="1" latinLnBrk="0" hangingPunct="1">
                        <a:buNone/>
                      </a:pPr>
                      <a:r>
                        <a:rPr lang="en-US" sz="650" kern="1200">
                          <a:solidFill>
                            <a:schemeClr val="tx1"/>
                          </a:solidFill>
                          <a:latin typeface="Segoe UI"/>
                          <a:ea typeface="Calibri"/>
                          <a:cs typeface="Segoe UI"/>
                        </a:rPr>
                        <a:t>Attack surface reduction (ASR) rules, network protection, web content filtering</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a:solidFill>
                            <a:srgbClr val="000000"/>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a:solidFill>
                            <a:srgbClr val="000000"/>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8903467"/>
                  </a:ext>
                </a:extLst>
              </a:tr>
              <a:tr h="128811">
                <a:tc>
                  <a:txBody>
                    <a:bodyPr/>
                    <a:lstStyle/>
                    <a:p>
                      <a:pPr marL="0" indent="0" algn="l" defTabSz="565131" rtl="0" eaLnBrk="1" latinLnBrk="0" hangingPunct="1">
                        <a:buNone/>
                      </a:pPr>
                      <a:r>
                        <a:rPr lang="en-US" sz="650" kern="1200">
                          <a:solidFill>
                            <a:schemeClr val="tx1"/>
                          </a:solidFill>
                          <a:latin typeface="Segoe UI"/>
                          <a:ea typeface="Calibri"/>
                          <a:cs typeface="Segoe UI"/>
                        </a:rPr>
                        <a:t>↑ Defender for Endpoint P2: Advanced threat hunting with custom detection rules and KQL queries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91017987"/>
                  </a:ext>
                </a:extLst>
              </a:tr>
              <a:tr h="142022">
                <a:tc>
                  <a:txBody>
                    <a:bodyPr/>
                    <a:lstStyle/>
                    <a:p>
                      <a:pPr marL="0" indent="0" algn="l" defTabSz="565131" rtl="0" eaLnBrk="1" latinLnBrk="0" hangingPunct="1">
                        <a:buNone/>
                      </a:pPr>
                      <a:r>
                        <a:rPr lang="en-US" sz="650" kern="1200">
                          <a:solidFill>
                            <a:schemeClr val="tx1"/>
                          </a:solidFill>
                          <a:latin typeface="Segoe UI"/>
                          <a:ea typeface="Calibri"/>
                          <a:cs typeface="Segoe UI"/>
                        </a:rPr>
                        <a:t>↑ Live response for remote forensic investigation and remediation directly on endpoints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18536655"/>
                  </a:ext>
                </a:extLst>
              </a:tr>
              <a:tr h="132114">
                <a:tc>
                  <a:txBody>
                    <a:bodyPr/>
                    <a:lstStyle/>
                    <a:p>
                      <a:pPr marL="0" indent="0" algn="l" defTabSz="565131" rtl="0" eaLnBrk="1" latinLnBrk="0" hangingPunct="1">
                        <a:buNone/>
                      </a:pPr>
                      <a:r>
                        <a:rPr lang="en-US" sz="650" kern="1200">
                          <a:solidFill>
                            <a:schemeClr val="tx1"/>
                          </a:solidFill>
                          <a:latin typeface="Segoe UI"/>
                          <a:ea typeface="Calibri"/>
                          <a:cs typeface="Segoe UI"/>
                        </a:rPr>
                        <a:t>↑ Extended 6-month data retention on device timeline (vs. 30 days) for deeper investigation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76586103"/>
                  </a:ext>
                </a:extLst>
              </a:tr>
              <a:tr h="148628">
                <a:tc>
                  <a:txBody>
                    <a:bodyPr/>
                    <a:lstStyle/>
                    <a:p>
                      <a:pPr marL="0" indent="0" algn="l" defTabSz="565131" rtl="0" eaLnBrk="1" latinLnBrk="0" hangingPunct="1">
                        <a:buNone/>
                      </a:pPr>
                      <a:r>
                        <a:rPr lang="en-US" sz="650" kern="1200">
                          <a:solidFill>
                            <a:schemeClr val="tx1"/>
                          </a:solidFill>
                          <a:latin typeface="Segoe UI"/>
                          <a:ea typeface="Calibri"/>
                          <a:cs typeface="Segoe UI"/>
                        </a:rPr>
                        <a:t>↑ Advanced behavioral analytics and applied threat intelligence for APT detection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817731555"/>
                  </a:ext>
                </a:extLst>
              </a:tr>
              <a:tr h="148628">
                <a:tc>
                  <a:txBody>
                    <a:bodyPr/>
                    <a:lstStyle/>
                    <a:p>
                      <a:pPr algn="l" fontAlgn="ctr">
                        <a:buNone/>
                      </a:pPr>
                      <a:r>
                        <a:rPr lang="en-US" sz="650" b="0" i="0" u="none" strike="noStrike">
                          <a:solidFill>
                            <a:srgbClr val="000000"/>
                          </a:solidFill>
                          <a:effectLst/>
                          <a:latin typeface="Segoe UI"/>
                          <a:cs typeface="Segoe UI"/>
                        </a:rPr>
                        <a:t>Monthly Security Summary Report — posture across identity, devices, info, apps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a:ea typeface="+mn-ea"/>
                          <a:cs typeface="Segoe UI"/>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6856320"/>
                  </a:ext>
                </a:extLst>
              </a:tr>
              <a:tr h="148628">
                <a:tc>
                  <a:txBody>
                    <a:bodyPr/>
                    <a:lstStyle/>
                    <a:p>
                      <a:pPr algn="l" fontAlgn="ctr">
                        <a:buNone/>
                      </a:pPr>
                      <a:r>
                        <a:rPr lang="en-US" sz="650" b="0" i="0" u="none" strike="noStrike">
                          <a:solidFill>
                            <a:srgbClr val="000000"/>
                          </a:solidFill>
                          <a:effectLst/>
                          <a:latin typeface="Segoe UI"/>
                          <a:cs typeface="Segoe UI"/>
                        </a:rPr>
                        <a:t>Device Exposure Score in Microsoft 365 Lighthouse — CSP/MSP cross-tenant view</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a:ea typeface="+mn-ea"/>
                          <a:cs typeface="Segoe UI"/>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03254965"/>
                  </a:ext>
                </a:extLst>
              </a:tr>
              <a:tr h="15523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a:solidFill>
                            <a:srgbClr val="8A226F"/>
                          </a:solidFill>
                          <a:latin typeface="Segoe UI Semibold"/>
                          <a:ea typeface="+mn-ea"/>
                          <a:cs typeface="Segoe UI Semibold"/>
                          <a:sym typeface=""/>
                        </a:rPr>
                        <a:t>Email and collaboration security</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extLst>
                  <a:ext uri="{0D108BD9-81ED-4DB2-BD59-A6C34878D82A}">
                    <a16:rowId xmlns:a16="http://schemas.microsoft.com/office/drawing/2014/main" val="3435627575"/>
                  </a:ext>
                </a:extLst>
              </a:tr>
              <a:tr h="244411">
                <a:tc>
                  <a:txBody>
                    <a:bodyPr/>
                    <a:lstStyle/>
                    <a:p>
                      <a:pPr marL="0" indent="0">
                        <a:buNone/>
                      </a:pPr>
                      <a:r>
                        <a:rPr lang="en-US" sz="650" kern="1200">
                          <a:solidFill>
                            <a:schemeClr val="tx1"/>
                          </a:solidFill>
                          <a:latin typeface="Segoe UI"/>
                          <a:ea typeface="Calibri"/>
                          <a:cs typeface="Segoe UI"/>
                        </a:rPr>
                        <a:t>Defender for Office 365 Plan 1: Safe Links, Safe Attachments, anti-phishing policies across email, Teams, SharePoint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a:solidFill>
                            <a:srgbClr val="000000"/>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a:solidFill>
                            <a:srgbClr val="000000"/>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53098252"/>
                  </a:ext>
                </a:extLst>
              </a:tr>
              <a:tr h="128811">
                <a:tc>
                  <a:txBody>
                    <a:bodyPr/>
                    <a:lstStyle/>
                    <a:p>
                      <a:pPr marL="0" indent="0">
                        <a:buNone/>
                      </a:pPr>
                      <a:r>
                        <a:rPr lang="en-US" sz="650" kern="1200">
                          <a:solidFill>
                            <a:schemeClr val="tx1"/>
                          </a:solidFill>
                          <a:latin typeface="Segoe UI"/>
                          <a:ea typeface="Calibri"/>
                          <a:cs typeface="Segoe UI"/>
                        </a:rPr>
                        <a:t>↑ Defender for Office 365 P2: Automated Investigation and Response (AIR) for email-borne threats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80204603"/>
                  </a:ext>
                </a:extLst>
              </a:tr>
              <a:tr h="234502">
                <a:tc>
                  <a:txBody>
                    <a:bodyPr/>
                    <a:lstStyle/>
                    <a:p>
                      <a:pPr marL="0" indent="0">
                        <a:buNone/>
                      </a:pPr>
                      <a:r>
                        <a:rPr lang="en-US" sz="650" kern="1200">
                          <a:solidFill>
                            <a:schemeClr val="tx1"/>
                          </a:solidFill>
                          <a:latin typeface="Segoe UI"/>
                          <a:ea typeface="Calibri"/>
                          <a:cs typeface="Segoe UI"/>
                        </a:rPr>
                        <a:t>↑ Attack Simulation Training: Run phishing simulations and security awareness campaigns for employees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7418024"/>
                  </a:ext>
                </a:extLst>
              </a:tr>
              <a:tr h="234502">
                <a:tc>
                  <a:txBody>
                    <a:bodyPr/>
                    <a:lstStyle/>
                    <a:p>
                      <a:pPr marL="0" indent="0">
                        <a:buNone/>
                      </a:pPr>
                      <a:r>
                        <a:rPr lang="en-US" sz="650" kern="1200">
                          <a:solidFill>
                            <a:schemeClr val="tx1"/>
                          </a:solidFill>
                          <a:latin typeface="Segoe UI"/>
                          <a:ea typeface="Calibri"/>
                          <a:cs typeface="Segoe UI"/>
                        </a:rPr>
                        <a:t>↑ Threat Explorer and Trackers: Deep-dive forensic investigation, campaign views, and compromise detection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5395197"/>
                  </a:ext>
                </a:extLst>
              </a:tr>
              <a:tr h="148628">
                <a:tc>
                  <a:txBody>
                    <a:bodyPr/>
                    <a:lstStyle/>
                    <a:p>
                      <a:pPr marL="0" indent="0">
                        <a:buNone/>
                      </a:pPr>
                      <a:r>
                        <a:rPr lang="en-US" sz="650" kern="1200">
                          <a:solidFill>
                            <a:schemeClr val="tx1"/>
                          </a:solidFill>
                          <a:latin typeface="Segoe UI"/>
                          <a:ea typeface="Calibri"/>
                          <a:cs typeface="Segoe UI"/>
                        </a:rPr>
                        <a:t>↑ Advanced hunting across email entities with proactive threat detection capabilities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85107959"/>
                  </a:ext>
                </a:extLst>
              </a:tr>
              <a:tr h="148628">
                <a:tc>
                  <a:txBody>
                    <a:bodyPr/>
                    <a:lstStyle/>
                    <a:p>
                      <a:pPr lvl="0" algn="l">
                        <a:buNone/>
                      </a:pPr>
                      <a:r>
                        <a:rPr lang="en-US" sz="650" b="0" i="0" u="none" strike="noStrike">
                          <a:solidFill>
                            <a:srgbClr val="000000"/>
                          </a:solidFill>
                          <a:effectLst/>
                          <a:latin typeface="Segoe UI"/>
                          <a:cs typeface="Segoe UI"/>
                        </a:rPr>
                        <a:t> URL time-of-click protection (</a:t>
                      </a:r>
                      <a:r>
                        <a:rPr lang="en-US" sz="650" b="0" i="0" u="none" strike="noStrike" err="1">
                          <a:solidFill>
                            <a:srgbClr val="000000"/>
                          </a:solidFill>
                          <a:effectLst/>
                          <a:latin typeface="Segoe UI"/>
                          <a:cs typeface="Segoe UI"/>
                        </a:rPr>
                        <a:t>SafeLinks</a:t>
                      </a:r>
                      <a:r>
                        <a:rPr lang="en-US" sz="650" b="0" i="0" u="none" strike="noStrike">
                          <a:solidFill>
                            <a:srgbClr val="000000"/>
                          </a:solidFill>
                          <a:effectLst/>
                          <a:latin typeface="Segoe UI"/>
                          <a:cs typeface="Segoe UI"/>
                        </a:rPr>
                        <a:t> Lite) — re-checks links at moment of click</a:t>
                      </a:r>
                      <a:endParaRPr lang="en-US"/>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rtl="0">
                        <a:lnSpc>
                          <a:spcPct val="100000"/>
                        </a:lnSpc>
                        <a:spcBef>
                          <a:spcPts val="0"/>
                        </a:spcBef>
                        <a:spcAft>
                          <a:spcPts val="0"/>
                        </a:spcAft>
                        <a:buClrTx/>
                        <a:buSzTx/>
                        <a:buFontTx/>
                        <a:buNone/>
                      </a:pPr>
                      <a:r>
                        <a:rPr lang="en-US" sz="650" b="0" i="0" u="none" strike="noStrike" kern="1200" cap="none" spc="0" normalizeH="0" baseline="0" noProof="0">
                          <a:ln>
                            <a:noFill/>
                          </a:ln>
                          <a:solidFill>
                            <a:prstClr val="black"/>
                          </a:solidFill>
                          <a:effectLst/>
                          <a:uLnTx/>
                          <a:uFillTx/>
                          <a:latin typeface="Segoe UI"/>
                          <a:ea typeface="+mn-ea"/>
                          <a:cs typeface="Segoe UI"/>
                        </a:rPr>
                        <a:t>✓</a:t>
                      </a:r>
                      <a:endParaRPr lang="en-US"/>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rtl="0">
                        <a:lnSpc>
                          <a:spcPct val="100000"/>
                        </a:lnSpc>
                        <a:spcBef>
                          <a:spcPts val="0"/>
                        </a:spcBef>
                        <a:spcAft>
                          <a:spcPts val="0"/>
                        </a:spcAft>
                        <a:buClrTx/>
                        <a:buSzTx/>
                        <a:buFontTx/>
                        <a:buNone/>
                      </a:pPr>
                      <a:r>
                        <a:rPr lang="en-US" sz="650" b="0" i="0" u="none" strike="noStrike" kern="1200" cap="none" spc="0" normalizeH="0" baseline="0" noProof="0">
                          <a:ln>
                            <a:noFill/>
                          </a:ln>
                          <a:solidFill>
                            <a:prstClr val="black"/>
                          </a:solidFill>
                          <a:effectLst/>
                          <a:uLnTx/>
                          <a:uFillTx/>
                          <a:latin typeface="Segoe UI"/>
                          <a:ea typeface="+mn-ea"/>
                          <a:cs typeface="Segoe UI"/>
                        </a:rPr>
                        <a:t>✓</a:t>
                      </a:r>
                      <a:endParaRPr lang="en-US"/>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664381896"/>
                  </a:ext>
                </a:extLst>
              </a:tr>
              <a:tr h="148628">
                <a:tc>
                  <a:txBody>
                    <a:body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a:solidFill>
                            <a:srgbClr val="8A226F"/>
                          </a:solidFill>
                          <a:latin typeface="Segoe UI Semibold"/>
                          <a:ea typeface="+mn-ea"/>
                          <a:cs typeface="Segoe UI Semibold"/>
                        </a:rPr>
                        <a:t>Cloud application and SaaS security</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4152768545"/>
                  </a:ext>
                </a:extLst>
              </a:tr>
              <a:tr h="171748">
                <a:tc>
                  <a:txBody>
                    <a:bodyPr/>
                    <a:lstStyle/>
                    <a:p>
                      <a:pPr marL="0" indent="0">
                        <a:buNone/>
                      </a:pPr>
                      <a:r>
                        <a:rPr lang="en-US" sz="650" kern="1200">
                          <a:solidFill>
                            <a:schemeClr val="tx1"/>
                          </a:solidFill>
                          <a:latin typeface="Segoe UI"/>
                          <a:ea typeface="Calibri"/>
                          <a:cs typeface="Segoe UI"/>
                        </a:rPr>
                        <a:t>Defender for Cloud Apps: Discover and control shadow IT across 31,000+ cloud and AI apps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16616640"/>
                  </a:ext>
                </a:extLst>
              </a:tr>
              <a:tr h="155234">
                <a:tc>
                  <a:txBody>
                    <a:bodyPr/>
                    <a:lstStyle/>
                    <a:p>
                      <a:pPr marL="0" indent="0">
                        <a:buNone/>
                      </a:pPr>
                      <a:r>
                        <a:rPr lang="en-US" sz="650" kern="1200">
                          <a:solidFill>
                            <a:schemeClr val="tx1"/>
                          </a:solidFill>
                          <a:latin typeface="Segoe UI"/>
                          <a:ea typeface="Calibri"/>
                          <a:cs typeface="Segoe UI"/>
                        </a:rPr>
                        <a:t>Session-level Conditional Access, app governance, and real-time monitoring of SaaS usage</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53063641"/>
                  </a:ext>
                </a:extLst>
              </a:tr>
              <a:tr h="171748">
                <a:tc>
                  <a:txBody>
                    <a:bodyPr/>
                    <a:lstStyle/>
                    <a:p>
                      <a:pPr marL="0" indent="0">
                        <a:buNone/>
                      </a:pPr>
                      <a:r>
                        <a:rPr lang="en-US" sz="650" kern="1200">
                          <a:solidFill>
                            <a:schemeClr val="tx1"/>
                          </a:solidFill>
                          <a:latin typeface="Segoe UI"/>
                          <a:ea typeface="Calibri"/>
                          <a:cs typeface="Segoe UI"/>
                        </a:rPr>
                        <a:t>Detect risky OAuth apps, anomalous user behavior, and potential data exfiltration in cloud services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937641306"/>
                  </a:ext>
                </a:extLst>
              </a:tr>
              <a:tr h="118903">
                <a:tc>
                  <a:txBody>
                    <a:body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a:solidFill>
                            <a:srgbClr val="8A226F"/>
                          </a:solidFill>
                          <a:latin typeface="Segoe UI Semibold"/>
                          <a:ea typeface="+mn-ea"/>
                          <a:cs typeface="Segoe UI Semibold"/>
                        </a:rPr>
                        <a:t>Enterprise IoT security</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extLst>
                  <a:ext uri="{0D108BD9-81ED-4DB2-BD59-A6C34878D82A}">
                    <a16:rowId xmlns:a16="http://schemas.microsoft.com/office/drawing/2014/main" val="2195970084"/>
                  </a:ext>
                </a:extLst>
              </a:tr>
              <a:tr h="247714">
                <a:tc>
                  <a:txBody>
                    <a:bodyPr/>
                    <a:lstStyle/>
                    <a:p>
                      <a:pPr marL="0" indent="0">
                        <a:buNone/>
                      </a:pPr>
                      <a:r>
                        <a:rPr lang="en-US" sz="650" kern="1200">
                          <a:solidFill>
                            <a:schemeClr val="tx1"/>
                          </a:solidFill>
                          <a:latin typeface="Segoe UI"/>
                          <a:ea typeface="Calibri"/>
                          <a:cs typeface="Segoe UI"/>
                        </a:rPr>
                        <a:t>Defender for IoT (Enterprise IoT): Continuous asset discovery, threat detection, and vulnerability assessment for printers, cameras, VoIP, smart devices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25785803"/>
                  </a:ext>
                </a:extLst>
              </a:tr>
              <a:tr h="122205">
                <a:tc>
                  <a:txBody>
                    <a:body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a:solidFill>
                            <a:srgbClr val="8A226F"/>
                          </a:solidFill>
                          <a:latin typeface="Segoe UI Semibold"/>
                          <a:ea typeface="+mn-ea"/>
                          <a:cs typeface="Segoe UI Semibold"/>
                        </a:rPr>
                        <a:t>Unified security operations (XDR)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tc>
                  <a:txBody>
                    <a:bodyPr/>
                    <a:lstStyle/>
                    <a:p>
                      <a:pPr marL="0" indent="0">
                        <a:buNone/>
                      </a:pPr>
                      <a:endParaRPr lang="en-US" sz="700">
                        <a:latin typeface="Segoe UI" panose="020B0502040204020203" pitchFamily="34" charset="0"/>
                        <a:cs typeface="Segoe UI" panose="020B0502040204020203" pitchFamily="34" charset="0"/>
                      </a:endParaRPr>
                    </a:p>
                  </a:txBody>
                  <a:tcPr marT="0" marB="0">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DD1EC"/>
                    </a:solidFill>
                  </a:tcPr>
                </a:tc>
                <a:extLst>
                  <a:ext uri="{0D108BD9-81ED-4DB2-BD59-A6C34878D82A}">
                    <a16:rowId xmlns:a16="http://schemas.microsoft.com/office/drawing/2014/main" val="3357309490"/>
                  </a:ext>
                </a:extLst>
              </a:tr>
              <a:tr h="254319">
                <a:tc>
                  <a:txBody>
                    <a:bodyPr/>
                    <a:lstStyle/>
                    <a:p>
                      <a:pPr marL="0" indent="0">
                        <a:buNone/>
                      </a:pPr>
                      <a:r>
                        <a:rPr lang="en-US" sz="650" kern="1200">
                          <a:solidFill>
                            <a:schemeClr val="tx1"/>
                          </a:solidFill>
                          <a:latin typeface="Segoe UI"/>
                          <a:ea typeface="Calibri"/>
                          <a:cs typeface="Segoe UI"/>
                        </a:rPr>
                        <a:t>Defender XDR: Unified incident correlation across endpoints, email, identity, cloud apps, and IoT in a single portal</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941171828"/>
                  </a:ext>
                </a:extLst>
              </a:tr>
              <a:tr h="241108">
                <a:tc>
                  <a:txBody>
                    <a:bodyPr/>
                    <a:lstStyle/>
                    <a:p>
                      <a:pPr marL="0" indent="0">
                        <a:buNone/>
                      </a:pPr>
                      <a:r>
                        <a:rPr lang="en-US" sz="650" kern="1200">
                          <a:solidFill>
                            <a:schemeClr val="tx1"/>
                          </a:solidFill>
                          <a:latin typeface="Segoe UI"/>
                          <a:ea typeface="Calibri"/>
                          <a:cs typeface="Segoe UI"/>
                        </a:rPr>
                        <a:t>Automatic attack disruption with AI-driven real-time containment and cross-domain advanced hunting</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700">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700" b="1">
                          <a:solidFill>
                            <a:srgbClr val="1B7D3A"/>
                          </a:solidFill>
                          <a:latin typeface="Segoe UI"/>
                          <a:ea typeface="Calibri"/>
                          <a:cs typeface="Segoe UI"/>
                        </a:rPr>
                        <a:t>✓</a:t>
                      </a:r>
                      <a:endParaRPr lang="en-US" sz="700">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90653754"/>
                  </a:ext>
                </a:extLst>
              </a:tr>
              <a:tr h="115606">
                <a:tc>
                  <a:txBody>
                    <a:body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solidFill>
                          <a:latin typeface="Segoe UI Semibold"/>
                          <a:ea typeface="+mn-ea"/>
                          <a:cs typeface="Segoe UI Semibold"/>
                        </a:rPr>
                        <a:t>Copilot Chat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2006621478"/>
                  </a:ext>
                </a:extLst>
              </a:tr>
              <a:tr h="142022">
                <a:tc>
                  <a:txBody>
                    <a:bodyPr/>
                    <a:lstStyle/>
                    <a:p>
                      <a:pPr algn="l" fontAlgn="ctr">
                        <a:buNone/>
                      </a:pPr>
                      <a:r>
                        <a:rPr lang="en-US" sz="650" b="0" i="0" u="none" strike="noStrike">
                          <a:solidFill>
                            <a:srgbClr val="000000"/>
                          </a:solidFill>
                          <a:effectLst/>
                          <a:latin typeface="Segoe UI"/>
                          <a:cs typeface="Segoe UI"/>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a:ea typeface="+mn-ea"/>
                          <a:cs typeface="Segoe UI"/>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a:ea typeface="+mn-ea"/>
                          <a:cs typeface="Segoe UI"/>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5739530"/>
                  </a:ext>
                </a:extLst>
              </a:tr>
              <a:tr h="168445">
                <a:tc>
                  <a:txBody>
                    <a:bodyPr/>
                    <a:lstStyle/>
                    <a:p>
                      <a:pPr algn="l" fontAlgn="ctr">
                        <a:buNone/>
                      </a:pPr>
                      <a:r>
                        <a:rPr lang="en-US" sz="650" b="0" i="0" u="none" strike="noStrike">
                          <a:solidFill>
                            <a:srgbClr val="000000"/>
                          </a:solidFill>
                          <a:effectLst/>
                          <a:latin typeface="Segoe UI"/>
                          <a:cs typeface="Segoe UI"/>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a:ea typeface="+mn-ea"/>
                          <a:cs typeface="Segoe UI"/>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a:ea typeface="+mn-ea"/>
                          <a:cs typeface="Segoe UI"/>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058433"/>
                  </a:ext>
                </a:extLst>
              </a:tr>
            </a:tbl>
          </a:graphicData>
        </a:graphic>
      </p:graphicFrame>
      <p:sp>
        <p:nvSpPr>
          <p:cNvPr id="7" name="Incremental capabilities from Current SKU to Target SKU">
            <a:extLst>
              <a:ext uri="{FF2B5EF4-FFF2-40B4-BE49-F238E27FC236}">
                <a16:creationId xmlns:a16="http://schemas.microsoft.com/office/drawing/2014/main" id="{5A75A7D5-4D88-6E2A-FE2A-40A198174D5D}"/>
              </a:ext>
            </a:extLst>
          </p:cNvPr>
          <p:cNvSpPr/>
          <p:nvPr/>
        </p:nvSpPr>
        <p:spPr>
          <a:xfrm>
            <a:off x="377826" y="281945"/>
            <a:ext cx="4895850" cy="470898"/>
          </a:xfrm>
          <a:prstGeom prst="rect">
            <a:avLst/>
          </a:prstGeom>
          <a:noFill/>
          <a:ln/>
        </p:spPr>
        <p:txBody>
          <a:bodyPr wrap="square" lIns="0" tIns="0" rIns="0" bIns="0" rtlCol="0" anchor="t" anchorCtr="0">
            <a:spAutoFit/>
          </a:bodyPr>
          <a:lstStyle/>
          <a:p>
            <a:pPr defTabSz="910968">
              <a:lnSpc>
                <a:spcPct val="85000"/>
              </a:lnSpc>
            </a:pPr>
            <a:r>
              <a:rPr lang="en-US">
                <a:solidFill>
                  <a:srgbClr val="B740C5"/>
                </a:solidFill>
                <a:latin typeface="Segoe UI Semibold"/>
                <a:cs typeface="Segoe UI Semibold"/>
              </a:rPr>
              <a:t>Business Premium vs </a:t>
            </a:r>
            <a:br>
              <a:rPr lang="en-US">
                <a:solidFill>
                  <a:srgbClr val="B740C5"/>
                </a:solidFill>
                <a:latin typeface="Segoe UI Semibold"/>
                <a:cs typeface="Segoe UI Semibold"/>
              </a:rPr>
            </a:br>
            <a:r>
              <a:rPr lang="en-US">
                <a:solidFill>
                  <a:srgbClr val="B740C5"/>
                </a:solidFill>
                <a:latin typeface="Segoe UI Semibold"/>
                <a:cs typeface="Segoe UI Semibold"/>
              </a:rPr>
              <a:t>Business Premium + Defender Suite</a:t>
            </a:r>
          </a:p>
        </p:txBody>
      </p:sp>
    </p:spTree>
    <p:extLst>
      <p:ext uri="{BB962C8B-B14F-4D97-AF65-F5344CB8AC3E}">
        <p14:creationId xmlns:p14="http://schemas.microsoft.com/office/powerpoint/2010/main" val="2922998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293</Words>
  <Application>Microsoft Office PowerPoint</Application>
  <PresentationFormat>Custom</PresentationFormat>
  <Paragraphs>34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Defender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4</cp:revision>
  <dcterms:created xsi:type="dcterms:W3CDTF">2026-04-04T15:01:26Z</dcterms:created>
  <dcterms:modified xsi:type="dcterms:W3CDTF">2026-04-11T11:24:51Z</dcterms:modified>
</cp:coreProperties>
</file>