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8.xml" ContentType="application/vnd.openxmlformats-officedocument.presentationml.slideLayout+xml"/>
  <Override PartName="/ppt/slideMasters/slideMaster5.xml" ContentType="application/vnd.openxmlformats-officedocument.presentationml.slideMaster+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4" r:id="rId15"/>
    <p:sldMasterId id="2147483755" r:id="rId16"/>
    <p:sldMasterId id="2147483756" r:id="rId17"/>
    <p:sldMasterId id="2147483757" r:id="rId18"/>
  </p:sldMasterIdLst>
  <p:notesMasterIdLst>
    <p:notesMasterId r:id="rId3"/>
  </p:notesMasterIdLst>
  <p:sldIdLst>
    <p:sldId id="256" r:id="rId10"/>
    <p:sldId id="257" r:id="rId11"/>
    <p:sldId id="258" r:id="rId12"/>
    <p:sldId id="259" r:id="rId13"/>
    <p:sldId id="260" r:id="rId14"/>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55C22-1068-6C9E-3308-80DE976D5928}" v="1" dt="2026-04-11T11:24:50.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Master" Target="slideMasters/slideMaster2.xml"/><Relationship Id="rId16" Type="http://schemas.openxmlformats.org/officeDocument/2006/relationships/slideMaster" Target="slideMasters/slideMaster3.xml"/><Relationship Id="rId17" Type="http://schemas.openxmlformats.org/officeDocument/2006/relationships/slideMaster" Target="slideMasters/slideMaster4.xml"/><Relationship Id="rId1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13655C22-1068-6C9E-3308-80DE976D5928}"/>
    <pc:docChg chg="mod modSld modMainMaster setSldSz">
      <pc:chgData name="Seema Kapri" userId="S::seema.kapri@hsv.digital::3468d2f6-a5eb-4e01-882c-f62721c4c7bf" providerId="AD" clId="Web-{13655C22-1068-6C9E-3308-80DE976D5928}" dt="2026-04-11T11:24:50.832" v="0"/>
      <pc:docMkLst>
        <pc:docMk/>
      </pc:docMkLst>
      <pc:sldChg chg="modSp">
        <pc:chgData name="Seema Kapri" userId="S::seema.kapri@hsv.digital::3468d2f6-a5eb-4e01-882c-f62721c4c7bf" providerId="AD" clId="Web-{13655C22-1068-6C9E-3308-80DE976D5928}" dt="2026-04-11T11:24:50.832" v="0"/>
        <pc:sldMkLst>
          <pc:docMk/>
          <pc:sldMk cId="4067805866" sldId="2147470016"/>
        </pc:sldMkLst>
        <pc:spChg chg="mod">
          <ac:chgData name="Seema Kapri" userId="S::seema.kapri@hsv.digital::3468d2f6-a5eb-4e01-882c-f62721c4c7bf" providerId="AD" clId="Web-{13655C22-1068-6C9E-3308-80DE976D5928}" dt="2026-04-11T11:24:50.832" v="0"/>
          <ac:spMkLst>
            <pc:docMk/>
            <pc:sldMk cId="4067805866" sldId="2147470016"/>
            <ac:spMk id="5" creationId="{CE6CFC70-06C7-C291-DA51-1D3359F2C52E}"/>
          </ac:spMkLst>
        </pc:spChg>
        <pc:spChg chg="mod">
          <ac:chgData name="Seema Kapri" userId="S::seema.kapri@hsv.digital::3468d2f6-a5eb-4e01-882c-f62721c4c7bf" providerId="AD" clId="Web-{13655C22-1068-6C9E-3308-80DE976D5928}" dt="2026-04-11T11:24:50.832" v="0"/>
          <ac:spMkLst>
            <pc:docMk/>
            <pc:sldMk cId="4067805866" sldId="2147470016"/>
            <ac:spMk id="15" creationId="{FDC09689-9230-8774-332C-E0502BB2667B}"/>
          </ac:spMkLst>
        </pc:spChg>
        <pc:spChg chg="mod">
          <ac:chgData name="Seema Kapri" userId="S::seema.kapri@hsv.digital::3468d2f6-a5eb-4e01-882c-f62721c4c7bf" providerId="AD" clId="Web-{13655C22-1068-6C9E-3308-80DE976D5928}" dt="2026-04-11T11:24:50.832" v="0"/>
          <ac:spMkLst>
            <pc:docMk/>
            <pc:sldMk cId="4067805866" sldId="2147470016"/>
            <ac:spMk id="17" creationId="{C205F477-06BB-0464-B7D7-F14F37D38EC1}"/>
          </ac:spMkLst>
        </pc:spChg>
        <pc:spChg chg="mod">
          <ac:chgData name="Seema Kapri" userId="S::seema.kapri@hsv.digital::3468d2f6-a5eb-4e01-882c-f62721c4c7bf" providerId="AD" clId="Web-{13655C22-1068-6C9E-3308-80DE976D5928}" dt="2026-04-11T11:24:50.832" v="0"/>
          <ac:spMkLst>
            <pc:docMk/>
            <pc:sldMk cId="4067805866" sldId="2147470016"/>
            <ac:spMk id="19" creationId="{44D2AC6F-4F84-F587-BEF3-F143A00E6D9B}"/>
          </ac:spMkLst>
        </pc:spChg>
        <pc:spChg chg="mod">
          <ac:chgData name="Seema Kapri" userId="S::seema.kapri@hsv.digital::3468d2f6-a5eb-4e01-882c-f62721c4c7bf" providerId="AD" clId="Web-{13655C22-1068-6C9E-3308-80DE976D5928}" dt="2026-04-11T11:24:50.832" v="0"/>
          <ac:spMkLst>
            <pc:docMk/>
            <pc:sldMk cId="4067805866" sldId="2147470016"/>
            <ac:spMk id="25" creationId="{8ACFB9E0-57EC-A667-BD67-1FCD18922E87}"/>
          </ac:spMkLst>
        </pc:spChg>
        <pc:spChg chg="mod">
          <ac:chgData name="Seema Kapri" userId="S::seema.kapri@hsv.digital::3468d2f6-a5eb-4e01-882c-f62721c4c7bf" providerId="AD" clId="Web-{13655C22-1068-6C9E-3308-80DE976D5928}" dt="2026-04-11T11:24:50.832" v="0"/>
          <ac:spMkLst>
            <pc:docMk/>
            <pc:sldMk cId="4067805866" sldId="2147470016"/>
            <ac:spMk id="31" creationId="{7619480A-D377-F04B-D795-8C3BA6F6AE38}"/>
          </ac:spMkLst>
        </pc:spChg>
        <pc:spChg chg="mod">
          <ac:chgData name="Seema Kapri" userId="S::seema.kapri@hsv.digital::3468d2f6-a5eb-4e01-882c-f62721c4c7bf" providerId="AD" clId="Web-{13655C22-1068-6C9E-3308-80DE976D5928}" dt="2026-04-11T11:24:50.832" v="0"/>
          <ac:spMkLst>
            <pc:docMk/>
            <pc:sldMk cId="4067805866" sldId="2147470016"/>
            <ac:spMk id="37" creationId="{2D7D97C9-E218-702D-C573-EC595E24D206}"/>
          </ac:spMkLst>
        </pc:spChg>
        <pc:spChg chg="mod">
          <ac:chgData name="Seema Kapri" userId="S::seema.kapri@hsv.digital::3468d2f6-a5eb-4e01-882c-f62721c4c7bf" providerId="AD" clId="Web-{13655C22-1068-6C9E-3308-80DE976D5928}" dt="2026-04-11T11:24:50.832" v="0"/>
          <ac:spMkLst>
            <pc:docMk/>
            <pc:sldMk cId="4067805866" sldId="2147470016"/>
            <ac:spMk id="38" creationId="{04B475BC-BA57-5216-CE2C-96C8D24A3BE0}"/>
          </ac:spMkLst>
        </pc:spChg>
        <pc:spChg chg="mod">
          <ac:chgData name="Seema Kapri" userId="S::seema.kapri@hsv.digital::3468d2f6-a5eb-4e01-882c-f62721c4c7bf" providerId="AD" clId="Web-{13655C22-1068-6C9E-3308-80DE976D5928}" dt="2026-04-11T11:24:50.832" v="0"/>
          <ac:spMkLst>
            <pc:docMk/>
            <pc:sldMk cId="4067805866" sldId="2147470016"/>
            <ac:spMk id="65" creationId="{9AD2FB6B-6EDB-68E4-2601-4F9CF0B3A50C}"/>
          </ac:spMkLst>
        </pc:spChg>
        <pc:spChg chg="mod">
          <ac:chgData name="Seema Kapri" userId="S::seema.kapri@hsv.digital::3468d2f6-a5eb-4e01-882c-f62721c4c7bf" providerId="AD" clId="Web-{13655C22-1068-6C9E-3308-80DE976D5928}" dt="2026-04-11T11:24:50.832" v="0"/>
          <ac:spMkLst>
            <pc:docMk/>
            <pc:sldMk cId="4067805866" sldId="2147470016"/>
            <ac:spMk id="66" creationId="{20E541FA-397B-06A1-8116-BCFA09464965}"/>
          </ac:spMkLst>
        </pc:spChg>
      </pc:sldChg>
      <pc:sldMasterChg chg="modSp modSldLayout">
        <pc:chgData name="Seema Kapri" userId="S::seema.kapri@hsv.digital::3468d2f6-a5eb-4e01-882c-f62721c4c7bf" providerId="AD" clId="Web-{13655C22-1068-6C9E-3308-80DE976D5928}" dt="2026-04-11T11:24:50.832" v="0"/>
        <pc:sldMasterMkLst>
          <pc:docMk/>
          <pc:sldMasterMk cId="1122647173" sldId="2147483732"/>
        </pc:sldMasterMkLst>
        <pc:spChg chg="mod">
          <ac:chgData name="Seema Kapri" userId="S::seema.kapri@hsv.digital::3468d2f6-a5eb-4e01-882c-f62721c4c7bf" providerId="AD" clId="Web-{13655C22-1068-6C9E-3308-80DE976D5928}" dt="2026-04-11T11:24:50.832" v="0"/>
          <ac:spMkLst>
            <pc:docMk/>
            <pc:sldMasterMk cId="1122647173" sldId="2147483732"/>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6" creationId="{00000000-0000-0000-0000-000000000000}"/>
          </ac:spMkLst>
        </pc:spChg>
        <pc:sldLayoutChg chg="modSp">
          <pc:chgData name="Seema Kapri" userId="S::seema.kapri@hsv.digital::3468d2f6-a5eb-4e01-882c-f62721c4c7bf" providerId="AD" clId="Web-{13655C22-1068-6C9E-3308-80DE976D5928}" dt="2026-04-11T11:24:50.832" v="0"/>
          <pc:sldLayoutMkLst>
            <pc:docMk/>
            <pc:sldMasterMk cId="1122647173" sldId="2147483732"/>
            <pc:sldLayoutMk cId="17524809" sldId="2147483733"/>
          </pc:sldLayoutMkLst>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092314792" sldId="2147483735"/>
          </pc:sldLayoutMkLst>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4580187" sldId="2147483736"/>
          </pc:sldLayoutMkLst>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880376873" sldId="2147483737"/>
          </pc:sldLayoutMkLst>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2752899885" sldId="2147483740"/>
          </pc:sldLayoutMkLst>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1722206160" sldId="2147483741"/>
          </pc:sldLayoutMkLst>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785386807" sldId="2147483743"/>
          </pc:sldLayoutMkLst>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05F24-EAFA-C0D2-1BA0-C406A0E8D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40E1F-78EE-F920-69D8-E07017B99E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85A3E-6077-DA2E-3C59-19B64A8431E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0F7E132-67DD-5892-676E-632E73D17526}"/>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1766721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6.xml"/><Relationship Id="rId1" Type="http://schemas.openxmlformats.org/officeDocument/2006/relationships/slideLayout" Target="../slideLayouts/slideLayout14.xml"/><Relationship Id="rId5" Type="http://schemas.openxmlformats.org/officeDocument/2006/relationships/theme" Target="../theme/theme5.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20.xml"/><Relationship Id="rId1" Type="http://schemas.openxmlformats.org/officeDocument/2006/relationships/slideLayout" Target="../slideLayouts/slideLayout18.xml"/><Relationship Id="rId5" Type="http://schemas.openxmlformats.org/officeDocument/2006/relationships/theme" Target="../theme/theme6.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44"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7.svg"/><Relationship Id="rId4" Type="http://schemas.openxmlformats.org/officeDocument/2006/relationships/image" Target="../media/image2.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32376" y="382837"/>
            <a:ext cx="5583573" cy="7563630"/>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28140" y="45091"/>
            <a:ext cx="5587808" cy="1396952"/>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98864" y="1689276"/>
            <a:ext cx="1447766" cy="2432742"/>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IN" sz="1436" err="1">
              <a:solidFill>
                <a:srgbClr val="C03BC4"/>
              </a:solidFill>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32375" y="45007"/>
            <a:ext cx="5583574" cy="1376136"/>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98864" y="589210"/>
            <a:ext cx="3913430" cy="55729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1315">
              <a:spcBef>
                <a:spcPts val="0"/>
              </a:spcBef>
            </a:pPr>
            <a:r>
              <a:rPr lang="en-US" sz="2012" dirty="0">
                <a:solidFill>
                  <a:schemeClr val="tx1">
                    <a:lumMod val="95000"/>
                    <a:lumOff val="5000"/>
                  </a:schemeClr>
                </a:solidFill>
                <a:latin typeface="Segoe Sans Display Semibold" pitchFamily="2" charset="0"/>
                <a:cs typeface="Segoe Sans Display Semibold" pitchFamily="2" charset="0"/>
              </a:rPr>
              <a:t>Microsoft Defender Suite </a:t>
            </a:r>
            <a:r>
              <a:rPr lang="en-US" sz="2012">
                <a:solidFill>
                  <a:schemeClr val="tx1">
                    <a:lumMod val="95000"/>
                    <a:lumOff val="5000"/>
                  </a:schemeClr>
                </a:solidFill>
                <a:latin typeface="Segoe Sans Display Semibold" pitchFamily="2" charset="0"/>
                <a:cs typeface="Segoe Sans Display Semibold" pitchFamily="2" charset="0"/>
              </a:rPr>
              <a:t>for Microsoft 365 Business Premium</a:t>
            </a:r>
            <a:endParaRPr lang="en-US" sz="2012" dirty="0">
              <a:solidFill>
                <a:schemeClr val="tx1">
                  <a:lumMod val="95000"/>
                  <a:lumOff val="5000"/>
                </a:schemeClr>
              </a:solidFill>
              <a:latin typeface="Segoe Sans Display Semibold" pitchFamily="2" charset="0"/>
              <a:cs typeface="Segoe Sans Display Semibold" pitchFamily="2" charset="0"/>
            </a:endParaRP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900924" y="1734566"/>
            <a:ext cx="3615737" cy="176903"/>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11">
              <a:defRPr/>
            </a:pPr>
            <a:r>
              <a:rPr lang="en-US" sz="1149">
                <a:solidFill>
                  <a:srgbClr val="C03BC4"/>
                </a:solidFill>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321732" y="269669"/>
            <a:ext cx="1300319" cy="164828"/>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903487" y="2000738"/>
            <a:ext cx="3418925" cy="2141612"/>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35">
              <a:lnSpc>
                <a:spcPts val="1006"/>
              </a:lnSpc>
              <a:spcAft>
                <a:spcPts val="862"/>
              </a:spcAft>
              <a:defRPr/>
            </a:pPr>
            <a:r>
              <a:rPr lang="en-US" sz="985">
                <a:solidFill>
                  <a:srgbClr val="000000"/>
                </a:solidFill>
                <a:latin typeface="Segoe Sans Display" pitchFamily="2" charset="0"/>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Zero Trust across your entire digital estate―</a:t>
            </a:r>
            <a:r>
              <a:rPr lang="en-US" sz="985">
                <a:solidFill>
                  <a:srgbClr val="000000"/>
                </a:solidFill>
                <a:latin typeface="Segoe Sans Display" pitchFamily="2" charset="0"/>
                <a:cs typeface="Segoe Sans Display" pitchFamily="2" charset="0"/>
              </a:rPr>
              <a:t>Assume breach, verify each request, and fully authenticate and authorize every request before granting access.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exposure management―</a:t>
            </a:r>
            <a:r>
              <a:rPr lang="en-US" sz="985">
                <a:solidFill>
                  <a:srgbClr val="000000"/>
                </a:solidFill>
                <a:latin typeface="Segoe Sans Display" pitchFamily="2" charset="0"/>
                <a:cs typeface="Segoe Sans Display" pitchFamily="2" charset="0"/>
              </a:rPr>
              <a:t>Continuously assess security posture, enable </a:t>
            </a:r>
            <a:r>
              <a:rPr lang="en-US" sz="985">
                <a:solidFill>
                  <a:srgbClr val="000000"/>
                </a:solidFill>
                <a:latin typeface="Segoe UI"/>
              </a:rPr>
              <a:t>proactive risk management and protection of assets.</a:t>
            </a:r>
            <a:endParaRPr lang="en-US" sz="985">
              <a:solidFill>
                <a:srgbClr val="000000"/>
              </a:solidFill>
              <a:latin typeface="Segoe Sans Display" pitchFamily="2" charset="0"/>
              <a:cs typeface="Segoe Sans Display" pitchFamily="2" charset="0"/>
            </a:endParaRP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security operations platform</a:t>
            </a:r>
            <a:r>
              <a:rPr lang="en-US" sz="985">
                <a:solidFill>
                  <a:srgbClr val="000000"/>
                </a:solidFill>
                <a:latin typeface="Segoe UI"/>
              </a:rPr>
              <a:t>―Leverage a single, integrated solution for end-to-end security operations, enhancing </a:t>
            </a:r>
            <a:r>
              <a:rPr lang="en-US" sz="985">
                <a:solidFill>
                  <a:srgbClr val="000000"/>
                </a:solidFill>
                <a:latin typeface="Segoe Sans Display" pitchFamily="2" charset="0"/>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309218" y="7635203"/>
            <a:ext cx="5038355" cy="99449"/>
          </a:xfrm>
          <a:prstGeom prst="rect">
            <a:avLst/>
          </a:prstGeom>
          <a:noFill/>
        </p:spPr>
        <p:txBody>
          <a:bodyPr wrap="square" lIns="0" tIns="0" rIns="0" bIns="0" rtlCol="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28468">
              <a:defRPr/>
            </a:pPr>
            <a:r>
              <a:rPr lang="en-US" sz="646" baseline="30000">
                <a:solidFill>
                  <a:srgbClr val="000000"/>
                </a:solidFill>
                <a:latin typeface="Segoe Sans Display" pitchFamily="2" charset="0"/>
                <a:cs typeface="Segoe Sans Display" pitchFamily="2" charset="0"/>
              </a:rPr>
              <a:t>1 </a:t>
            </a:r>
            <a:r>
              <a:rPr lang="en-US" sz="646">
                <a:solidFill>
                  <a:srgbClr val="000000"/>
                </a:solidFill>
                <a:latin typeface="Segoe Sans Text" pitchFamily="2" charset="0"/>
                <a:hlinkClick r:id="rId6"/>
              </a:rPr>
              <a:t>Source: Microsoft</a:t>
            </a:r>
            <a:r>
              <a:rPr lang="en-US" sz="646">
                <a:solidFill>
                  <a:srgbClr val="000000"/>
                </a:solidFill>
                <a:latin typeface="Segoe Sans Text" pitchFamily="2" charset="0"/>
              </a:rPr>
              <a:t> 	</a:t>
            </a:r>
            <a:r>
              <a:rPr lang="en-US" sz="646" baseline="30000">
                <a:solidFill>
                  <a:srgbClr val="000000"/>
                </a:solidFill>
                <a:latin typeface="Segoe Sans Display" pitchFamily="2" charset="0"/>
                <a:cs typeface="Segoe Sans Display" pitchFamily="2" charset="0"/>
              </a:rPr>
              <a:t>2 </a:t>
            </a:r>
            <a:r>
              <a:rPr lang="en-US" sz="646">
                <a:solidFill>
                  <a:srgbClr val="000000"/>
                </a:solidFill>
                <a:latin typeface="Segoe Sans Text" pitchFamily="2" charset="0"/>
              </a:rPr>
              <a:t>Source: </a:t>
            </a:r>
            <a:r>
              <a:rPr lang="en-US" sz="502">
                <a:solidFill>
                  <a:srgbClr val="000000"/>
                </a:solidFill>
                <a:latin typeface="Segoe Sans Text" pitchFamily="2" charset="0"/>
              </a:rPr>
              <a:t>IBM Cost of a Data Breach Report, IBM, p. 6​</a:t>
            </a:r>
            <a:endParaRPr lang="en-US" sz="646">
              <a:solidFill>
                <a:srgbClr val="000000"/>
              </a:solidFill>
              <a:latin typeface="Segoe UI" panose="020B0502040204020203" pitchFamily="34" charset="0"/>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415079" y="4260093"/>
            <a:ext cx="4823604" cy="262756"/>
          </a:xfrm>
          <a:prstGeom prst="rect">
            <a:avLst/>
          </a:prstGeom>
          <a:noFill/>
          <a:ln w="9525">
            <a:noFill/>
          </a:ln>
        </p:spPr>
        <p:txBody>
          <a:bodyPr vert="horz" wrap="square" lIns="65689" tIns="32845" rIns="65689" bIns="32845" rtlCol="0" anchor="ctr" anchorCtr="0">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11" fontAlgn="base">
              <a:spcAft>
                <a:spcPct val="0"/>
              </a:spcAft>
              <a:defRPr/>
            </a:pPr>
            <a:r>
              <a:rPr lang="en-US" sz="1149" spc="0">
                <a:ln>
                  <a:noFill/>
                </a:ln>
                <a:solidFill>
                  <a:srgbClr val="C03BC4"/>
                </a:solidFill>
                <a:latin typeface="Segoe Sans Display Semibold" pitchFamily="2" charset="0"/>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9886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19115"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3908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59621"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379872"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300321" y="5048578"/>
            <a:ext cx="965363"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99923" y="5423310"/>
            <a:ext cx="965363" cy="1689437"/>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Risk-based conditional   access and sign     -in assessment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risky sign-ins and user behavior anomalies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20573"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21488" y="5423312"/>
            <a:ext cx="983471" cy="1427109"/>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Threat and suspicious user activity detection</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Built-in response and automated playbooks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0540"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59701" y="5423310"/>
            <a:ext cx="965363" cy="1836478"/>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Industry-leading antimalware and conditional access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Endpoint security and EDR with advanced threat hunting</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61077" y="5048578"/>
            <a:ext cx="912811"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80240" y="5423311"/>
            <a:ext cx="912811" cy="1532292"/>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Advanced email and collaboration security with automated investigation   and response </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381329" y="5048578"/>
            <a:ext cx="738129"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397177" y="5423312"/>
            <a:ext cx="931068" cy="1563565"/>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“Shadow IT”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Uncovers configuration gaps and offers recommendations</a:t>
            </a:r>
          </a:p>
          <a:p>
            <a:pPr marL="66150" indent="-66150" algn="l" defTabSz="656911">
              <a:spcAft>
                <a:spcPts val="215"/>
              </a:spcAft>
              <a:buSzPct val="100000"/>
              <a:buFont typeface="Wingdings" panose="05000000000000000000" pitchFamily="2" charset="2"/>
              <a:buChar char=""/>
              <a:defRPr/>
            </a:pPr>
            <a:r>
              <a:rPr lang="en-US" sz="887" err="1">
                <a:solidFill>
                  <a:srgbClr val="000000">
                    <a:lumMod val="85000"/>
                    <a:lumOff val="15000"/>
                  </a:srgbClr>
                </a:solidFill>
              </a:rPr>
              <a:t>LoB</a:t>
            </a:r>
            <a:r>
              <a:rPr lang="en-US" sz="887">
                <a:solidFill>
                  <a:srgbClr val="000000">
                    <a:lumMod val="85000"/>
                    <a:lumOff val="15000"/>
                  </a:srgbClr>
                </a:solidFill>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68212" y="4743563"/>
            <a:ext cx="256282" cy="256281"/>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5572" tIns="18476" rIns="105572" bIns="19708"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35047" fontAlgn="base">
                <a:spcBef>
                  <a:spcPts val="1293"/>
                </a:spcBef>
                <a:spcAft>
                  <a:spcPts val="1293"/>
                </a:spcAft>
                <a:tabLst>
                  <a:tab pos="2659093" algn="l"/>
                </a:tabLst>
                <a:defRPr/>
              </a:pPr>
              <a:endParaRPr lang="en-US" sz="1293">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404641" y="4743563"/>
            <a:ext cx="256282" cy="256281"/>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19172" y="4743563"/>
            <a:ext cx="256282" cy="256281"/>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48301" y="4743563"/>
            <a:ext cx="256282" cy="256281"/>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62833" y="4743563"/>
            <a:ext cx="256282" cy="256281"/>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44331" y="1811054"/>
            <a:ext cx="1156828" cy="2158435"/>
            <a:chOff x="474385" y="2278797"/>
            <a:chExt cx="1610317" cy="3004565"/>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1"/>
              <a:ext cx="1610317" cy="1796241"/>
            </a:xfrm>
            <a:prstGeom prst="rect">
              <a:avLst/>
            </a:prstGeom>
            <a:noFill/>
          </p:spPr>
          <p:txBody>
            <a:bodyPr wrap="square" lIns="0" tIns="0" rIns="0" bIns="0"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11">
                <a:spcAft>
                  <a:spcPts val="432"/>
                </a:spcAft>
                <a:defRPr/>
              </a:pPr>
              <a:r>
                <a:rPr lang="en-US" sz="1149">
                  <a:solidFill>
                    <a:srgbClr val="FFFFFF"/>
                  </a:solidFill>
                  <a:latin typeface="Segoe Sans Display Semibold" pitchFamily="2" charset="0"/>
                  <a:cs typeface="Segoe Sans Display Semibold" pitchFamily="2" charset="0"/>
                </a:rPr>
                <a:t>Industry leader</a:t>
              </a:r>
            </a:p>
            <a:p>
              <a:pPr defTabSz="656911">
                <a:spcAft>
                  <a:spcPts val="432"/>
                </a:spcAft>
                <a:defRPr/>
              </a:pPr>
              <a:r>
                <a:rPr lang="en-US" sz="985">
                  <a:solidFill>
                    <a:srgbClr val="FFFFFF"/>
                  </a:solidFill>
                  <a:latin typeface="Segoe Sans Display" pitchFamily="2" charset="0"/>
                  <a:cs typeface="Segoe Sans Display" pitchFamily="2" charset="0"/>
                </a:rPr>
                <a:t>Microsoft is the        only security vendor recognized as a leader across 19 categories by Gartner, Forrester, and IDC.</a:t>
              </a:r>
              <a:r>
                <a:rPr lang="en-US" sz="985" baseline="30000">
                  <a:solidFill>
                    <a:srgbClr val="FFFFFF"/>
                  </a:solidFill>
                  <a:latin typeface="Segoe Sans Display" pitchFamily="2" charset="0"/>
                  <a:cs typeface="Segoe Sans Display" pitchFamily="2" charset="0"/>
                </a:rPr>
                <a:t> 1 </a:t>
              </a:r>
              <a:endParaRPr lang="en-US" sz="985">
                <a:solidFill>
                  <a:srgbClr val="FFFFFF"/>
                </a:solidFill>
                <a:latin typeface="Segoe Sans Display" pitchFamily="2" charset="0"/>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35">
                <a:defRPr/>
              </a:pPr>
              <a:endParaRPr lang="en-US" sz="1293" kern="0">
                <a:solidFill>
                  <a:srgbClr val="000000"/>
                </a:solidFill>
                <a:latin typeface="Segoe Sans Display" pitchFamily="2" charset="0"/>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293">
                <a:solidFill>
                  <a:srgbClr val="000000"/>
                </a:solidFill>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96056" y="1988069"/>
            <a:ext cx="458679" cy="458679"/>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E0F120D8-2E1C-97D2-0B8B-E1F1A1754ADF}"/>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A2874374-4E8D-12AA-1924-3D92CD38A0EB}"/>
              </a:ext>
            </a:extLst>
          </p:cNvPr>
          <p:cNvSpPr>
            <a:spLocks/>
          </p:cNvSpPr>
          <p:nvPr/>
        </p:nvSpPr>
        <p:spPr bwMode="auto">
          <a:xfrm>
            <a:off x="377825" y="830192"/>
            <a:ext cx="4895850" cy="6975353"/>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32114F20-6DED-04EB-CC44-EC6CFF6DCC0A}"/>
              </a:ext>
            </a:extLst>
          </p:cNvPr>
          <p:cNvSpPr/>
          <p:nvPr/>
        </p:nvSpPr>
        <p:spPr bwMode="auto">
          <a:xfrm flipH="1">
            <a:off x="377808" y="830193"/>
            <a:ext cx="4895851" cy="367119"/>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87D9E01C-C9A6-5E17-F3DB-B8574ADE2CFC}"/>
              </a:ext>
            </a:extLst>
          </p:cNvPr>
          <p:cNvGraphicFramePr>
            <a:graphicFrameLocks noGrp="1"/>
          </p:cNvGraphicFramePr>
          <p:nvPr>
            <p:extLst>
              <p:ext uri="{D42A27DB-BD31-4B8C-83A1-F6EECF244321}">
                <p14:modId xmlns:p14="http://schemas.microsoft.com/office/powerpoint/2010/main" val="1100539028"/>
              </p:ext>
            </p:extLst>
          </p:nvPr>
        </p:nvGraphicFramePr>
        <p:xfrm>
          <a:off x="377826" y="830184"/>
          <a:ext cx="4895850" cy="6942244"/>
        </p:xfrm>
        <a:graphic>
          <a:graphicData uri="http://schemas.openxmlformats.org/drawingml/2006/table">
            <a:tbl>
              <a:tblPr>
                <a:effectLst/>
                <a:tableStyleId>{2D5ABB26-0587-4C30-8999-92F81FD0307C}</a:tableStyleId>
              </a:tblPr>
              <a:tblGrid>
                <a:gridCol w="3413124">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968376">
                  <a:extLst>
                    <a:ext uri="{9D8B030D-6E8A-4147-A177-3AD203B41FA5}">
                      <a16:colId xmlns:a16="http://schemas.microsoft.com/office/drawing/2014/main" val="20002"/>
                    </a:ext>
                  </a:extLst>
                </a:gridCol>
              </a:tblGrid>
              <a:tr h="38579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auto" hangingPunct="1">
                        <a:lnSpc>
                          <a:spcPct val="100000"/>
                        </a:lnSpc>
                        <a:spcBef>
                          <a:spcPts val="0"/>
                        </a:spcBef>
                        <a:spcAft>
                          <a:spcPts val="0"/>
                        </a:spcAft>
                        <a:buFontTx/>
                        <a:buNone/>
                      </a:pPr>
                      <a:r>
                        <a:rPr lang="en-US" sz="700" b="0"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Incremental capabilities</a:t>
                      </a:r>
                    </a:p>
                  </a:txBody>
                  <a:tcPr marL="72000" marR="72000" marT="0"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700" b="0"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Business Standard</a:t>
                      </a:r>
                    </a:p>
                  </a:txBody>
                  <a:tcPr marL="36000" marR="36000" marT="0"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700" b="0"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Business Premium+ Defender Suite for Business Premium</a:t>
                      </a:r>
                    </a:p>
                  </a:txBody>
                  <a:tcPr marL="36000" marR="36000" marT="0"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1130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Productivity and collaboration (Common to both)</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00">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00">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Desktop, web, and mobile versions of Word, Excel, PowerPoint, Outlook (100 GB), OneNote, Access (PC); Teams; OneDrive (1 TB); SharePoint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Loop, Clipchamp, Editor (premium), Forms, Bookings, Planner, To Do, Sway; webinar hosting with registration and reporting</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Power Apps, Power Automate, Dataverse for Teams, Microsoft Graph API, Microsoft Search, Viva (Connections, Insights, Engage, Learning)</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1130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Device management and Windows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07"/>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Microsoft Intune Plan 1: Endpoint management, security policies, and app deployment across iOS, Android, Windows, macOS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8"/>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Windows Autopilot (zero-touch device setup), Windows Autopatch (automated updates), MAM, Endpoint Analytics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9"/>
                  </a:ext>
                </a:extLst>
              </a:tr>
              <a:tr h="10746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Windows 11 Pro upgrade, Azure Virtual Desktop, Shared Computer Activation</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107469">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Monthly Security Summary Report — posture across identity, devices, info, apps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03031659"/>
                  </a:ext>
                </a:extLst>
              </a:tr>
              <a:tr h="107469">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Device Exposure Score in Microsoft 365 Lighthouse — CSP/MSP cross-tenant view</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60391161"/>
                  </a:ext>
                </a:extLst>
              </a:tr>
              <a:tr h="11130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Identity and access management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1"/>
                  </a:ext>
                </a:extLst>
              </a:tr>
              <a:tr h="10746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Entra ID (Free): Basic SSO and MFA for cloud apps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2"/>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Entra ID P2: Risk-based Conditional Access with real-time sign-in and user risk detection</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Entra ID Protection: ML-driven anomaly detection for compromised credentials and suspicious sign-ins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Entra ID Governance: Access reviews, entitlement management, and Privileged Identity Management (PIM)</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6"/>
                  </a:ext>
                </a:extLst>
              </a:tr>
              <a:tr h="11130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Identity threat detection and response</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7"/>
                  </a:ext>
                </a:extLst>
              </a:tr>
              <a:tr h="139317">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Identity: Monitor on-premises AD and hybrid identity for compromise</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8"/>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Detect lateral movement (pass-the-hash, pass-the-ticket, golden ticket) and credential theft attacks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9"/>
                  </a:ext>
                </a:extLst>
              </a:tr>
              <a:tr h="11130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Endpoint security</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0"/>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Business: Next-gen antivirus, EDR, automated remediation, threat and vulnerability management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1"/>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Defender for Endpoint P2: Advanced threat hunting, custom detection rules, KQL queries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2"/>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Live response, 6-month data retention and advanced behavioral analytics for APT detection</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1130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Email and collaboration security</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4"/>
                  </a:ext>
                </a:extLst>
              </a:tr>
              <a:tr h="10746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Basic anti-spam and anti-malware filtering via Exchange Online Protection (EOP)</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Defender for Office 365 P1: Safe Links, Safe Attachments, anti-phishing policies across email, Teams, SharePoint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6"/>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 Defender for Office 365 P2: Automated Investigation and Response (AIR), Attack Simulation Training</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7"/>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Threat Explorer, Threat Trackers, advanced hunting across email entities with campaign views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8"/>
                  </a:ext>
                </a:extLst>
              </a:tr>
              <a:tr h="214938">
                <a:tc>
                  <a:txBody>
                    <a:bodyPr/>
                    <a:lstStyle/>
                    <a:p>
                      <a:pPr lvl="0" algn="l">
                        <a:buNone/>
                      </a:pPr>
                      <a:r>
                        <a:rPr lang="en-US" sz="700" b="0" i="0" u="none" strike="noStrike" dirty="0">
                          <a:solidFill>
                            <a:srgbClr val="000000"/>
                          </a:solidFill>
                          <a:effectLst/>
                          <a:latin typeface="Segoe UI"/>
                          <a:cs typeface="Segoe UI"/>
                        </a:rPr>
                        <a:t>URL time-of-click protection (</a:t>
                      </a:r>
                      <a:r>
                        <a:rPr lang="en-US" sz="700" b="0" i="0" u="none" strike="noStrike" dirty="0" err="1">
                          <a:solidFill>
                            <a:srgbClr val="000000"/>
                          </a:solidFill>
                          <a:effectLst/>
                          <a:latin typeface="Segoe UI"/>
                          <a:cs typeface="Segoe UI"/>
                        </a:rPr>
                        <a:t>SafeLinks</a:t>
                      </a:r>
                      <a:r>
                        <a:rPr lang="en-US" sz="700" b="0" i="0" u="none" strike="noStrike" dirty="0">
                          <a:solidFill>
                            <a:srgbClr val="000000"/>
                          </a:solidFill>
                          <a:effectLst/>
                          <a:latin typeface="Segoe UI"/>
                          <a:cs typeface="Segoe UI"/>
                        </a:rPr>
                        <a:t> Lite) — re-checks links at moment of click</a:t>
                      </a:r>
                      <a:endParaRPr lang="en-US">
                        <a:sym typeface=""/>
                      </a:endParaRP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a:lnSpc>
                          <a:spcPct val="100000"/>
                        </a:lnSpc>
                        <a:spcBef>
                          <a:spcPts val="0"/>
                        </a:spcBef>
                        <a:spcAft>
                          <a:spcPts val="0"/>
                        </a:spcAft>
                        <a:buClrTx/>
                        <a:buSzTx/>
                        <a:buFontTx/>
                        <a:buNone/>
                      </a:pPr>
                      <a:r>
                        <a:rPr lang="en-US" sz="700" b="0" i="0" u="none" strike="noStrike" kern="1200" cap="none" spc="0" normalizeH="0" baseline="0" noProof="0" dirty="0">
                          <a:ln>
                            <a:noFill/>
                          </a:ln>
                          <a:solidFill>
                            <a:prstClr val="black"/>
                          </a:solidFill>
                          <a:effectLst/>
                          <a:uLnTx/>
                          <a:uFillTx/>
                          <a:latin typeface="Segoe UI"/>
                          <a:ea typeface="+mn-ea"/>
                          <a:cs typeface="Segoe UI"/>
                        </a:rPr>
                        <a:t>✓</a:t>
                      </a:r>
                      <a:endParaRPr lang="en-US"/>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a:lnSpc>
                          <a:spcPct val="100000"/>
                        </a:lnSpc>
                        <a:spcBef>
                          <a:spcPts val="0"/>
                        </a:spcBef>
                        <a:spcAft>
                          <a:spcPts val="0"/>
                        </a:spcAft>
                        <a:buClrTx/>
                        <a:buSzTx/>
                        <a:buFontTx/>
                        <a:buNone/>
                      </a:pPr>
                      <a:r>
                        <a:rPr lang="en-US" sz="700" b="0" i="0" u="none" strike="noStrike" kern="1200" cap="none" spc="0" normalizeH="0" baseline="0" noProof="0" dirty="0">
                          <a:ln>
                            <a:noFill/>
                          </a:ln>
                          <a:solidFill>
                            <a:prstClr val="black"/>
                          </a:solidFill>
                          <a:effectLst/>
                          <a:uLnTx/>
                          <a:uFillTx/>
                          <a:latin typeface="Segoe UI"/>
                          <a:ea typeface="+mn-ea"/>
                          <a:cs typeface="Segoe UI"/>
                        </a:rPr>
                        <a:t>✓</a:t>
                      </a:r>
                      <a:endParaRPr lang="en-US">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18858158"/>
                  </a:ext>
                </a:extLst>
              </a:tr>
              <a:tr h="11130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Cloud application, IoT and Unified XDR</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Cloud Apps: Discover/control shadow IT across 31,000+ cloud and AI apps with session governance</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Defender for IoT (Enterprise IoT): Continuous asset discovery and threat detection for connected devices</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Defender XDR: Unified incident correlation, automatic attack disruption, and cross-domain advanced hunting</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1130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Data security baseline</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Information Protection P1: Manual sensitivity labels, default labeling, basic classification</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214939">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DLP for email and files; Audit (Standard); BitLocker; Credential Guard; Windows Information Protection</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40526">
                <a:tc>
                  <a:txBody>
                    <a:body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Copilot Chat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2986865826"/>
                  </a:ext>
                </a:extLst>
              </a:tr>
              <a:tr h="214939">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1546145"/>
                  </a:ext>
                </a:extLst>
              </a:tr>
              <a:tr h="120189">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68845629"/>
                  </a:ext>
                </a:extLst>
              </a:tr>
            </a:tbl>
          </a:graphicData>
        </a:graphic>
      </p:graphicFrame>
      <p:sp>
        <p:nvSpPr>
          <p:cNvPr id="7" name="Incremental capabilities from Current SKU to Target SKU">
            <a:extLst>
              <a:ext uri="{FF2B5EF4-FFF2-40B4-BE49-F238E27FC236}">
                <a16:creationId xmlns:a16="http://schemas.microsoft.com/office/drawing/2014/main" id="{695CE84E-C81D-9DD0-A22C-DDDA4219B39A}"/>
              </a:ext>
            </a:extLst>
          </p:cNvPr>
          <p:cNvSpPr/>
          <p:nvPr/>
        </p:nvSpPr>
        <p:spPr>
          <a:xfrm>
            <a:off x="377826" y="226190"/>
            <a:ext cx="4895849" cy="470898"/>
          </a:xfrm>
          <a:prstGeom prst="rect">
            <a:avLst/>
          </a:prstGeom>
          <a:noFill/>
          <a:ln/>
        </p:spPr>
        <p:txBody>
          <a:bodyPr wrap="square" lIns="0" tIns="0" rIns="0" bIns="0" rtlCol="0" anchor="t" anchorCtr="0">
            <a:spAutoFit/>
          </a:bodyPr>
          <a:lstStyle/>
          <a:p>
            <a:pPr defTabSz="910968">
              <a:lnSpc>
                <a:spcPct val="85000"/>
              </a:lnSpc>
              <a:defRPr/>
            </a:pPr>
            <a:r>
              <a:rPr lang="en-US">
                <a:solidFill>
                  <a:srgbClr val="B740C5"/>
                </a:solidFill>
                <a:latin typeface="Segoe UI Semibold"/>
                <a:cs typeface="Segoe UI Semibold"/>
              </a:rPr>
              <a:t>Business Standard vs Business Premium + Defender Suite for Business Premium</a:t>
            </a:r>
          </a:p>
        </p:txBody>
      </p:sp>
    </p:spTree>
    <p:extLst>
      <p:ext uri="{BB962C8B-B14F-4D97-AF65-F5344CB8AC3E}">
        <p14:creationId xmlns:p14="http://schemas.microsoft.com/office/powerpoint/2010/main" val="984748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TotalTime>
  <Words>293</Words>
  <Application>Microsoft Office PowerPoint</Application>
  <PresentationFormat>Custom</PresentationFormat>
  <Paragraphs>34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Defender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4</cp:revision>
  <dcterms:created xsi:type="dcterms:W3CDTF">2026-04-04T15:01:26Z</dcterms:created>
  <dcterms:modified xsi:type="dcterms:W3CDTF">2026-04-11T11:24:51Z</dcterms:modified>
</cp:coreProperties>
</file>