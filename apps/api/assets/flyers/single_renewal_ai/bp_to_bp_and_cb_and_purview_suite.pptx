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2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24.xml" ContentType="application/vnd.openxmlformats-officedocument.presentationml.slideLayout+xml"/>
  <Override PartName="/ppt/slideMasters/slideMaster4.xml" ContentType="application/vnd.openxmlformats-officedocument.presentationml.slideMaster+xml"/>
  <Override PartName="/ppt/theme/theme5.xml" ContentType="application/vnd.openxmlformats-officedocument.theme+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25.xml" ContentType="application/vnd.openxmlformats-officedocument.presentationml.slideLayout+xml"/>
  <Override PartName="/ppt/slideMasters/slideMaster5.xml" ContentType="application/vnd.openxmlformats-officedocument.presentationml.slideMaster+xml"/>
  <Override PartName="/ppt/theme/theme6.xml" ContentType="application/vnd.openxmlformats-officedocument.theme+xml"/>
  <Override PartName="/ppt/slides/slide6.xml" ContentType="application/vnd.openxmlformats-officedocument.presentationml.slide+xml"/>
  <Override PartName="/ppt/notesSlides/notesSlide6.xml" ContentType="application/vnd.openxmlformats-officedocument.presentationml.notesSlide+xml"/>
  <Override PartName="/ppt/slideLayouts/slideLayout26.xml" ContentType="application/vnd.openxmlformats-officedocument.presentationml.slideLayout+xml"/>
  <Override PartName="/ppt/slideMasters/slideMaster6.xml" ContentType="application/vnd.openxmlformats-officedocument.presentationml.slideMaster+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7.xml" ContentType="application/vnd.openxmlformats-officedocument.theme+xml"/>
  <Override PartName="/ppt/slideLayouts/slideLayout29.xml" ContentType="application/vnd.openxmlformats-officedocument.presentationml.slideLayout+xml"/>
  <Override PartName="/ppt/slides/slide7.xml" ContentType="application/vnd.openxmlformats-officedocument.presentationml.slide+xml"/>
  <Override PartName="/ppt/notesSlides/notesSlide7.xml" ContentType="application/vnd.openxmlformats-officedocument.presentationml.notesSlide+xml"/>
  <Override PartName="/ppt/slideLayouts/slideLayout30.xml" ContentType="application/vnd.openxmlformats-officedocument.presentationml.slideLayout+xml"/>
  <Override PartName="/ppt/slideMasters/slideMaster7.xml" ContentType="application/vnd.openxmlformats-officedocument.presentationml.slideMaster+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8.xml" ContentType="application/vnd.openxmlformats-officedocument.theme+xml"/>
  <Override PartName="/ppt/slideLayouts/slideLayout3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66" r:id="rId17"/>
    <p:sldMasterId id="2147483767" r:id="rId18"/>
    <p:sldMasterId id="2147483768" r:id="rId19"/>
    <p:sldMasterId id="2147483769" r:id="rId20"/>
    <p:sldMasterId id="2147483770" r:id="rId21"/>
    <p:sldMasterId id="2147483771" r:id="rId22"/>
  </p:sldMasterIdLst>
  <p:notesMasterIdLst>
    <p:notesMasterId r:id="rId3"/>
  </p:notesMasterIdLst>
  <p:sldIdLst>
    <p:sldId id="256" r:id="rId10"/>
    <p:sldId id="257" r:id="rId11"/>
    <p:sldId id="258" r:id="rId12"/>
    <p:sldId id="259" r:id="rId13"/>
    <p:sldId id="260" r:id="rId14"/>
    <p:sldId id="261" r:id="rId15"/>
    <p:sldId id="262" r:id="rId16"/>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A6721E-6B04-FA5C-EBE6-CCBD6B554CA0}" v="1" dt="2026-04-11T11:17:47.7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Master" Target="slideMasters/slideMaster2.xml"/><Relationship Id="rId18" Type="http://schemas.openxmlformats.org/officeDocument/2006/relationships/slideMaster" Target="slideMasters/slideMaster3.xml"/><Relationship Id="rId19" Type="http://schemas.openxmlformats.org/officeDocument/2006/relationships/slideMaster" Target="slideMasters/slideMaster4.xml"/><Relationship Id="rId20" Type="http://schemas.openxmlformats.org/officeDocument/2006/relationships/slideMaster" Target="slideMasters/slideMaster5.xml"/><Relationship Id="rId21" Type="http://schemas.openxmlformats.org/officeDocument/2006/relationships/slideMaster" Target="slideMasters/slideMaster6.xml"/><Relationship Id="rId22" Type="http://schemas.openxmlformats.org/officeDocument/2006/relationships/slideMaster" Target="slideMasters/slideMaster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DDA6721E-6B04-FA5C-EBE6-CCBD6B554CA0}"/>
    <pc:docChg chg="mod modSld modMainMaster setSldSz">
      <pc:chgData name="Seema Kapri" userId="S::seema.kapri@hsv.digital::3468d2f6-a5eb-4e01-882c-f62721c4c7bf" providerId="AD" clId="Web-{DDA6721E-6B04-FA5C-EBE6-CCBD6B554CA0}" dt="2026-04-11T11:17:47.706" v="0"/>
      <pc:docMkLst>
        <pc:docMk/>
      </pc:docMkLst>
      <pc:sldChg chg="modSp">
        <pc:chgData name="Seema Kapri" userId="S::seema.kapri@hsv.digital::3468d2f6-a5eb-4e01-882c-f62721c4c7bf" providerId="AD" clId="Web-{DDA6721E-6B04-FA5C-EBE6-CCBD6B554CA0}" dt="2026-04-11T11:17:47.706" v="0"/>
        <pc:sldMkLst>
          <pc:docMk/>
          <pc:sldMk cId="3298069851" sldId="2147470023"/>
        </pc:sldMkLst>
        <pc:spChg chg="mod">
          <ac:chgData name="Seema Kapri" userId="S::seema.kapri@hsv.digital::3468d2f6-a5eb-4e01-882c-f62721c4c7bf" providerId="AD" clId="Web-{DDA6721E-6B04-FA5C-EBE6-CCBD6B554CA0}" dt="2026-04-11T11:17:47.706" v="0"/>
          <ac:spMkLst>
            <pc:docMk/>
            <pc:sldMk cId="3298069851" sldId="2147470023"/>
            <ac:spMk id="7" creationId="{E5468804-248C-0CEE-E8C6-94ABA50D108A}"/>
          </ac:spMkLst>
        </pc:spChg>
        <pc:spChg chg="mod">
          <ac:chgData name="Seema Kapri" userId="S::seema.kapri@hsv.digital::3468d2f6-a5eb-4e01-882c-f62721c4c7bf" providerId="AD" clId="Web-{DDA6721E-6B04-FA5C-EBE6-CCBD6B554CA0}" dt="2026-04-11T11:17:47.706" v="0"/>
          <ac:spMkLst>
            <pc:docMk/>
            <pc:sldMk cId="3298069851" sldId="2147470023"/>
            <ac:spMk id="13" creationId="{C84F39E5-C9BA-7B18-B2B0-559D4E7E46F1}"/>
          </ac:spMkLst>
        </pc:spChg>
        <pc:spChg chg="mod">
          <ac:chgData name="Seema Kapri" userId="S::seema.kapri@hsv.digital::3468d2f6-a5eb-4e01-882c-f62721c4c7bf" providerId="AD" clId="Web-{DDA6721E-6B04-FA5C-EBE6-CCBD6B554CA0}" dt="2026-04-11T11:17:47.706" v="0"/>
          <ac:spMkLst>
            <pc:docMk/>
            <pc:sldMk cId="3298069851" sldId="2147470023"/>
            <ac:spMk id="28" creationId="{57D7657B-FB49-71AB-DBC9-E23C00C4DC9F}"/>
          </ac:spMkLst>
        </pc:spChg>
        <pc:spChg chg="mod">
          <ac:chgData name="Seema Kapri" userId="S::seema.kapri@hsv.digital::3468d2f6-a5eb-4e01-882c-f62721c4c7bf" providerId="AD" clId="Web-{DDA6721E-6B04-FA5C-EBE6-CCBD6B554CA0}" dt="2026-04-11T11:17:47.706" v="0"/>
          <ac:spMkLst>
            <pc:docMk/>
            <pc:sldMk cId="3298069851" sldId="2147470023"/>
            <ac:spMk id="32" creationId="{838B9FE7-7E34-BC5E-4C6A-AC21450FEE7D}"/>
          </ac:spMkLst>
        </pc:spChg>
        <pc:spChg chg="mod">
          <ac:chgData name="Seema Kapri" userId="S::seema.kapri@hsv.digital::3468d2f6-a5eb-4e01-882c-f62721c4c7bf" providerId="AD" clId="Web-{DDA6721E-6B04-FA5C-EBE6-CCBD6B554CA0}" dt="2026-04-11T11:17:47.706" v="0"/>
          <ac:spMkLst>
            <pc:docMk/>
            <pc:sldMk cId="3298069851" sldId="2147470023"/>
            <ac:spMk id="52" creationId="{E27CCE3A-4CA9-6725-47FE-1DA975F68CAC}"/>
          </ac:spMkLst>
        </pc:spChg>
        <pc:spChg chg="mod">
          <ac:chgData name="Seema Kapri" userId="S::seema.kapri@hsv.digital::3468d2f6-a5eb-4e01-882c-f62721c4c7bf" providerId="AD" clId="Web-{DDA6721E-6B04-FA5C-EBE6-CCBD6B554CA0}" dt="2026-04-11T11:17:47.706" v="0"/>
          <ac:spMkLst>
            <pc:docMk/>
            <pc:sldMk cId="3298069851" sldId="2147470023"/>
            <ac:spMk id="53" creationId="{46FA38A9-5B56-060E-8BF7-9A1ED5ABAEA6}"/>
          </ac:spMkLst>
        </pc:spChg>
        <pc:spChg chg="mod">
          <ac:chgData name="Seema Kapri" userId="S::seema.kapri@hsv.digital::3468d2f6-a5eb-4e01-882c-f62721c4c7bf" providerId="AD" clId="Web-{DDA6721E-6B04-FA5C-EBE6-CCBD6B554CA0}" dt="2026-04-11T11:17:47.706" v="0"/>
          <ac:spMkLst>
            <pc:docMk/>
            <pc:sldMk cId="3298069851" sldId="2147470023"/>
            <ac:spMk id="1075" creationId="{557D5DDB-7AB9-C555-3BCD-45D9AFDE0D56}"/>
          </ac:spMkLst>
        </pc:spChg>
        <pc:spChg chg="mod">
          <ac:chgData name="Seema Kapri" userId="S::seema.kapri@hsv.digital::3468d2f6-a5eb-4e01-882c-f62721c4c7bf" providerId="AD" clId="Web-{DDA6721E-6B04-FA5C-EBE6-CCBD6B554CA0}" dt="2026-04-11T11:17:47.706" v="0"/>
          <ac:spMkLst>
            <pc:docMk/>
            <pc:sldMk cId="3298069851" sldId="2147470023"/>
            <ac:spMk id="1078" creationId="{55880586-128A-F276-4E99-8451604752EA}"/>
          </ac:spMkLst>
        </pc:spChg>
        <pc:spChg chg="mod">
          <ac:chgData name="Seema Kapri" userId="S::seema.kapri@hsv.digital::3468d2f6-a5eb-4e01-882c-f62721c4c7bf" providerId="AD" clId="Web-{DDA6721E-6B04-FA5C-EBE6-CCBD6B554CA0}" dt="2026-04-11T11:17:47.706" v="0"/>
          <ac:spMkLst>
            <pc:docMk/>
            <pc:sldMk cId="3298069851" sldId="2147470023"/>
            <ac:spMk id="1094" creationId="{13DBC4B1-0373-CC23-CEB6-CC0278DC30AE}"/>
          </ac:spMkLst>
        </pc:spChg>
        <pc:spChg chg="mod">
          <ac:chgData name="Seema Kapri" userId="S::seema.kapri@hsv.digital::3468d2f6-a5eb-4e01-882c-f62721c4c7bf" providerId="AD" clId="Web-{DDA6721E-6B04-FA5C-EBE6-CCBD6B554CA0}" dt="2026-04-11T11:17:47.706" v="0"/>
          <ac:spMkLst>
            <pc:docMk/>
            <pc:sldMk cId="3298069851" sldId="2147470023"/>
            <ac:spMk id="1101" creationId="{3A5D7665-C133-9D6E-24E3-839953966045}"/>
          </ac:spMkLst>
        </pc:spChg>
      </pc:sldChg>
      <pc:sldMasterChg chg="modSp modSldLayout">
        <pc:chgData name="Seema Kapri" userId="S::seema.kapri@hsv.digital::3468d2f6-a5eb-4e01-882c-f62721c4c7bf" providerId="AD" clId="Web-{DDA6721E-6B04-FA5C-EBE6-CCBD6B554CA0}" dt="2026-04-11T11:17:47.706" v="0"/>
        <pc:sldMasterMkLst>
          <pc:docMk/>
          <pc:sldMasterMk cId="1122647173" sldId="2147483732"/>
        </pc:sldMasterMkLst>
        <pc:spChg chg="mod">
          <ac:chgData name="Seema Kapri" userId="S::seema.kapri@hsv.digital::3468d2f6-a5eb-4e01-882c-f62721c4c7bf" providerId="AD" clId="Web-{DDA6721E-6B04-FA5C-EBE6-CCBD6B554CA0}" dt="2026-04-11T11:17:47.706" v="0"/>
          <ac:spMkLst>
            <pc:docMk/>
            <pc:sldMasterMk cId="1122647173" sldId="2147483732"/>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ac:spMk id="6" creationId="{00000000-0000-0000-0000-000000000000}"/>
          </ac:spMkLst>
        </pc:spChg>
        <pc:sldLayoutChg chg="modSp">
          <pc:chgData name="Seema Kapri" userId="S::seema.kapri@hsv.digital::3468d2f6-a5eb-4e01-882c-f62721c4c7bf" providerId="AD" clId="Web-{DDA6721E-6B04-FA5C-EBE6-CCBD6B554CA0}" dt="2026-04-11T11:17:47.706" v="0"/>
          <pc:sldLayoutMkLst>
            <pc:docMk/>
            <pc:sldMasterMk cId="1122647173" sldId="2147483732"/>
            <pc:sldLayoutMk cId="17524809" sldId="2147483733"/>
          </pc:sldLayoutMkLst>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092314792" sldId="2147483735"/>
          </pc:sldLayoutMkLst>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4580187" sldId="2147483736"/>
          </pc:sldLayoutMkLst>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880376873" sldId="2147483737"/>
          </pc:sldLayoutMkLst>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2752899885" sldId="2147483740"/>
          </pc:sldLayoutMkLst>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1722206160" sldId="2147483741"/>
          </pc:sldLayoutMkLst>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DDA6721E-6B04-FA5C-EBE6-CCBD6B554CA0}" dt="2026-04-11T11:17:47.706" v="0"/>
          <pc:sldLayoutMkLst>
            <pc:docMk/>
            <pc:sldMasterMk cId="1122647173" sldId="2147483732"/>
            <pc:sldLayoutMk cId="3785386807" sldId="2147483743"/>
          </pc:sldLayoutMkLst>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DDA6721E-6B04-FA5C-EBE6-CCBD6B554CA0}" dt="2026-04-11T11:17:47.706"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F5B94-7254-B64C-EA7B-1C93678F6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5FCFC6-82FA-0164-A8DD-69AC1B01FD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142F50-57BB-A401-D242-44FF3C29AB8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ADB0A73-7982-EA4C-11CA-FF7E233ED343}"/>
              </a:ext>
            </a:extLst>
          </p:cNvPr>
          <p:cNvSpPr>
            <a:spLocks noGrp="1"/>
          </p:cNvSpPr>
          <p:nvPr>
            <p:ph type="sldNum" sz="quarter" idx="5"/>
          </p:nvPr>
        </p:nvSpPr>
        <p:spPr/>
        <p:txBody>
          <a:bodyPr/>
          <a:lstStyle/>
          <a:p>
            <a:fld id="{7034A72A-6E2F-4343-B7FF-0EAC6B5BD073}" type="slidenum">
              <a:rPr lang="en-IN" smtClean="0"/>
              <a:t>1</a:t>
            </a:fld>
            <a:endParaRPr lang="en-IN"/>
          </a:p>
        </p:txBody>
      </p:sp>
    </p:spTree>
    <p:extLst>
      <p:ext uri="{BB962C8B-B14F-4D97-AF65-F5344CB8AC3E}">
        <p14:creationId xmlns:p14="http://schemas.microsoft.com/office/powerpoint/2010/main" val="81938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12ED6-43E9-5765-8E82-B6CFEF0B5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8D3DA-6B21-9625-DFE9-B620DEF35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1E5A7-84E4-E14D-AFAF-517F073E2B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A55E2A-8602-DDCC-5A2F-5DC686A0D4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893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7"/>
          </a:xfrm>
        </p:spPr>
        <p:txBody>
          <a:bodyPr anchor="b"/>
          <a:lstStyle>
            <a:lvl1pPr algn="ctr">
              <a:defRPr sz="3667"/>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67"/>
            </a:lvl1pPr>
            <a:lvl2pPr marL="279435" indent="0" algn="ctr">
              <a:buNone/>
              <a:defRPr sz="1223"/>
            </a:lvl2pPr>
            <a:lvl3pPr marL="558870" indent="0" algn="ctr">
              <a:buNone/>
              <a:defRPr sz="1100"/>
            </a:lvl3pPr>
            <a:lvl4pPr marL="838305" indent="0" algn="ctr">
              <a:buNone/>
              <a:defRPr sz="978"/>
            </a:lvl4pPr>
            <a:lvl5pPr marL="1117740" indent="0" algn="ctr">
              <a:buNone/>
              <a:defRPr sz="978"/>
            </a:lvl5pPr>
            <a:lvl6pPr marL="1397174" indent="0" algn="ctr">
              <a:buNone/>
              <a:defRPr sz="978"/>
            </a:lvl6pPr>
            <a:lvl7pPr marL="1676610" indent="0" algn="ctr">
              <a:buNone/>
              <a:defRPr sz="978"/>
            </a:lvl7pPr>
            <a:lvl8pPr marL="1956045" indent="0" algn="ctr">
              <a:buNone/>
              <a:defRPr sz="978"/>
            </a:lvl8pPr>
            <a:lvl9pPr marL="2235479" indent="0" algn="ctr">
              <a:buNone/>
              <a:defRPr sz="97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47799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Content Placeholder 2"/>
          <p:cNvSpPr>
            <a:spLocks noGrp="1"/>
          </p:cNvSpPr>
          <p:nvPr>
            <p:ph idx="1"/>
          </p:nvPr>
        </p:nvSpPr>
        <p:spPr>
          <a:xfrm>
            <a:off x="2401274" y="1150626"/>
            <a:ext cx="2859464" cy="5679127"/>
          </a:xfrm>
        </p:spPr>
        <p:txBody>
          <a:bodyPr/>
          <a:lstStyle>
            <a:lvl1pPr>
              <a:defRPr sz="1956"/>
            </a:lvl1pPr>
            <a:lvl2pPr>
              <a:defRPr sz="1712"/>
            </a:lvl2pPr>
            <a:lvl3pPr>
              <a:defRPr sz="1467"/>
            </a:lvl3pPr>
            <a:lvl4pPr>
              <a:defRPr sz="1223"/>
            </a:lvl4pPr>
            <a:lvl5pPr>
              <a:defRPr sz="1223"/>
            </a:lvl5pPr>
            <a:lvl6pPr>
              <a:defRPr sz="1223"/>
            </a:lvl6pPr>
            <a:lvl7pPr>
              <a:defRPr sz="1223"/>
            </a:lvl7pPr>
            <a:lvl8pPr>
              <a:defRPr sz="1223"/>
            </a:lvl8pPr>
            <a:lvl9pPr>
              <a:defRPr sz="12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845113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667"/>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67">
                <a:solidFill>
                  <a:schemeClr val="tx1">
                    <a:tint val="82000"/>
                  </a:schemeClr>
                </a:solidFill>
              </a:defRPr>
            </a:lvl1pPr>
            <a:lvl2pPr marL="279435" indent="0">
              <a:buNone/>
              <a:defRPr sz="1223">
                <a:solidFill>
                  <a:schemeClr val="tx1">
                    <a:tint val="82000"/>
                  </a:schemeClr>
                </a:solidFill>
              </a:defRPr>
            </a:lvl2pPr>
            <a:lvl3pPr marL="558870" indent="0">
              <a:buNone/>
              <a:defRPr sz="1100">
                <a:solidFill>
                  <a:schemeClr val="tx1">
                    <a:tint val="82000"/>
                  </a:schemeClr>
                </a:solidFill>
              </a:defRPr>
            </a:lvl3pPr>
            <a:lvl4pPr marL="838305" indent="0">
              <a:buNone/>
              <a:defRPr sz="978">
                <a:solidFill>
                  <a:schemeClr val="tx1">
                    <a:tint val="82000"/>
                  </a:schemeClr>
                </a:solidFill>
              </a:defRPr>
            </a:lvl4pPr>
            <a:lvl5pPr marL="1117740" indent="0">
              <a:buNone/>
              <a:defRPr sz="978">
                <a:solidFill>
                  <a:schemeClr val="tx1">
                    <a:tint val="82000"/>
                  </a:schemeClr>
                </a:solidFill>
              </a:defRPr>
            </a:lvl5pPr>
            <a:lvl6pPr marL="1397174" indent="0">
              <a:buNone/>
              <a:defRPr sz="978">
                <a:solidFill>
                  <a:schemeClr val="tx1">
                    <a:tint val="82000"/>
                  </a:schemeClr>
                </a:solidFill>
              </a:defRPr>
            </a:lvl6pPr>
            <a:lvl7pPr marL="1676610" indent="0">
              <a:buNone/>
              <a:defRPr sz="978">
                <a:solidFill>
                  <a:schemeClr val="tx1">
                    <a:tint val="82000"/>
                  </a:schemeClr>
                </a:solidFill>
              </a:defRPr>
            </a:lvl7pPr>
            <a:lvl8pPr marL="1956045" indent="0">
              <a:buNone/>
              <a:defRPr sz="978">
                <a:solidFill>
                  <a:schemeClr val="tx1">
                    <a:tint val="82000"/>
                  </a:schemeClr>
                </a:solidFill>
              </a:defRPr>
            </a:lvl8pPr>
            <a:lvl9pPr marL="2235479" indent="0">
              <a:buNone/>
              <a:defRPr sz="97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112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536002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932589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063567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3"/>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3"/>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630778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3"/>
            <a:ext cx="2389506"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4" name="Content Placeholder 3"/>
          <p:cNvSpPr>
            <a:spLocks noGrp="1"/>
          </p:cNvSpPr>
          <p:nvPr>
            <p:ph sz="half" idx="2"/>
          </p:nvPr>
        </p:nvSpPr>
        <p:spPr>
          <a:xfrm>
            <a:off x="389058" y="2919109"/>
            <a:ext cx="2389506"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3"/>
            <a:ext cx="2401273"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6" name="Content Placeholder 5"/>
          <p:cNvSpPr>
            <a:spLocks noGrp="1"/>
          </p:cNvSpPr>
          <p:nvPr>
            <p:ph sz="quarter" idx="4"/>
          </p:nvPr>
        </p:nvSpPr>
        <p:spPr>
          <a:xfrm>
            <a:off x="2859466" y="2919109"/>
            <a:ext cx="2401273"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69259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505868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68839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6"/>
            <a:ext cx="2859464" cy="5679127"/>
          </a:xfrm>
        </p:spPr>
        <p:txBody>
          <a:bodyPr anchor="t"/>
          <a:lstStyle>
            <a:lvl1pPr marL="0" indent="0">
              <a:buNone/>
              <a:defRPr sz="1956"/>
            </a:lvl1pPr>
            <a:lvl2pPr marL="279435" indent="0">
              <a:buNone/>
              <a:defRPr sz="1712"/>
            </a:lvl2pPr>
            <a:lvl3pPr marL="558870" indent="0">
              <a:buNone/>
              <a:defRPr sz="1467"/>
            </a:lvl3pPr>
            <a:lvl4pPr marL="838305" indent="0">
              <a:buNone/>
              <a:defRPr sz="1223"/>
            </a:lvl4pPr>
            <a:lvl5pPr marL="1117740" indent="0">
              <a:buNone/>
              <a:defRPr sz="1223"/>
            </a:lvl5pPr>
            <a:lvl6pPr marL="1397174" indent="0">
              <a:buNone/>
              <a:defRPr sz="1223"/>
            </a:lvl6pPr>
            <a:lvl7pPr marL="1676610" indent="0">
              <a:buNone/>
              <a:defRPr sz="1223"/>
            </a:lvl7pPr>
            <a:lvl8pPr marL="1956045" indent="0">
              <a:buNone/>
              <a:defRPr sz="1223"/>
            </a:lvl8pPr>
            <a:lvl9pPr marL="2235479" indent="0">
              <a:buNone/>
              <a:defRPr sz="1223"/>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1831546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846957030"/>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14.xml"/><Relationship Id="rId7" Type="http://schemas.openxmlformats.org/officeDocument/2006/relationships/slideLayout" Target="../slideLayouts/slideLayout15.xml"/><Relationship Id="rId12"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18.xml"/><Relationship Id="rId5" Type="http://schemas.openxmlformats.org/officeDocument/2006/relationships/slideLayout" Target="../slideLayouts/slideLayout19.xml"/><Relationship Id="rId10"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2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2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8.xml"/><Relationship Id="rId1" Type="http://schemas.openxmlformats.org/officeDocument/2006/relationships/slideLayout" Target="../slideLayouts/slideLayout26.xml"/><Relationship Id="rId5" Type="http://schemas.openxmlformats.org/officeDocument/2006/relationships/theme" Target="../theme/theme7.xml"/><Relationship Id="rId4" Type="http://schemas.openxmlformats.org/officeDocument/2006/relationships/slideLayout" Target="../slideLayouts/slideLayout29.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slideLayout" Target="../slideLayouts/slideLayout32.xml"/><Relationship Id="rId1" Type="http://schemas.openxmlformats.org/officeDocument/2006/relationships/slideLayout" Target="../slideLayouts/slideLayout30.xml"/><Relationship Id="rId5" Type="http://schemas.openxmlformats.org/officeDocument/2006/relationships/theme" Target="../theme/theme8.xml"/><Relationship Id="rId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6"/>
            <a:ext cx="1270873" cy="425472"/>
          </a:xfrm>
          <a:prstGeom prst="rect">
            <a:avLst/>
          </a:prstGeom>
        </p:spPr>
        <p:txBody>
          <a:bodyPr vert="horz" lIns="91440" tIns="45720" rIns="91440" bIns="45720" rtlCol="0" anchor="ctr"/>
          <a:lstStyle>
            <a:lvl1pPr algn="l">
              <a:defRPr sz="734">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6"/>
            <a:ext cx="1906310" cy="425472"/>
          </a:xfrm>
          <a:prstGeom prst="rect">
            <a:avLst/>
          </a:prstGeom>
        </p:spPr>
        <p:txBody>
          <a:bodyPr vert="horz" lIns="91440" tIns="45720" rIns="91440" bIns="45720" rtlCol="0" anchor="ctr"/>
          <a:lstStyle>
            <a:lvl1pPr algn="ctr">
              <a:defRPr sz="73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6"/>
            <a:ext cx="1270873" cy="425472"/>
          </a:xfrm>
          <a:prstGeom prst="rect">
            <a:avLst/>
          </a:prstGeom>
        </p:spPr>
        <p:txBody>
          <a:bodyPr vert="horz" lIns="91440" tIns="45720" rIns="91440" bIns="45720" rtlCol="0" anchor="ctr"/>
          <a:lstStyle>
            <a:lvl1pPr algn="r">
              <a:defRPr sz="73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4225429862"/>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7/6/2026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755"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7/15/2026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788318513"/>
      </p:ext>
    </p:extLst>
  </p:cSld>
  <p:clrMap bg1="lt1" tx1="dk1" bg2="lt2" tx2="dk2" accent1="accent1" accent2="accent2" accent3="accent3" accent4="accent4" accent5="accent5" accent6="accent6" hlink="hlink" folHlink="folHlink"/>
  <p:sldLayoutIdLst>
    <p:sldLayoutId id="2147483756"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png"/><Relationship Id="rId7"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hyperlink" Target="https://adoption.microsoft.com/en-us/copilot/frontier-progra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0.xml"/><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805"/>
            <a:ext cx="5648324" cy="7309597"/>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84" y="4323012"/>
            <a:ext cx="5656891" cy="3668089"/>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890400"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2656" y="5781853"/>
            <a:ext cx="2511529" cy="1901586"/>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895463"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7720" y="3980827"/>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890400"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15391"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2656" y="2192159"/>
            <a:ext cx="2511529" cy="1686312"/>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7649" y="2216582"/>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807"/>
            <a:ext cx="5648325" cy="1386114"/>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5943" y="-11814"/>
            <a:ext cx="4776665" cy="1478631"/>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69579" y="596380"/>
            <a:ext cx="3933796" cy="62651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5517">
              <a:spcBef>
                <a:spcPts val="0"/>
              </a:spcBef>
              <a:defRPr/>
            </a:pPr>
            <a:r>
              <a:rPr lang="en-US" sz="2036" spc="-23">
                <a:latin typeface="Segoe Sans Display Semibold" pitchFamily="2" charset="0"/>
                <a:cs typeface="Segoe Sans Display Semibold" pitchFamily="2" charset="0"/>
              </a:rPr>
              <a:t>Transform your business with   one AI solution – </a:t>
            </a:r>
            <a:r>
              <a:rPr lang="en-US" sz="2036" spc="-23">
                <a:solidFill>
                  <a:srgbClr val="C03BC4"/>
                </a:solidFill>
                <a:latin typeface="Segoe Sans Display Semibold" pitchFamily="2" charset="0"/>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254" y="257792"/>
            <a:ext cx="794036" cy="166740"/>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3814" y="1285455"/>
            <a:ext cx="4394794" cy="70609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997">
                <a:solidFill>
                  <a:srgbClr val="000000">
                    <a:lumMod val="85000"/>
                    <a:lumOff val="15000"/>
                  </a:srgbClr>
                </a:solidFill>
                <a:latin typeface="Segoe UI" panose="020B0502040204020203" pitchFamily="34" charset="0"/>
                <a:cs typeface="Segoe UI" panose="020B0502040204020203" pitchFamily="34" charset="0"/>
              </a:rPr>
              <a:t>Move beyond the basics. Unlock even more power of AI at work with Copilot Business. Work with Work IQ to surface insights, power market research, and strengthen strategic planning—reasoning across your meetings, emails, and documents.</a:t>
            </a:r>
            <a:endParaRPr lang="en-US" sz="997">
              <a:solidFill>
                <a:srgbClr val="000000">
                  <a:lumMod val="85000"/>
                  <a:lumOff val="15000"/>
                </a:srgbClr>
              </a:solidFill>
              <a:latin typeface="Segoe UI"/>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3127" y="2237431"/>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All-in-1 AI productivity app</a:t>
            </a:r>
            <a:endParaRPr lang="en-US" sz="1018">
              <a:solidFill>
                <a:srgbClr val="FFFFFF"/>
              </a:solidFill>
              <a:latin typeface="Segoe UI"/>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47624" y="2237430"/>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Integrated into existing apps</a:t>
            </a:r>
            <a:endParaRPr lang="en-US" sz="1018">
              <a:solidFill>
                <a:srgbClr val="FFFFFF"/>
              </a:solidFill>
              <a:latin typeface="Segoe UI"/>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5330" y="6177568"/>
            <a:ext cx="2464423" cy="775707"/>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399968" y="7022452"/>
            <a:ext cx="2229979"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88454" y="7004451"/>
            <a:ext cx="2124435"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6520" y="5158285"/>
            <a:ext cx="2336878" cy="36074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82231" y="4950916"/>
            <a:ext cx="2336878" cy="629147"/>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872">
                <a:solidFill>
                  <a:srgbClr val="000000"/>
                </a:solidFill>
                <a:latin typeface="Segoe UI"/>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2179" y="2479469"/>
            <a:ext cx="2223613" cy="127534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124608" indent="-124608" defTabSz="332288">
              <a:lnSpc>
                <a:spcPct val="150000"/>
              </a:lnSpc>
              <a:buFont typeface="Arial" panose="020B0604020202020204" pitchFamily="34" charset="0"/>
              <a:buChar char="•"/>
              <a:defRPr/>
            </a:pPr>
            <a:r>
              <a:rPr lang="en-US" sz="872">
                <a:solidFill>
                  <a:srgbClr val="000000"/>
                </a:solidFill>
                <a:latin typeface="Segoe UI"/>
              </a:rPr>
              <a:t>Secure AI chat </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 search enhanced by Work IQ</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Ecosystem of pre-built agents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AI-generated multi-media</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Centralize content of various types</a:t>
            </a:r>
          </a:p>
          <a:p>
            <a:pPr marL="124608" indent="-124608" defTabSz="332288">
              <a:lnSpc>
                <a:spcPct val="150000"/>
              </a:lnSpc>
              <a:buFont typeface="Arial" panose="020B0604020202020204" pitchFamily="34" charset="0"/>
              <a:buChar char="•"/>
              <a:defRPr/>
            </a:pPr>
            <a:r>
              <a:rPr lang="en-US" sz="872">
                <a:solidFill>
                  <a:srgbClr val="000000"/>
                </a:solidFill>
                <a:latin typeface="Segoe UI"/>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03376" y="2601159"/>
            <a:ext cx="1081126" cy="1165960"/>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872">
                <a:solidFill>
                  <a:srgbClr val="000000"/>
                </a:solidFill>
                <a:latin typeface="Segoe UI"/>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26753" y="4330800"/>
            <a:ext cx="2459844" cy="603898"/>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13364" y="6096141"/>
            <a:ext cx="2461526" cy="824848"/>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5416" y="2444111"/>
            <a:ext cx="1275647" cy="1427764"/>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20454"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53846"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Agent platform</a:t>
            </a:r>
            <a:endParaRPr lang="en-US" sz="1018">
              <a:solidFill>
                <a:srgbClr val="FFFFFF"/>
              </a:solidFill>
              <a:latin typeface="Segoe UI"/>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7649"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3127" y="5827865"/>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Model choice</a:t>
            </a:r>
            <a:endParaRPr lang="en-US" sz="1018">
              <a:solidFill>
                <a:srgbClr val="FFFFFF"/>
              </a:solidFill>
              <a:latin typeface="Segoe UI"/>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15391" y="5807015"/>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47624" y="5827865"/>
            <a:ext cx="2336878"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Copilot </a:t>
            </a:r>
            <a:r>
              <a:rPr lang="en-US" sz="1018" b="1" err="1">
                <a:solidFill>
                  <a:srgbClr val="FFFFFF"/>
                </a:solidFill>
                <a:latin typeface="Segoe Sans Display" pitchFamily="2" charset="0"/>
                <a:cs typeface="Segoe Sans Display" pitchFamily="2" charset="0"/>
              </a:rPr>
              <a:t>Contro</a:t>
            </a:r>
            <a:r>
              <a:rPr lang="en-US" sz="1018" b="1">
                <a:solidFill>
                  <a:srgbClr val="FFFFFF"/>
                </a:solidFill>
                <a:latin typeface="Segoe Sans Display" pitchFamily="2" charset="0"/>
                <a:cs typeface="Segoe Sans Display" pitchFamily="2" charset="0"/>
              </a:rPr>
              <a:t>l system</a:t>
            </a:r>
            <a:endParaRPr lang="en-US" sz="1018">
              <a:solidFill>
                <a:srgbClr val="FFFFFF"/>
              </a:solidFill>
              <a:latin typeface="Segoe UI"/>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2178" y="2554686"/>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2178" y="2751774"/>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2178" y="295194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2178" y="3156909"/>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2178" y="3353770"/>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2178" y="3550691"/>
            <a:ext cx="148073" cy="148073"/>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5610" y="4416600"/>
            <a:ext cx="1678975" cy="692963"/>
            <a:chOff x="740180" y="5452436"/>
            <a:chExt cx="2310360" cy="953554"/>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6"/>
              <a:ext cx="864342" cy="953554"/>
              <a:chOff x="939058" y="4083045"/>
              <a:chExt cx="2354831" cy="2597881"/>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9860" tIns="151888" rIns="189860" bIns="151888"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968183" fontAlgn="base">
                  <a:spcBef>
                    <a:spcPct val="0"/>
                  </a:spcBef>
                  <a:spcAft>
                    <a:spcPct val="0"/>
                  </a:spcAft>
                  <a:defRPr/>
                </a:pPr>
                <a:endParaRPr lang="en-US" sz="2076">
                  <a:noFill/>
                  <a:latin typeface="Segoe UI Variable Display Semib" pitchFamily="2" charset="0"/>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4" y="5979427"/>
                <a:ext cx="1487690" cy="70149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364" b="1">
                    <a:solidFill>
                      <a:srgbClr val="000000"/>
                    </a:solidFill>
                    <a:latin typeface="Segoe UI"/>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244409"/>
              <a:chOff x="2229303" y="5458784"/>
              <a:chExt cx="704397" cy="244409"/>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70" y="5481151"/>
                <a:ext cx="509544"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244409"/>
              <a:chOff x="1713430" y="5767854"/>
              <a:chExt cx="741894" cy="244409"/>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195733"/>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244409"/>
              <a:chOff x="2303516" y="6076925"/>
              <a:chExt cx="629238" cy="244409"/>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195732"/>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r>
                  <a:rPr lang="en-US" sz="437">
                    <a:solidFill>
                      <a:srgbClr val="000000"/>
                    </a:solidFill>
                    <a:latin typeface="Segoe UI Semibold"/>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2711" y="4005988"/>
            <a:ext cx="2461526" cy="265363"/>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902" tIns="106321" rIns="132902" bIns="106321"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77713"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3127" y="4026837"/>
            <a:ext cx="2124435" cy="24897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332288">
              <a:defRPr/>
            </a:pPr>
            <a:r>
              <a:rPr lang="en-US" sz="1018" b="1">
                <a:solidFill>
                  <a:srgbClr val="FFFFFF"/>
                </a:solidFill>
                <a:latin typeface="Segoe Sans Display" pitchFamily="2" charset="0"/>
                <a:cs typeface="Segoe Sans Display" pitchFamily="2" charset="0"/>
              </a:rPr>
              <a:t>Powered by Work IQ</a:t>
            </a:r>
            <a:endParaRPr lang="en-US" sz="1018">
              <a:solidFill>
                <a:srgbClr val="FFFFFF"/>
              </a:solidFill>
              <a:latin typeface="Segoe UI"/>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13411" y="3958217"/>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4057" y="3266719"/>
            <a:ext cx="221503" cy="22150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451" tIns="33226" rIns="66451" bIns="33226"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3673" y="3397416"/>
            <a:ext cx="68214" cy="64966"/>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3471" y="2987292"/>
            <a:ext cx="84954" cy="7647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1617" y="2600105"/>
            <a:ext cx="71424" cy="64094"/>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451" tIns="33226" rIns="66451" bIns="33226" numCol="1" spcCol="0" rtlCol="0" fromWordArt="0" anchor="ctr"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US" sz="1309" kern="0">
              <a:solidFill>
                <a:srgbClr val="F4F3F5"/>
              </a:solidFill>
              <a:latin typeface="Segoe UI"/>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7743" y="3199135"/>
            <a:ext cx="81836" cy="7130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32288">
              <a:defRPr/>
            </a:pPr>
            <a:endParaRPr lang="en-US" sz="1309">
              <a:solidFill>
                <a:srgbClr val="000000"/>
              </a:solidFill>
              <a:latin typeface="Segoe UI"/>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2008" y="2790862"/>
            <a:ext cx="70767" cy="74394"/>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6796" tIns="18690" rIns="106796" bIns="19936"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54068" fontAlgn="base">
              <a:spcBef>
                <a:spcPts val="1309"/>
              </a:spcBef>
              <a:spcAft>
                <a:spcPts val="1309"/>
              </a:spcAft>
              <a:tabLst>
                <a:tab pos="2690028" algn="l"/>
              </a:tabLst>
              <a:defRPr/>
            </a:pPr>
            <a:endParaRPr lang="en-US" sz="100">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3672" y="3589692"/>
            <a:ext cx="64462" cy="64462"/>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64577">
              <a:defRPr/>
            </a:pPr>
            <a:endParaRPr lang="en-GB" sz="1453" b="1">
              <a:solidFill>
                <a:srgbClr val="FFFFFF"/>
              </a:solidFill>
              <a:latin typeface="Segoe Sans Display Semibold"/>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79016" y="2799048"/>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3509" y="3192925"/>
            <a:ext cx="37863" cy="4733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4577">
              <a:defRPr/>
            </a:pPr>
            <a:endParaRPr lang="en-GB" sz="1309" kern="0">
              <a:solidFill>
                <a:srgbClr val="F4F3F5"/>
              </a:solidFill>
              <a:latin typeface="Segoe UI"/>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576" y="6"/>
            <a:ext cx="5647182" cy="7991474"/>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153"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1690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6396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576" y="-6495"/>
            <a:ext cx="5652707" cy="1385835"/>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576" y="-3447"/>
            <a:ext cx="5647182" cy="1385833"/>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576" y="-3448"/>
            <a:ext cx="5652707" cy="1385835"/>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ctrTitle"/>
          </p:nvPr>
        </p:nvSpPr>
        <p:spPr>
          <a:xfrm>
            <a:off x="280573" y="563896"/>
            <a:ext cx="4214824" cy="56552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365417">
              <a:spcBef>
                <a:spcPts val="0"/>
              </a:spcBef>
            </a:pPr>
            <a:r>
              <a:rPr lang="en-US" sz="2035" dirty="0">
                <a:solidFill>
                  <a:srgbClr val="C03BC4"/>
                </a:solidFill>
                <a:cs typeface="Segoe Sans Display Semilight" pitchFamily="2" charset="0"/>
              </a:rPr>
              <a:t>Microsoft Purview Suite </a:t>
            </a:r>
            <a:r>
              <a:rPr lang="en-US" sz="2035" dirty="0">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74568" y="1662672"/>
            <a:ext cx="3157627" cy="447324"/>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1309"/>
              </a:spcAft>
              <a:defRPr/>
            </a:pPr>
            <a:r>
              <a:rPr lang="en-US" sz="1453">
                <a:solidFill>
                  <a:srgbClr val="000000"/>
                </a:solidFill>
                <a:latin typeface="Segoe Sans Display Semibold" pitchFamily="2" charset="0"/>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0404" y="2197159"/>
            <a:ext cx="3290136" cy="2334191"/>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582"/>
              </a:spcAft>
              <a:defRPr/>
            </a:pPr>
            <a:r>
              <a:rPr lang="en-US" sz="997">
                <a:solidFill>
                  <a:srgbClr val="000000"/>
                </a:solidFill>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lang="en-US" sz="1594">
              <a:solidFill>
                <a:srgbClr val="000000"/>
              </a:solidFill>
              <a:latin typeface="Segoe UI"/>
              <a:ea typeface="+mn-lt"/>
              <a:cs typeface="Segoe UI"/>
            </a:endParaRPr>
          </a:p>
          <a:p>
            <a:pPr marL="132879" indent="-132879" defTabSz="332198">
              <a:spcBef>
                <a:spcPts val="437"/>
              </a:spcBef>
              <a:spcAft>
                <a:spcPts val="582"/>
              </a:spcAft>
              <a:buFont typeface="Arial" panose="020B0604020202020204" pitchFamily="34" charset="0"/>
              <a:buChar char="•"/>
              <a:defRPr/>
            </a:pPr>
            <a:r>
              <a:rPr lang="en-US" sz="997">
                <a:solidFill>
                  <a:srgbClr val="000000"/>
                </a:solidFill>
                <a:latin typeface="Segoe Sans Display"/>
                <a:cs typeface="Segoe Sans Display"/>
              </a:rPr>
              <a:t>Safeguard sensitive data across clouds, apps, and endpoints.</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Identify and remediate critical risks within your organization.</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Investigate and respond to legal requirements with relevant data.</a:t>
            </a:r>
          </a:p>
          <a:p>
            <a:pPr marL="132879" indent="-132879" defTabSz="332198">
              <a:spcAft>
                <a:spcPts val="582"/>
              </a:spcAft>
              <a:buFont typeface="Arial" panose="020B0604020202020204" pitchFamily="34" charset="0"/>
              <a:buChar char="•"/>
              <a:defRPr/>
            </a:pPr>
            <a:r>
              <a:rPr lang="en-US" sz="997">
                <a:solidFill>
                  <a:srgbClr val="000000"/>
                </a:solidFill>
                <a:latin typeface="Segoe UI"/>
                <a:ea typeface="+mn-lt"/>
                <a:cs typeface="Segoe UI"/>
              </a:rPr>
              <a:t>Built-in assessments and actions for 350+ regional regulations</a:t>
            </a:r>
            <a:endParaRPr lang="en-US" sz="1594">
              <a:solidFill>
                <a:srgbClr val="000000"/>
              </a:solidFill>
              <a:latin typeface="Segoe UI"/>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0625" y="2477599"/>
            <a:ext cx="244967" cy="5085222"/>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332198">
              <a:defRPr/>
            </a:pPr>
            <a:endParaRPr lang="en-IN" sz="1309">
              <a:solidFill>
                <a:srgbClr val="000000"/>
              </a:solidFill>
              <a:latin typeface="Segoe UI"/>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0049" y="4818509"/>
            <a:ext cx="4574680" cy="151092"/>
          </a:xfrm>
          <a:prstGeom prst="rect">
            <a:avLst/>
          </a:prstGeom>
          <a:solidFill>
            <a:srgbClr val="F2F0F0"/>
          </a:solidFill>
          <a:ln w="9525">
            <a:noFill/>
          </a:ln>
        </p:spPr>
        <p:txBody>
          <a:bodyPr vert="horz" wrap="square" lIns="66437" tIns="33220" rIns="66437" bIns="33220" rtlCol="0" anchor="ctr" anchorCtr="0">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Aft>
                <a:spcPct val="0"/>
              </a:spcAft>
              <a:defRPr/>
            </a:pPr>
            <a:r>
              <a:rPr lang="en-US" sz="1163" spc="0">
                <a:solidFill>
                  <a:srgbClr val="C03BC4"/>
                </a:solidFill>
                <a:latin typeface="Segoe UI Semibold"/>
                <a:ea typeface="+mj-lt"/>
                <a:cs typeface="Segoe UI Semibold"/>
              </a:rPr>
              <a:t>Unified solutions to secure and govern data for the era of AI</a:t>
            </a:r>
            <a:endParaRPr lang="en-US" sz="2616" spc="-36">
              <a:solidFill>
                <a:srgbClr val="C03BC4"/>
              </a:solidFill>
              <a:latin typeface="Segoe UI Semibold"/>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8808" y="5920009"/>
            <a:ext cx="154706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89467" y="5920009"/>
            <a:ext cx="153788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32720" y="5920008"/>
            <a:ext cx="1507119"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047" y="6328431"/>
            <a:ext cx="136254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Gain visibility into overshared content.</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Remediate excessive permissions.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097858" y="6328431"/>
            <a:ext cx="1510276"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Get alerts and reports of risky behavior and AI use.</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Protect sensitive files and Copilot interactions.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50717" y="6328432"/>
            <a:ext cx="146162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Inspect interaction content and audit logs. </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Investigate for compliance and ethical violations.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2768" y="5405402"/>
            <a:ext cx="352772" cy="352770"/>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61765" y="5405400"/>
            <a:ext cx="352772" cy="352770"/>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389758" y="5405400"/>
            <a:ext cx="352772" cy="352770"/>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055" y="1393149"/>
            <a:ext cx="5106225"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7212"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87468"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37726"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7346"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2101"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76857"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770" y="258552"/>
            <a:ext cx="793876" cy="166706"/>
          </a:xfrm>
          <a:prstGeom prst="rect">
            <a:avLst/>
          </a:prstGeom>
        </p:spPr>
      </p:pic>
      <p:grpSp>
        <p:nvGrpSpPr>
          <p:cNvPr id="4" name="Group 3">
            <a:extLst>
              <a:ext uri="{FF2B5EF4-FFF2-40B4-BE49-F238E27FC236}">
                <a16:creationId xmlns:a16="http://schemas.microsoft.com/office/drawing/2014/main" id="{16718F9F-D7F8-8AB5-49E0-F7F004721D21}"/>
              </a:ext>
            </a:extLst>
          </p:cNvPr>
          <p:cNvGrpSpPr/>
          <p:nvPr/>
        </p:nvGrpSpPr>
        <p:grpSpPr>
          <a:xfrm>
            <a:off x="278061" y="1699822"/>
            <a:ext cx="1634954" cy="2790485"/>
            <a:chOff x="271313" y="1691352"/>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71313"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38251"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13820" y="3456630"/>
              <a:ext cx="1177379" cy="390472"/>
              <a:chOff x="45932" y="4239805"/>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313" tIns="26157" rIns="52313" bIns="26157" numCol="1" spcCol="0" rtlCol="0" fromWordArt="0" anchor="ctr"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95" fontAlgn="base">
                    <a:spcBef>
                      <a:spcPct val="0"/>
                    </a:spcBef>
                    <a:spcAft>
                      <a:spcPct val="0"/>
                    </a:spcAft>
                    <a:defRPr/>
                  </a:pPr>
                  <a:endParaRPr lang="en-US" sz="1309" b="1">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74982" y="2096831"/>
              <a:ext cx="1436982" cy="994732"/>
            </a:xfrm>
            <a:prstGeom prst="rect">
              <a:avLst/>
            </a:prstGeom>
            <a:noFill/>
          </p:spPr>
          <p:txBody>
            <a:bodyPr wrap="square" lIns="0" tIns="0" rIns="0" bIns="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Bef>
                  <a:spcPts val="872"/>
                </a:spcBef>
                <a:defRPr/>
              </a:pPr>
              <a:r>
                <a:rPr lang="en-US" sz="1309">
                  <a:solidFill>
                    <a:srgbClr val="FFFFFF"/>
                  </a:solidFill>
                  <a:latin typeface="Segoe UI Semibold"/>
                  <a:cs typeface="Segoe Sans Display" pitchFamily="2" charset="0"/>
                </a:rPr>
                <a:t>AI transformation is happening now.</a:t>
              </a:r>
            </a:p>
            <a:p>
              <a:pPr algn="ctr" defTabSz="664370">
                <a:spcBef>
                  <a:spcPts val="437"/>
                </a:spcBef>
                <a:defRPr/>
              </a:pPr>
              <a:r>
                <a:rPr lang="en-US" sz="1163">
                  <a:solidFill>
                    <a:srgbClr val="FFFFFF"/>
                  </a:solidFill>
                  <a:latin typeface="Segoe Sans Display" pitchFamily="2" charset="0"/>
                  <a:cs typeface="Segoe Sans Display" pitchFamily="2" charset="0"/>
                </a:rPr>
                <a:t>Secure and govern your data estate and get ready for AI</a:t>
              </a:r>
              <a:endParaRPr lang="en-US" sz="1743">
                <a:solidFill>
                  <a:srgbClr val="FFFFFF"/>
                </a:solidFill>
                <a:latin typeface="Segoe Sans Display" pitchFamily="2" charset="0"/>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D771D6DC-7F54-5C0C-BB3F-DCAECA583E6C}"/>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1D802A91-D977-BEE1-C0B9-A5878CCB2D88}"/>
              </a:ext>
            </a:extLst>
          </p:cNvPr>
          <p:cNvSpPr>
            <a:spLocks/>
          </p:cNvSpPr>
          <p:nvPr/>
        </p:nvSpPr>
        <p:spPr bwMode="auto">
          <a:xfrm>
            <a:off x="377825" y="885947"/>
            <a:ext cx="4895850" cy="6873753"/>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2CC90207-12FE-9661-44AE-AE5EE43851FF}"/>
              </a:ext>
            </a:extLst>
          </p:cNvPr>
          <p:cNvSpPr/>
          <p:nvPr/>
        </p:nvSpPr>
        <p:spPr bwMode="auto">
          <a:xfrm flipH="1">
            <a:off x="377818" y="885947"/>
            <a:ext cx="4895851" cy="469103"/>
          </a:xfrm>
          <a:prstGeom prst="round2SameRect">
            <a:avLst>
              <a:gd name="adj1" fmla="val 16174"/>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12" name="Table 0">
            <a:extLst>
              <a:ext uri="{FF2B5EF4-FFF2-40B4-BE49-F238E27FC236}">
                <a16:creationId xmlns:a16="http://schemas.microsoft.com/office/drawing/2014/main" id="{B844A012-32C7-C437-EBC7-89823B838AE8}"/>
              </a:ext>
            </a:extLst>
          </p:cNvPr>
          <p:cNvGraphicFramePr>
            <a:graphicFrameLocks noGrp="1"/>
          </p:cNvGraphicFramePr>
          <p:nvPr>
            <p:extLst>
              <p:ext uri="{D42A27DB-BD31-4B8C-83A1-F6EECF244321}">
                <p14:modId xmlns:p14="http://schemas.microsoft.com/office/powerpoint/2010/main" val="2911110850"/>
              </p:ext>
            </p:extLst>
          </p:nvPr>
        </p:nvGraphicFramePr>
        <p:xfrm>
          <a:off x="377826" y="885949"/>
          <a:ext cx="4895850" cy="6652220"/>
        </p:xfrm>
        <a:graphic>
          <a:graphicData uri="http://schemas.openxmlformats.org/drawingml/2006/table">
            <a:tbl>
              <a:tblPr firstRow="1" bandRow="1">
                <a:effectLst/>
                <a:tableStyleId>{2D5ABB26-0587-4C30-8999-92F81FD0307C}</a:tableStyleId>
              </a:tblPr>
              <a:tblGrid>
                <a:gridCol w="3723527">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715123">
                  <a:extLst>
                    <a:ext uri="{9D8B030D-6E8A-4147-A177-3AD203B41FA5}">
                      <a16:colId xmlns:a16="http://schemas.microsoft.com/office/drawing/2014/main" val="20002"/>
                    </a:ext>
                  </a:extLst>
                </a:gridCol>
              </a:tblGrid>
              <a:tr h="52465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800" b="1" i="0" u="none" strike="noStrike" kern="1200" cap="none" spc="0" normalizeH="0" baseline="0" dirty="0">
                          <a:solidFill>
                            <a:schemeClr val="bg1">
                              <a:lumMod val="100000"/>
                            </a:schemeClr>
                          </a:solidFill>
                          <a:latin typeface="Segoe UI Semibold" panose="020B0702040204020203" pitchFamily="34" charset="0"/>
                          <a:ea typeface="+mn-ea"/>
                          <a:cs typeface="Segoe UI Semibold" panose="020B0702040204020203" pitchFamily="34" charset="0"/>
                          <a:sym typeface=""/>
                        </a:rPr>
                        <a:t>Incremental capabilities</a:t>
                      </a:r>
                    </a:p>
                  </a:txBody>
                  <a:tcPr marL="108000" marR="7593" marT="0" marB="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dirty="0">
                          <a:solidFill>
                            <a:schemeClr val="bg1">
                              <a:lumMod val="100000"/>
                            </a:schemeClr>
                          </a:solidFill>
                          <a:latin typeface="Segoe UI Semibold"/>
                          <a:ea typeface="+mn-ea"/>
                          <a:cs typeface="Segoe UI Semibold"/>
                          <a:sym typeface=""/>
                        </a:rPr>
                        <a:t>Business Premium</a:t>
                      </a:r>
                    </a:p>
                  </a:txBody>
                  <a:tcPr marL="0" marR="0" marT="0" marB="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dirty="0">
                          <a:solidFill>
                            <a:schemeClr val="bg1">
                              <a:lumMod val="100000"/>
                            </a:schemeClr>
                          </a:solidFill>
                          <a:latin typeface="Segoe UI Semibold"/>
                          <a:ea typeface="Calibri"/>
                          <a:cs typeface="Segoe UI Semibold"/>
                          <a:sym typeface=""/>
                        </a:rPr>
                        <a:t>Purview Suite </a:t>
                      </a:r>
                      <a:br>
                        <a:rPr lang="en-US" sz="800" b="0" i="0" u="none" strike="noStrike" kern="1200" cap="none" spc="0" normalizeH="0" baseline="0" dirty="0">
                          <a:solidFill>
                            <a:srgbClr val="FFFFFF"/>
                          </a:solidFill>
                          <a:latin typeface="Segoe UI Semibold"/>
                          <a:ea typeface="Calibri"/>
                          <a:cs typeface="Segoe UI Semibold"/>
                          <a:sym typeface=""/>
                        </a:rPr>
                      </a:br>
                      <a:r>
                        <a:rPr lang="en-US" sz="800" b="0" i="0" u="none" strike="noStrike" kern="1200" cap="none" spc="0" normalizeH="0" baseline="0" dirty="0">
                          <a:solidFill>
                            <a:schemeClr val="bg1">
                              <a:lumMod val="100000"/>
                            </a:schemeClr>
                          </a:solidFill>
                          <a:latin typeface="Segoe UI Semibold"/>
                          <a:ea typeface="Calibri"/>
                          <a:cs typeface="Segoe UI Semibold"/>
                          <a:sym typeface=""/>
                        </a:rPr>
                        <a:t>for Business Premium</a:t>
                      </a:r>
                    </a:p>
                  </a:txBody>
                  <a:tcPr marL="0" marR="0" marT="0" marB="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7837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Address oversharing concerns</a:t>
                      </a:r>
                    </a:p>
                  </a:txBody>
                  <a:tcPr marL="72000" marR="0" marT="0" marB="0" anchor="ct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indent="0" algn="l">
                        <a:buNone/>
                      </a:pPr>
                      <a:endParaRPr lang="en-US" sz="700"/>
                    </a:p>
                  </a:txBody>
                  <a:tcPr marL="72000" marR="0" marT="0" marB="0" anchor="ctr">
                    <a:lnR w="3810" cap="flat" cmpd="sng" algn="ctr">
                      <a:solidFill>
                        <a:srgbClr val="D5D8D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indent="0" algn="l">
                        <a:buNone/>
                      </a:pPr>
                      <a:endParaRPr lang="en-US" sz="700"/>
                    </a:p>
                  </a:txBody>
                  <a:tcPr marL="72000" marR="0" marT="0" marB="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extLst>
                  <a:ext uri="{0D108BD9-81ED-4DB2-BD59-A6C34878D82A}">
                    <a16:rowId xmlns:a16="http://schemas.microsoft.com/office/drawing/2014/main" val="10001"/>
                  </a:ext>
                </a:extLst>
              </a:tr>
              <a:tr h="150064">
                <a:tc>
                  <a:txBody>
                    <a:bodyPr/>
                    <a:lstStyle/>
                    <a:p>
                      <a:pPr marL="0" indent="0">
                        <a:buNone/>
                      </a:pPr>
                      <a:r>
                        <a:rPr lang="en-US" sz="650" dirty="0">
                          <a:solidFill>
                            <a:srgbClr val="000000"/>
                          </a:solidFill>
                          <a:latin typeface="Segoe UI" panose="020B0502040204020203" pitchFamily="34" charset="0"/>
                          <a:ea typeface="Calibri" pitchFamily="34" charset="-122"/>
                          <a:cs typeface="Segoe UI" panose="020B0502040204020203" pitchFamily="34" charset="0"/>
                        </a:rPr>
                        <a:t>Identify potentially overshared sites and files across all of Microsoft 365</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Sites</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a:ea typeface="Calibri"/>
                          <a:cs typeface="Segoe UI"/>
                        </a:rPr>
                        <a:t>Sites and files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67949225"/>
                  </a:ext>
                </a:extLst>
              </a:tr>
              <a:tr h="149940">
                <a:tc>
                  <a:txBody>
                    <a:bodyPr/>
                    <a:lstStyle/>
                    <a:p>
                      <a:pPr marL="0" indent="0">
                        <a:buNone/>
                      </a:pPr>
                      <a:r>
                        <a:rPr lang="en-US" sz="650" dirty="0">
                          <a:solidFill>
                            <a:srgbClr val="000000"/>
                          </a:solidFill>
                          <a:latin typeface="Segoe UI" panose="020B0502040204020203" pitchFamily="34" charset="0"/>
                          <a:ea typeface="Calibri" pitchFamily="34" charset="-122"/>
                          <a:cs typeface="Segoe UI" panose="020B0502040204020203" pitchFamily="34" charset="0"/>
                        </a:rPr>
                        <a:t>Create oversharing assessments targeted to specific Microsoft 365 locations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78500">
                <a:tc>
                  <a:txBody>
                    <a:bodyPr/>
                    <a:lstStyle/>
                    <a:p>
                      <a:pPr marL="0" indent="0">
                        <a:buNone/>
                      </a:pPr>
                      <a:r>
                        <a:rPr lang="en-US" sz="650" dirty="0">
                          <a:solidFill>
                            <a:srgbClr val="000000"/>
                          </a:solidFill>
                          <a:latin typeface="Segoe UI" panose="020B0502040204020203" pitchFamily="34" charset="0"/>
                          <a:ea typeface="Calibri" pitchFamily="34" charset="-122"/>
                          <a:cs typeface="Segoe UI" panose="020B0502040204020203" pitchFamily="34" charset="0"/>
                        </a:rPr>
                        <a:t>Restrict user and/or Copilot + Agent access to risky sites while remediating risks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a:ea typeface="Calibri"/>
                          <a:cs typeface="Segoe UI"/>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264181">
                <a:tc>
                  <a:txBody>
                    <a:bodyPr/>
                    <a:lstStyle/>
                    <a:p>
                      <a:pPr marL="0" indent="0">
                        <a:buNone/>
                      </a:pPr>
                      <a:r>
                        <a:rPr lang="en-US" sz="650" dirty="0">
                          <a:solidFill>
                            <a:srgbClr val="000000"/>
                          </a:solidFill>
                          <a:latin typeface="Segoe UI" panose="020B0502040204020203" pitchFamily="34" charset="0"/>
                          <a:ea typeface="Calibri" pitchFamily="34" charset="-122"/>
                          <a:cs typeface="Segoe UI" panose="020B0502040204020203" pitchFamily="34" charset="0"/>
                        </a:rPr>
                        <a:t>Prevent Copilot + Agents from processing certain sensitive files and from using them in responses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64991779"/>
                  </a:ext>
                </a:extLst>
              </a:tr>
              <a:tr h="164221">
                <a:tc>
                  <a:txBody>
                    <a:bodyPr/>
                    <a:lstStyle/>
                    <a:p>
                      <a:pPr marL="0" indent="0">
                        <a:buNone/>
                      </a:pPr>
                      <a:r>
                        <a:rPr lang="en-US" sz="650" dirty="0">
                          <a:solidFill>
                            <a:srgbClr val="000000"/>
                          </a:solidFill>
                          <a:latin typeface="Segoe UI"/>
                          <a:ea typeface="Calibri"/>
                          <a:cs typeface="Segoe UI"/>
                        </a:rPr>
                        <a:t>Receive and act on policy suggestions to mitigate your specific oversharing risks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b="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1361">
                <a:tc>
                  <a:txBody>
                    <a:bodyPr/>
                    <a:lstStyle/>
                    <a:p>
                      <a:pPr marL="0" indent="0">
                        <a:buNone/>
                      </a:pPr>
                      <a:r>
                        <a:rPr lang="en-US" sz="650" dirty="0">
                          <a:latin typeface="Segoe UI"/>
                          <a:ea typeface="Calibri"/>
                          <a:cs typeface="Segoe UI"/>
                        </a:rPr>
                        <a:t>Remove organization-wide site access as needed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prstClr val="black"/>
                          </a:solidFill>
                          <a:effectLst/>
                          <a:uLnTx/>
                          <a:uFillTx/>
                          <a:latin typeface="Segoe UI"/>
                          <a:ea typeface="Calibri"/>
                          <a:cs typeface="Segoe UI"/>
                        </a:rPr>
                        <a:t>✓</a:t>
                      </a:r>
                      <a:endParaRPr lang="en-US" sz="650" b="0" dirty="0">
                        <a:solidFill>
                          <a:schemeClr val="tx1"/>
                        </a:solidFill>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0"/>
                  </a:ext>
                </a:extLst>
              </a:tr>
              <a:tr h="164221">
                <a:tc>
                  <a:txBody>
                    <a:bodyPr/>
                    <a:lstStyle/>
                    <a:p>
                      <a:pPr marL="0" indent="0">
                        <a:buNone/>
                      </a:pPr>
                      <a:r>
                        <a:rPr lang="en-US" sz="650" dirty="0">
                          <a:latin typeface="Segoe UI"/>
                          <a:ea typeface="Calibri"/>
                          <a:cs typeface="Segoe UI"/>
                        </a:rPr>
                        <a:t>Get notifications when new oversharing occurs with options for remediation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a:ea typeface="Calibri"/>
                          <a:cs typeface="Segoe UI"/>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b="0" dirty="0">
                          <a:solidFill>
                            <a:schemeClr val="tx1"/>
                          </a:solidFill>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1"/>
                  </a:ext>
                </a:extLst>
              </a:tr>
              <a:tr h="164221">
                <a:tc>
                  <a:txBody>
                    <a:bodyPr/>
                    <a:lstStyle/>
                    <a:p>
                      <a:pPr marL="0" indent="0">
                        <a:buNone/>
                      </a:pPr>
                      <a:r>
                        <a:rPr lang="en-US" sz="650" dirty="0">
                          <a:latin typeface="Segoe UI"/>
                          <a:ea typeface="Calibri"/>
                          <a:cs typeface="Segoe UI"/>
                        </a:rPr>
                        <a:t>Secure sensitive data through file level access controls and Data Loss Prevention policies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prstClr val="black"/>
                          </a:solidFill>
                          <a:effectLst/>
                          <a:uLnTx/>
                          <a:uFillTx/>
                          <a:latin typeface="Segoe UI"/>
                          <a:ea typeface="Calibri"/>
                          <a:cs typeface="Segoe UI"/>
                        </a:rPr>
                        <a:t>✓</a:t>
                      </a:r>
                      <a:endParaRPr lang="en-US" sz="650" b="0" dirty="0">
                        <a:solidFill>
                          <a:schemeClr val="tx1"/>
                        </a:solidFill>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0982563"/>
                  </a:ext>
                </a:extLst>
              </a:tr>
              <a:tr h="157080">
                <a:tc>
                  <a:txBody>
                    <a:bodyPr/>
                    <a:lstStyle/>
                    <a:p>
                      <a:pPr marL="0" indent="0">
                        <a:buNone/>
                      </a:pPr>
                      <a:r>
                        <a:rPr lang="en-US" sz="650" dirty="0">
                          <a:latin typeface="Segoe UI"/>
                          <a:ea typeface="Calibri"/>
                          <a:cs typeface="Segoe UI"/>
                        </a:rPr>
                        <a:t>Improve Copilot + Agent responses by archiving or deleting unneeded content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prstClr val="black"/>
                          </a:solidFill>
                          <a:effectLst/>
                          <a:uLnTx/>
                          <a:uFillTx/>
                          <a:latin typeface="Segoe UI"/>
                          <a:ea typeface="Calibri"/>
                          <a:cs typeface="Segoe UI"/>
                        </a:rPr>
                        <a:t>✓</a:t>
                      </a:r>
                      <a:endParaRPr lang="en-US" sz="650" b="0" dirty="0">
                        <a:solidFill>
                          <a:schemeClr val="tx1"/>
                        </a:solidFill>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Calibri" pitchFamily="34" charset="-122"/>
                          <a:cs typeface="Segoe UI" panose="020B0502040204020203" pitchFamily="34" charset="0"/>
                        </a:rPr>
                        <a:t>✓</a:t>
                      </a:r>
                      <a:endParaRPr lang="en-US" sz="650" b="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38700826"/>
                  </a:ext>
                </a:extLst>
              </a:tr>
              <a:tr h="17837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Protect against data loss and insider risk</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1005">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View reports of sensitive data and unprotected files referenced in Copilot + Agent interactions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chemeClr val="tx1"/>
                          </a:solidFill>
                          <a:latin typeface="Segoe UI"/>
                          <a:ea typeface="Calibri"/>
                          <a:cs typeface="Segoe UI"/>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57080">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Get alerted to risky AI use, such as an attempted prompt injection attack</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81404216"/>
                  </a:ext>
                </a:extLst>
              </a:tr>
              <a:tr h="242760">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View prompt and response text and referenced files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IN" sz="650" kern="1200" dirty="0">
                          <a:solidFill>
                            <a:schemeClr val="tx1"/>
                          </a:solidFill>
                          <a:latin typeface="Segoe UI"/>
                          <a:ea typeface="Calibri"/>
                          <a:cs typeface="Segoe UI"/>
                        </a:rPr>
                        <a:t>Via search</a:t>
                      </a:r>
                      <a:endParaRPr lang="en-US" sz="650" kern="1200" dirty="0">
                        <a:solidFill>
                          <a:schemeClr val="tx1"/>
                        </a:solidFill>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Via search </a:t>
                      </a:r>
                      <a:br>
                        <a:rPr lang="en-US" sz="650" kern="1200" dirty="0">
                          <a:solidFill>
                            <a:schemeClr val="tx1"/>
                          </a:solidFill>
                          <a:latin typeface="Segoe UI" panose="020B0502040204020203" pitchFamily="34" charset="0"/>
                          <a:ea typeface="Calibri" pitchFamily="34" charset="-122"/>
                          <a:cs typeface="Segoe UI" panose="020B0502040204020203" pitchFamily="34" charset="0"/>
                        </a:rPr>
                      </a:br>
                      <a:r>
                        <a:rPr lang="en-US" sz="650" kern="1200" dirty="0">
                          <a:solidFill>
                            <a:schemeClr val="tx1"/>
                          </a:solidFill>
                          <a:latin typeface="Segoe UI" panose="020B0502040204020203" pitchFamily="34" charset="0"/>
                          <a:ea typeface="Calibri" pitchFamily="34" charset="-122"/>
                          <a:cs typeface="Segoe UI" panose="020B0502040204020203" pitchFamily="34" charset="0"/>
                        </a:rPr>
                        <a:t>and alerts</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391912513"/>
                  </a:ext>
                </a:extLst>
              </a:tr>
              <a:tr h="171361">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Detect when content contains sensitive data and ask the user to manually apply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013380"/>
                  </a:ext>
                </a:extLst>
              </a:tr>
              <a:tr h="157080">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charset="0"/>
                          <a:cs typeface="Segoe UI" panose="020B0502040204020203" pitchFamily="34" charset="0"/>
                        </a:rPr>
                        <a:t>Detect when content contains sensitive data and auto-apply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506527937"/>
                  </a:ext>
                </a:extLst>
              </a:tr>
              <a:tr h="266561">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charset="0"/>
                          <a:cs typeface="Segoe UI" panose="020B0502040204020203" pitchFamily="34" charset="0"/>
                        </a:rPr>
                        <a:t>Copilot + Agent response and Copilot + Agent created documents inherit sensitivity label and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chemeClr val="tx1"/>
                          </a:solidFill>
                          <a:latin typeface="Segoe UI"/>
                          <a:ea typeface="Calibri"/>
                          <a:cs typeface="Segoe UI"/>
                        </a:rPr>
                        <a:t>✓</a:t>
                      </a:r>
                      <a:endParaRPr lang="en-US" sz="650" kern="1200" dirty="0">
                        <a:solidFill>
                          <a:schemeClr val="tx1"/>
                        </a:solidFill>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0424012"/>
                  </a:ext>
                </a:extLst>
              </a:tr>
              <a:tr h="166601">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charset="0"/>
                          <a:cs typeface="Segoe UI" panose="020B0502040204020203" pitchFamily="34" charset="0"/>
                        </a:rPr>
                        <a:t>Block Copilot + Agent access to files with a specific sensitivity label</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90985489"/>
                  </a:ext>
                </a:extLst>
              </a:tr>
              <a:tr h="166601">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charset="0"/>
                          <a:cs typeface="Segoe UI" panose="020B0502040204020203" pitchFamily="34" charset="0"/>
                        </a:rPr>
                        <a:t>Protect files even if they are moved or downloaded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chemeClr val="tx1"/>
                          </a:solidFill>
                          <a:latin typeface="Segoe UI"/>
                          <a:ea typeface="Calibri"/>
                          <a:cs typeface="Segoe UI"/>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10017648"/>
                  </a:ext>
                </a:extLst>
              </a:tr>
              <a:tr h="171361">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charset="0"/>
                          <a:cs typeface="Segoe UI" panose="020B0502040204020203" pitchFamily="34" charset="0"/>
                        </a:rPr>
                        <a:t>Get alerted to risky user actions that deviate from their usual pattern of behavior</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73392232"/>
                  </a:ext>
                </a:extLst>
              </a:tr>
              <a:tr h="166599">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charset="0"/>
                          <a:cs typeface="Segoe UI" panose="020B0502040204020203" pitchFamily="34" charset="0"/>
                        </a:rPr>
                        <a:t>Correlate and sequence risk alerts to identify high severity risk patterns for a user</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722534814"/>
                  </a:ext>
                </a:extLst>
              </a:tr>
              <a:tr h="171361">
                <a:tc>
                  <a:txBody>
                    <a:bodyPr/>
                    <a:lstStyle/>
                    <a:p>
                      <a:pPr marL="0" indent="0" algn="l" defTabSz="565131" rtl="0" eaLnBrk="1" latinLnBrk="0" hangingPunct="1">
                        <a:buNone/>
                      </a:pPr>
                      <a:r>
                        <a:rPr lang="en-US" sz="650" kern="1200" dirty="0">
                          <a:solidFill>
                            <a:schemeClr val="tx1"/>
                          </a:solidFill>
                          <a:latin typeface="Segoe UI" panose="020B0502040204020203" pitchFamily="34" charset="0"/>
                          <a:ea typeface="Calibri" charset="0"/>
                          <a:cs typeface="Segoe UI" panose="020B0502040204020203" pitchFamily="34" charset="0"/>
                        </a:rPr>
                        <a:t>Automatically add a user to more strict security policies based on their risk patterns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100522731"/>
                  </a:ext>
                </a:extLst>
              </a:tr>
              <a:tr h="17136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DLP for Copilot Prompts — blocks Copilot from processing sensitive data</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270547765"/>
                  </a:ext>
                </a:extLst>
              </a:tr>
              <a:tr h="17136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Data Security Posture Management for AI (DSPM for AI)</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47457444"/>
                  </a:ext>
                </a:extLst>
              </a:tr>
              <a:tr h="171361">
                <a:tc>
                  <a:txBody>
                    <a:body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AI data security and compliance (DLP, DSPM, Insider Risk)</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auto" latinLnBrk="0" hangingPunct="1">
                        <a:lnSpc>
                          <a:spcPct val="100000"/>
                        </a:lnSpc>
                        <a:spcBef>
                          <a:spcPts val="0"/>
                        </a:spcBef>
                        <a:spcAft>
                          <a:spcPts val="0"/>
                        </a:spcAft>
                        <a:buClrTx/>
                        <a:buSzTx/>
                        <a:buFontTx/>
                        <a:buNone/>
                        <a:tabLst/>
                        <a:defRPr/>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724999454"/>
                  </a:ext>
                </a:extLst>
              </a:tr>
              <a:tr h="17837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Govern AI use to meet regulations and policies, Copilot Chat</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2433">
                <a:tc>
                  <a:txBody>
                    <a:bodyPr/>
                    <a:lstStyle/>
                    <a:p>
                      <a:pPr marL="0" indent="0">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Audit Copilot + Agent interactions to access detailed log information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chemeClr val="tx1"/>
                          </a:solidFill>
                          <a:latin typeface="Segoe UI"/>
                          <a:ea typeface="Calibri"/>
                          <a:cs typeface="Segoe UI"/>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252280">
                <a:tc>
                  <a:txBody>
                    <a:bodyPr/>
                    <a:lstStyle/>
                    <a:p>
                      <a:pPr marL="0" indent="0">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Enforce retention and deletion policies for Copilot + Agent interactions and meeting recordings + transcripts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dirty="0">
                          <a:solidFill>
                            <a:schemeClr val="tx1"/>
                          </a:solidFill>
                          <a:latin typeface="Segoe UI"/>
                          <a:ea typeface="Calibri"/>
                          <a:cs typeface="Segoe UI"/>
                        </a:rPr>
                        <a:t>✓</a:t>
                      </a:r>
                      <a:endParaRPr lang="en-US" sz="650" kern="1200" dirty="0">
                        <a:solidFill>
                          <a:schemeClr val="tx1"/>
                        </a:solidFill>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52322">
                <a:tc>
                  <a:txBody>
                    <a:bodyPr/>
                    <a:lstStyle/>
                    <a:p>
                      <a:pPr marL="0" indent="0">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Include a user’s Copilot + Agent prompts and responses in a legal hold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dirty="0">
                          <a:solidFill>
                            <a:schemeClr val="tx1"/>
                          </a:solidFill>
                          <a:latin typeface="Segoe UI"/>
                          <a:ea typeface="Calibri"/>
                          <a:cs typeface="Segoe UI"/>
                        </a:rPr>
                        <a:t>✓</a:t>
                      </a:r>
                      <a:endParaRPr lang="en-US" sz="650" kern="1200" dirty="0">
                        <a:solidFill>
                          <a:schemeClr val="tx1"/>
                        </a:solidFill>
                        <a:latin typeface="Segoe UI"/>
                        <a:ea typeface="Calibri"/>
                        <a:cs typeface="Segoe UI"/>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57080">
                <a:tc>
                  <a:txBody>
                    <a:bodyPr/>
                    <a:lstStyle/>
                    <a:p>
                      <a:pPr marL="0" indent="0">
                        <a:buNone/>
                      </a:pPr>
                      <a:r>
                        <a:rPr lang="en-US" sz="650" kern="1200" dirty="0">
                          <a:solidFill>
                            <a:schemeClr val="tx1"/>
                          </a:solidFill>
                          <a:latin typeface="Segoe UI" panose="020B0502040204020203" pitchFamily="34" charset="0"/>
                          <a:ea typeface="Calibri" charset="0"/>
                          <a:cs typeface="Segoe UI" panose="020B0502040204020203" pitchFamily="34" charset="0"/>
                        </a:rPr>
                        <a:t>Receive an alert if a possible compliance or ethical violation occurs and start an investigation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kern="120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266562">
                <a:tc>
                  <a:txBody>
                    <a:bodyPr/>
                    <a:lstStyle/>
                    <a:p>
                      <a:pPr marL="0" indent="0">
                        <a:buNone/>
                      </a:pPr>
                      <a:r>
                        <a:rPr lang="en-US" sz="650" kern="1200" dirty="0">
                          <a:solidFill>
                            <a:schemeClr val="tx1"/>
                          </a:solidFill>
                          <a:latin typeface="Segoe UI" panose="020B0502040204020203" pitchFamily="34" charset="0"/>
                          <a:ea typeface="Calibri" charset="0"/>
                          <a:cs typeface="Segoe UI" panose="020B0502040204020203" pitchFamily="34" charset="0"/>
                        </a:rPr>
                        <a:t>Perform an admin search for litigation or an investigation and include Copilot + Agent generated content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58758097"/>
                  </a:ext>
                </a:extLst>
              </a:tr>
              <a:tr h="161840">
                <a:tc>
                  <a:txBody>
                    <a:bodyPr/>
                    <a:lstStyle/>
                    <a:p>
                      <a:pPr marL="0" indent="0">
                        <a:buNone/>
                      </a:pPr>
                      <a:r>
                        <a:rPr lang="en-US" sz="650" kern="1200" dirty="0">
                          <a:solidFill>
                            <a:schemeClr val="tx1"/>
                          </a:solidFill>
                          <a:latin typeface="Segoe UI" panose="020B0502040204020203" pitchFamily="34" charset="0"/>
                          <a:ea typeface="Calibri" charset="0"/>
                          <a:cs typeface="Segoe UI" panose="020B0502040204020203" pitchFamily="34" charset="0"/>
                        </a:rPr>
                        <a:t>Assess and track adherence to regulatory frameworks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chemeClr val="tx1"/>
                          </a:solidFill>
                          <a:latin typeface="Segoe UI" panose="020B0502040204020203" pitchFamily="34" charset="0"/>
                          <a:ea typeface="Calibri" pitchFamily="34" charset="-122"/>
                          <a:cs typeface="Segoe UI" panose="020B0502040204020203" pitchFamily="34" charset="0"/>
                        </a:rPr>
                        <a:t>✓</a:t>
                      </a:r>
                      <a:endParaRPr lang="en-US" sz="650" kern="1200" dirty="0">
                        <a:solidFill>
                          <a:schemeClr val="tx1"/>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81175670"/>
                  </a:ext>
                </a:extLst>
              </a:tr>
              <a:tr h="161840">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enhancements — inbox &amp; calendar awareness + Word/Excel/PowerPoint agents</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681348361"/>
                  </a:ext>
                </a:extLst>
              </a:tr>
              <a:tr h="161840">
                <a:tc>
                  <a:txBody>
                    <a:bodyPr/>
                    <a:lstStyle/>
                    <a:p>
                      <a:pPr algn="l" fontAlgn="ctr">
                        <a:buNone/>
                      </a:pPr>
                      <a:r>
                        <a:rPr lang="en-US" sz="650" b="0" i="0" u="none" strike="noStrike" dirty="0">
                          <a:solidFill>
                            <a:srgbClr val="000000"/>
                          </a:solidFill>
                          <a:effectLst/>
                          <a:latin typeface="Segoe UI" panose="020B0502040204020203" pitchFamily="34" charset="0"/>
                          <a:cs typeface="Segoe UI" panose="020B0502040204020203" pitchFamily="34" charset="0"/>
                        </a:rPr>
                        <a:t>Copilot Chat Analytics — admin reporting on adoption and usage</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603556768"/>
                  </a:ext>
                </a:extLst>
              </a:tr>
            </a:tbl>
          </a:graphicData>
        </a:graphic>
      </p:graphicFrame>
      <p:sp>
        <p:nvSpPr>
          <p:cNvPr id="7" name="Incremental capabilities from Current SKU to Target SKU">
            <a:extLst>
              <a:ext uri="{FF2B5EF4-FFF2-40B4-BE49-F238E27FC236}">
                <a16:creationId xmlns:a16="http://schemas.microsoft.com/office/drawing/2014/main" id="{BAD6DA4F-AE35-E3D4-59C9-13D699AC54F1}"/>
              </a:ext>
            </a:extLst>
          </p:cNvPr>
          <p:cNvSpPr/>
          <p:nvPr/>
        </p:nvSpPr>
        <p:spPr>
          <a:xfrm>
            <a:off x="377826" y="281945"/>
            <a:ext cx="4895850" cy="469103"/>
          </a:xfrm>
          <a:prstGeom prst="rect">
            <a:avLst/>
          </a:prstGeom>
          <a:noFill/>
          <a:ln/>
        </p:spPr>
        <p:txBody>
          <a:bodyPr wrap="square" lIns="0" tIns="0" rIns="0" bIns="0" rtlCol="0" anchor="t" anchorCtr="0">
            <a:spAutoFit/>
          </a:bodyPr>
          <a:lstStyle/>
          <a:p>
            <a:pPr defTabSz="910968">
              <a:lnSpc>
                <a:spcPct val="85000"/>
              </a:lnSpc>
              <a:defRPr/>
            </a:pPr>
            <a:r>
              <a:rPr lang="en-US" dirty="0">
                <a:solidFill>
                  <a:srgbClr val="B740C5"/>
                </a:solidFill>
                <a:latin typeface="Segoe UI Semibold"/>
                <a:cs typeface="Segoe UI Semibold"/>
              </a:rPr>
              <a:t>Business Premium vs </a:t>
            </a:r>
            <a:br>
              <a:rPr lang="en-US" dirty="0">
                <a:solidFill>
                  <a:srgbClr val="B740C5"/>
                </a:solidFill>
                <a:latin typeface="Segoe UI Semibold"/>
                <a:cs typeface="Segoe UI Semibold"/>
              </a:rPr>
            </a:br>
            <a:r>
              <a:rPr lang="en-US" dirty="0">
                <a:solidFill>
                  <a:srgbClr val="B740C5"/>
                </a:solidFill>
                <a:latin typeface="Segoe UI Semibold"/>
                <a:cs typeface="Segoe UI Semibold"/>
              </a:rPr>
              <a:t>Business Premium + Purview Suite</a:t>
            </a:r>
          </a:p>
        </p:txBody>
      </p:sp>
    </p:spTree>
    <p:extLst>
      <p:ext uri="{BB962C8B-B14F-4D97-AF65-F5344CB8AC3E}">
        <p14:creationId xmlns:p14="http://schemas.microsoft.com/office/powerpoint/2010/main" val="1830360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defTabSz="679815" fontAlgn="base">
              <a:spcBef>
                <a:spcPct val="0"/>
              </a:spcBef>
              <a:spcAft>
                <a:spcPct val="0"/>
              </a:spcAft>
              <a:defRPr/>
            </a:pPr>
            <a:endParaRPr lang="en-US" sz="1458" kern="0">
              <a:gradFill>
                <a:gsLst>
                  <a:gs pos="0">
                    <a:srgbClr val="FFFFFF"/>
                  </a:gs>
                  <a:gs pos="100000">
                    <a:srgbClr val="FFFFFF"/>
                  </a:gs>
                </a:gsLst>
                <a:lin ang="5400000" scaled="0"/>
              </a:gradFill>
              <a:latin typeface="Segoe UI"/>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algn="ctr" defTabSz="932544">
              <a:spcBef>
                <a:spcPct val="20000"/>
              </a:spcBef>
              <a:buSzPct val="90000"/>
              <a:defRPr/>
            </a:pPr>
            <a:endParaRPr lang="en-US" sz="1200" b="1">
              <a:solidFill>
                <a:srgbClr val="FFFFFF"/>
              </a:solidFill>
              <a:latin typeface="Segoe UI Semibold" panose="020B0502040204020203" pitchFamily="34" charset="0"/>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extLst>
              <p:ext uri="{D42A27DB-BD31-4B8C-83A1-F6EECF244321}">
                <p14:modId xmlns:p14="http://schemas.microsoft.com/office/powerpoint/2010/main" val="3417645498"/>
              </p:ext>
            </p:extLst>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a:ea typeface="Calibri"/>
                          <a:cs typeface="Segoe UI Semibold"/>
                          <a:sym typeface=""/>
                        </a:rPr>
                        <a:t>$</a:t>
                      </a:r>
                      <a:r>
                        <a:rPr lang="en-US" sz="800" b="0" i="0" u="none" strike="noStrike" kern="1200" cap="none" spc="0" normalizeH="0" baseline="0">
                          <a:solidFill>
                            <a:schemeClr val="bg1">
                              <a:lumMod val="100000"/>
                            </a:schemeClr>
                          </a:solidFill>
                          <a:latin typeface="Segoe UI Semibold"/>
                          <a:ea typeface="Calibri"/>
                          <a:cs typeface="Segoe UI Semibold"/>
                        </a:rPr>
                        <a:t>18</a:t>
                      </a:r>
                      <a:r>
                        <a:rPr lang="en-US" sz="800" b="0" i="0" u="none" strike="noStrike" kern="1200" cap="none" spc="0" normalizeH="0" baseline="0">
                          <a:solidFill>
                            <a:schemeClr val="bg1">
                              <a:lumMod val="100000"/>
                            </a:schemeClr>
                          </a:solidFill>
                          <a:latin typeface="Segoe UI Semibold"/>
                          <a:ea typeface="Calibri"/>
                          <a:cs typeface="Segoe UI Semibold"/>
                          <a:sym typeface=""/>
                        </a:rPr>
                        <a:t> </a:t>
                      </a:r>
                      <a:br>
                        <a:rPr lang="en-US" sz="800" b="0" i="0" u="none" strike="noStrike" kern="1200" cap="none" spc="0" normalizeH="0" baseline="0">
                          <a:solidFill>
                            <a:srgbClr val="FFFFFF"/>
                          </a:solidFill>
                          <a:latin typeface="Segoe UI Semibold"/>
                          <a:ea typeface="Calibri"/>
                          <a:cs typeface="Segoe UI Semibold"/>
                          <a:sym typeface=""/>
                        </a:rPr>
                      </a:br>
                      <a:r>
                        <a:rPr lang="en-US" sz="800" b="0" i="0" u="none" strike="noStrike" kern="1200" cap="none" spc="0" normalizeH="0" baseline="0" err="1">
                          <a:solidFill>
                            <a:schemeClr val="bg1">
                              <a:lumMod val="100000"/>
                            </a:schemeClr>
                          </a:solidFill>
                          <a:latin typeface="Segoe UI Semibold"/>
                          <a:ea typeface="Calibri"/>
                          <a:cs typeface="Segoe UI Semibold"/>
                          <a:sym typeface=""/>
                        </a:rPr>
                        <a:t>pu</a:t>
                      </a:r>
                      <a:r>
                        <a:rPr lang="en-US" sz="800" b="0" i="0" u="none" strike="noStrike" kern="1200" cap="none" spc="0" normalizeH="0" baseline="0">
                          <a:solidFill>
                            <a:schemeClr val="bg1">
                              <a:lumMod val="100000"/>
                            </a:schemeClr>
                          </a:solidFill>
                          <a:latin typeface="Segoe UI Semibold"/>
                          <a:ea typeface="Calibri"/>
                          <a:cs typeface="Segoe UI Semibold"/>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a:ea typeface="+mn-ea"/>
                          <a:cs typeface="Segoe UI Semibold"/>
                        </a:rPr>
                        <a:t>ο</a:t>
                      </a:r>
                      <a:r>
                        <a:rPr kumimoji="0" lang="en-US" sz="700" b="0" i="0" u="none" strike="noStrike" kern="1200" cap="none" spc="0" normalizeH="0" baseline="0">
                          <a:ln>
                            <a:noFill/>
                          </a:ln>
                          <a:solidFill>
                            <a:srgbClr val="C03BC4"/>
                          </a:solidFill>
                          <a:effectLst/>
                          <a:uLnTx/>
                          <a:uFillTx/>
                          <a:latin typeface="Segoe UI Semibold"/>
                          <a:ea typeface="+mn-ea"/>
                          <a:cs typeface="Segoe UI Semibold"/>
                        </a:rPr>
                        <a:t> </a:t>
                      </a:r>
                      <a:endParaRPr kumimoji="0" lang="en-US" sz="700" b="0" i="0" u="none" strike="noStrike" kern="1200" cap="none" spc="0" normalizeH="0" baseline="0" noProof="0">
                        <a:ln>
                          <a:noFill/>
                        </a:ln>
                        <a:solidFill>
                          <a:srgbClr val="C03BC4"/>
                        </a:solidFill>
                        <a:effectLst/>
                        <a:uLnTx/>
                        <a:uFillTx/>
                        <a:latin typeface="Segoe UI Semibold"/>
                        <a:ea typeface="+mn-ea"/>
                        <a:cs typeface="Segoe UI Semibold"/>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a:ea typeface="+mn-ea"/>
                          <a:cs typeface="Segoe UI"/>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a:ea typeface="+mn-ea"/>
                        <a:cs typeface="Segoe UI"/>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a:ea typeface="+mn-ea"/>
                          <a:cs typeface="Segoe UI"/>
                        </a:rPr>
                        <a:t>Agent creation</a:t>
                      </a:r>
                      <a:r>
                        <a:rPr lang="en-US" sz="700" b="0">
                          <a:solidFill>
                            <a:schemeClr val="tx2"/>
                          </a:solidFill>
                          <a:latin typeface="Segoe UI"/>
                          <a:ea typeface="+mn-ea"/>
                          <a:cs typeface="Segoe UI"/>
                        </a:rPr>
                        <a:t> </a:t>
                      </a:r>
                      <a:r>
                        <a:rPr lang="en-US" sz="700" b="0" kern="1200" noProof="0">
                          <a:solidFill>
                            <a:schemeClr val="tx2"/>
                          </a:solidFill>
                          <a:latin typeface="Segoe UI"/>
                          <a:ea typeface="+mn-ea"/>
                          <a:cs typeface="Segoe UI"/>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0616" y="217919"/>
            <a:ext cx="4912362" cy="538609"/>
          </a:xfrm>
          <a:prstGeom prst="rect">
            <a:avLst/>
          </a:prstGeom>
          <a:noFill/>
          <a:ln/>
        </p:spPr>
        <p:txBody>
          <a:bodyPr wrap="square" lIns="0" tIns="0" rIns="0" bIns="0" rtlCol="0" anchor="t" anchorCtr="0">
            <a:spAutoFit/>
          </a:bodyPr>
          <a:lstStyle/>
          <a:p>
            <a:pPr defTabSz="914065">
              <a:defRPr/>
            </a:pPr>
            <a:r>
              <a:rPr lang="en-US" sz="1750">
                <a:solidFill>
                  <a:srgbClr val="B740C5"/>
                </a:solidFill>
                <a:latin typeface="Segoe UI Semibold"/>
                <a:cs typeface="Segoe UI Semibold"/>
              </a:rPr>
              <a:t>Copilot Chat vs Copilot Business detailed comparison</a:t>
            </a:r>
            <a:endParaRPr lang="en-US" sz="1799">
              <a:solidFill>
                <a:srgbClr val="B740C5"/>
              </a:solidFill>
              <a:latin typeface="Segoe UI Semibold"/>
              <a:cs typeface="Segoe UI Semibold"/>
            </a:endParaRP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algn="r" defTabSz="935913">
              <a:defRPr/>
            </a:pPr>
            <a:r>
              <a:rPr lang="en-US" sz="702">
                <a:solidFill>
                  <a:srgbClr val="8A226F"/>
                </a:solidFill>
                <a:latin typeface="Segoe UI Semibold" panose="020B0702040204020203" pitchFamily="34" charset="0"/>
                <a:cs typeface="Segoe UI Semibold" panose="020B0702040204020203" pitchFamily="34" charset="0"/>
                <a:sym typeface="Wingdings" panose="05000000000000000000" pitchFamily="2" charset="2"/>
              </a:rPr>
              <a:t></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Included </a:t>
            </a:r>
            <a:r>
              <a:rPr lang="en-US" sz="903">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l-GR" sz="903">
                <a:solidFill>
                  <a:srgbClr val="C03BC4"/>
                </a:solidFill>
                <a:latin typeface="Segoe UI Semibold" panose="020B0702040204020203" pitchFamily="34" charset="0"/>
                <a:cs typeface="Segoe UI Semibold" panose="020B0702040204020203" pitchFamily="34" charset="0"/>
              </a:rPr>
              <a:t>ο</a:t>
            </a:r>
            <a:r>
              <a:rPr lang="en-US" sz="903">
                <a:solidFill>
                  <a:srgbClr val="8661C5"/>
                </a:solidFill>
                <a:latin typeface="Segoe UI Semibold" panose="020B0702040204020203" pitchFamily="34" charset="0"/>
                <a:cs typeface="Segoe UI Semibold" panose="020B0702040204020203" pitchFamily="34" charset="0"/>
              </a:rPr>
              <a:t> </a:t>
            </a:r>
            <a:r>
              <a:rPr lang="en-US" sz="702">
                <a:solidFill>
                  <a:srgbClr val="000000"/>
                </a:solidFill>
                <a:latin typeface="Segoe UI Semibold" panose="020B0702040204020203" pitchFamily="34" charset="0"/>
                <a:cs typeface="Segoe UI Semibold" panose="020B0702040204020203" pitchFamily="34" charset="0"/>
              </a:rPr>
              <a:t>Limited</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78D4"/>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803">
                <a:solidFill>
                  <a:srgbClr val="C03BC4"/>
                </a:solidFill>
                <a:latin typeface="Segoe UI Semibold" panose="020B0702040204020203" pitchFamily="34" charset="0"/>
                <a:cs typeface="Segoe UI Semibold" panose="020B0702040204020203" pitchFamily="34" charset="0"/>
                <a:sym typeface="Wingdings" panose="05000000000000000000" pitchFamily="2" charset="2"/>
              </a:rPr>
              <a:t>▲</a:t>
            </a:r>
            <a:r>
              <a:rPr lang="en-US" sz="803" baseline="58000">
                <a:solidFill>
                  <a:srgbClr val="C03BC4">
                    <a:lumMod val="75000"/>
                  </a:srgbClr>
                </a:solidFill>
                <a:latin typeface="Segoe UI Semibold" panose="020B0702040204020203" pitchFamily="34" charset="0"/>
                <a:cs typeface="Segoe UI Semibold" panose="020B0702040204020203" pitchFamily="34" charset="0"/>
                <a:sym typeface="Wingdings" panose="05000000000000000000" pitchFamily="2" charset="2"/>
              </a:rPr>
              <a:t> </a:t>
            </a:r>
            <a:r>
              <a:rPr lang="en-US" sz="702">
                <a:solidFill>
                  <a:srgbClr val="000000"/>
                </a:solidFill>
                <a:latin typeface="Segoe UI Semibold" panose="020B0702040204020203" pitchFamily="34" charset="0"/>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algn="ctr" defTabSz="917509">
              <a:defRPr/>
            </a:pPr>
            <a:r>
              <a:rPr lang="en-US" sz="702">
                <a:ln w="3175">
                  <a:noFill/>
                </a:ln>
                <a:solidFill>
                  <a:prstClr val="black"/>
                </a:solidFill>
                <a:latin typeface="Segoe UI Semibold" panose="020B0702040204020203" pitchFamily="34" charset="0"/>
                <a:cs typeface="Segoe UI Semibold" panose="020B0702040204020203" pitchFamily="34" charset="0"/>
              </a:rPr>
              <a:t>Copilot Chat</a:t>
            </a:r>
            <a:r>
              <a:rPr lang="en-US" sz="702" baseline="30000">
                <a:ln w="3175">
                  <a:noFill/>
                </a:ln>
                <a:solidFill>
                  <a:prstClr val="black"/>
                </a:solidFill>
                <a:latin typeface="Segoe UI Semibold" panose="020B0702040204020203" pitchFamily="34" charset="0"/>
                <a:cs typeface="Segoe UI Semibold" panose="020B0702040204020203" pitchFamily="34" charset="0"/>
              </a:rPr>
              <a:t>1</a:t>
            </a:r>
            <a:endParaRPr lang="en-US" sz="702">
              <a:ln w="3175">
                <a:noFill/>
              </a:ln>
              <a:solidFill>
                <a:prstClr val="black"/>
              </a:solidFill>
              <a:latin typeface="Segoe UI Semibold" panose="020B0702040204020203" pitchFamily="34" charset="0"/>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01737" y="747756"/>
            <a:ext cx="554010" cy="215444"/>
          </a:xfrm>
          <a:prstGeom prst="rect">
            <a:avLst/>
          </a:prstGeom>
          <a:noFill/>
        </p:spPr>
        <p:txBody>
          <a:bodyPr wrap="square" lIns="0" tIns="0" rIns="0" bIns="0" rtlCol="0" anchor="t">
            <a:spAutoFit/>
          </a:bodyPr>
          <a:lstStyle/>
          <a:p>
            <a:pPr algn="ctr" defTabSz="917509">
              <a:defRPr/>
            </a:pPr>
            <a:r>
              <a:rPr lang="en-US" sz="700">
                <a:ln w="3175">
                  <a:noFill/>
                </a:ln>
                <a:solidFill>
                  <a:prstClr val="black"/>
                </a:solidFill>
                <a:latin typeface="Segoe UI Semibold"/>
                <a:cs typeface="Segoe UI Semibold"/>
              </a:rPr>
              <a:t>Copilot Business</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Applies to  customers with 2K or more M365 seats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Lexical search included for Copilot Chat users</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Access to brand kits and surveys requires M365 Copilot license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Available via </a:t>
            </a:r>
            <a:r>
              <a:rPr lang="en-US" sz="552">
                <a:solidFill>
                  <a:srgbClr val="091F2C"/>
                </a:solidFill>
                <a:latin typeface="Segoe UI" panose="020B0502040204020203" pitchFamily="34" charset="0"/>
                <a:cs typeface="Segoe UI" panose="020B0502040204020203" pitchFamily="34" charset="0"/>
                <a:hlinkClick r:id="rId4"/>
              </a:rPr>
              <a:t>Frontier </a:t>
            </a:r>
            <a:r>
              <a:rPr lang="en-US" sz="552">
                <a:solidFill>
                  <a:srgbClr val="091F2C"/>
                </a:solidFill>
                <a:latin typeface="Segoe UI" panose="020B0502040204020203" pitchFamily="34" charset="0"/>
                <a:cs typeface="Segoe UI" panose="020B0502040204020203" pitchFamily="34" charset="0"/>
              </a:rPr>
              <a:t>program, pricing final upon GA</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Copilot Chat users access Copilot Mode w/web data and open documents only</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For unlicensed users, Copilot Chat in Outlook reasons over organizational data in Outlook, Teams, OneDrive, and SharePoint (limited). </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Researcher and Analyst, have combined limit of 25 interactions </a:t>
            </a:r>
            <a:r>
              <a:rPr lang="en-US" sz="552" err="1">
                <a:solidFill>
                  <a:srgbClr val="091F2C"/>
                </a:solidFill>
                <a:latin typeface="Segoe UI" panose="020B0502040204020203" pitchFamily="34" charset="0"/>
                <a:cs typeface="Segoe UI" panose="020B0502040204020203" pitchFamily="34" charset="0"/>
              </a:rPr>
              <a:t>pu</a:t>
            </a:r>
            <a:r>
              <a:rPr lang="en-US" sz="552">
                <a:solidFill>
                  <a:srgbClr val="091F2C"/>
                </a:solidFill>
                <a:latin typeface="Segoe UI" panose="020B0502040204020203" pitchFamily="34" charset="0"/>
                <a:cs typeface="Segoe UI" panose="020B0502040204020203" pitchFamily="34" charset="0"/>
              </a:rPr>
              <a:t>/pm</a:t>
            </a:r>
          </a:p>
          <a:p>
            <a:pPr marL="252857" indent="-114689" defTabSz="899261" fontAlgn="base">
              <a:spcAft>
                <a:spcPts val="100"/>
              </a:spcAft>
              <a:buFontTx/>
              <a:buAutoNum type="arabicParenR"/>
              <a:defRPr/>
            </a:pPr>
            <a:r>
              <a:rPr lang="en-US" sz="552">
                <a:solidFill>
                  <a:srgbClr val="091F2C"/>
                </a:solidFill>
                <a:latin typeface="Segoe UI" panose="020B0502040204020203" pitchFamily="34" charset="0"/>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28AB9D-FEDE-D386-BB51-295FA38B47E4}"/>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6E1F46C-D455-58D3-9835-4CD28114CA4F}"/>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61776EAF-999C-1D56-04BA-7C3A78A3842D}"/>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643D2643-67D1-25D6-8EA7-E80B45469A37}"/>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546271A4-906E-AC24-0E52-EFA81992B9B7}"/>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9F629912-4053-C17D-E323-DAC8653DDB6B}"/>
              </a:ext>
            </a:extLst>
          </p:cNvPr>
          <p:cNvGraphicFramePr>
            <a:graphicFrameLocks noGrp="1"/>
          </p:cNvGraphicFramePr>
          <p:nvPr>
            <p:extLst>
              <p:ext uri="{D42A27DB-BD31-4B8C-83A1-F6EECF244321}">
                <p14:modId xmlns:p14="http://schemas.microsoft.com/office/powerpoint/2010/main" val="2491053364"/>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err="1">
                          <a:ln>
                            <a:noFill/>
                          </a:ln>
                          <a:solidFill>
                            <a:srgbClr val="8A226F"/>
                          </a:solidFill>
                          <a:effectLst/>
                          <a:uLnTx/>
                          <a:uFillTx/>
                          <a:latin typeface="Segoe UI Semibold"/>
                          <a:ea typeface="Segoe UI Regular"/>
                          <a:cs typeface="Segoe UI Semibold"/>
                        </a:rPr>
                        <a:t>start_sku</a:t>
                      </a: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a:lnSpc>
                          <a:spcPct val="100000"/>
                        </a:lnSpc>
                        <a:spcBef>
                          <a:spcPts val="0"/>
                        </a:spcBef>
                        <a:spcAft>
                          <a:spcPts val="0"/>
                        </a:spcAft>
                        <a:buNone/>
                      </a:pPr>
                      <a:r>
                        <a:rPr lang="en-US" sz="1200" b="0" i="0" u="none" strike="noStrike" kern="1200" cap="none" spc="0" normalizeH="0" baseline="0" noProof="0" dirty="0">
                          <a:ln>
                            <a:noFill/>
                          </a:ln>
                          <a:solidFill>
                            <a:schemeClr val="tx1"/>
                          </a:solidFill>
                          <a:effectLst/>
                          <a:uLnTx/>
                          <a:uFillTx/>
                          <a:latin typeface="Segoe UI"/>
                          <a:ea typeface="Segoe UI Regular" pitchFamily="34" charset="-122"/>
                          <a:cs typeface="Segoe UI"/>
                        </a:rPr>
                        <a:t>{seats} </a:t>
                      </a:r>
                      <a:endParaRPr kumimoji="0" lang="en-US" dirty="0"/>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current_annual_cost_per_user</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expiring_arr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85A445E1-A52D-33E5-8A47-654A75AF92D3}"/>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F751E058-0465-554B-EC83-ECA3B1CDE861}"/>
              </a:ext>
            </a:extLst>
          </p:cNvPr>
          <p:cNvGraphicFramePr>
            <a:graphicFrameLocks noGrp="1"/>
          </p:cNvGraphicFramePr>
          <p:nvPr>
            <p:extLst>
              <p:ext uri="{D42A27DB-BD31-4B8C-83A1-F6EECF244321}">
                <p14:modId xmlns:p14="http://schemas.microsoft.com/office/powerpoint/2010/main" val="115145397"/>
              </p:ext>
            </p:extLst>
          </p:nvPr>
        </p:nvGraphicFramePr>
        <p:xfrm>
          <a:off x="409574" y="3331405"/>
          <a:ext cx="4848226" cy="2385029"/>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dirty="0" err="1">
                          <a:ln>
                            <a:noFill/>
                          </a:ln>
                          <a:solidFill>
                            <a:srgbClr val="8A226F"/>
                          </a:solidFill>
                          <a:effectLst/>
                          <a:uLnTx/>
                          <a:uFillTx/>
                          <a:latin typeface="Segoe UI Semibold"/>
                          <a:ea typeface="Segoe UI Regular"/>
                          <a:cs typeface="Segoe UI Semibold"/>
                        </a:rPr>
                        <a:t>target_sku</a:t>
                      </a: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dirty="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77006">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8086285"/>
                  </a:ext>
                </a:extLst>
              </a:tr>
              <a:tr h="477006">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996238"/>
                  </a:ext>
                </a:extLst>
              </a:tr>
              <a:tr h="477005">
                <a:tc>
                  <a:txBody>
                    <a:bodyPr/>
                    <a:lstStyle/>
                    <a:p>
                      <a:pPr marL="0" marR="0" lvl="0" indent="0" algn="l" rtl="0">
                        <a:lnSpc>
                          <a:spcPct val="100000"/>
                        </a:lnSpc>
                        <a:spcBef>
                          <a:spcPts val="0"/>
                        </a:spcBef>
                        <a:spcAft>
                          <a:spcPts val="0"/>
                        </a:spcAft>
                        <a:buClrTx/>
                        <a:buSzTx/>
                        <a:buFontTx/>
                        <a:buNone/>
                      </a:pPr>
                      <a:r>
                        <a:rPr lang="en-US" sz="1200" b="0" i="0" u="none" strike="noStrike" kern="1200" cap="none" spc="0" normalizeH="0" baseline="0" noProof="0">
                          <a:ln>
                            <a:noFill/>
                          </a:ln>
                          <a:solidFill>
                            <a:schemeClr val="tx1"/>
                          </a:solidFill>
                          <a:effectLst/>
                          <a:uLnTx/>
                          <a:uFillTx/>
                          <a:latin typeface="Segoe UI"/>
                          <a:ea typeface="Segoe UI Regular"/>
                          <a:cs typeface="Segoe UI"/>
                        </a:rPr>
                        <a:t>Total investment in the upgraded solution</a:t>
                      </a:r>
                      <a:endParaRPr lang="en-US" sz="1200" b="0" i="0" u="none" strike="noStrike" kern="1200" cap="none" spc="0" normalizeH="0" baseline="0" noProof="0">
                        <a:ln>
                          <a:noFill/>
                        </a:ln>
                        <a:solidFill>
                          <a:schemeClr val="tx1"/>
                        </a:solidFill>
                        <a:effectLst/>
                        <a:uLnTx/>
                        <a:uFillTx/>
                        <a:latin typeface="Segoe UI"/>
                        <a:ea typeface="+mn-ea"/>
                        <a:cs typeface="Segoe UI"/>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total_upgraded_solution_investment</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4437397"/>
                  </a:ext>
                </a:extLst>
              </a:tr>
            </a:tbl>
          </a:graphicData>
        </a:graphic>
      </p:graphicFrame>
      <p:sp>
        <p:nvSpPr>
          <p:cNvPr id="35" name="Rectangle: Top Corners Rounded 34">
            <a:extLst>
              <a:ext uri="{FF2B5EF4-FFF2-40B4-BE49-F238E27FC236}">
                <a16:creationId xmlns:a16="http://schemas.microsoft.com/office/drawing/2014/main" id="{AF8D6392-6243-F044-47FA-FB10457D0581}"/>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1AEFAC14-680B-DFAE-9478-BCE9F04FD796}"/>
              </a:ext>
            </a:extLst>
          </p:cNvPr>
          <p:cNvGraphicFramePr>
            <a:graphicFrameLocks noGrp="1"/>
          </p:cNvGraphicFramePr>
          <p:nvPr>
            <p:extLst>
              <p:ext uri="{D42A27DB-BD31-4B8C-83A1-F6EECF244321}">
                <p14:modId xmlns:p14="http://schemas.microsoft.com/office/powerpoint/2010/main" val="4175877311"/>
              </p:ext>
            </p:extLst>
          </p:nvPr>
        </p:nvGraphicFramePr>
        <p:xfrm>
          <a:off x="409574" y="617807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AE315751-4126-2AEF-77CC-4EF7F2D3DFF8}"/>
              </a:ext>
            </a:extLst>
          </p:cNvPr>
          <p:cNvSpPr/>
          <p:nvPr/>
        </p:nvSpPr>
        <p:spPr>
          <a:xfrm>
            <a:off x="409574" y="586466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683798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198</Words>
  <Application>Microsoft Office PowerPoint</Application>
  <PresentationFormat>Custom</PresentationFormat>
  <Paragraphs>24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3</cp:revision>
  <dcterms:created xsi:type="dcterms:W3CDTF">2026-04-04T15:01:26Z</dcterms:created>
  <dcterms:modified xsi:type="dcterms:W3CDTF">2026-04-11T11:17:48Z</dcterms:modified>
</cp:coreProperties>
</file>