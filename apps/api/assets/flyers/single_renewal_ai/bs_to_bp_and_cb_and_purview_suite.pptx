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5.xml" ContentType="application/vnd.openxmlformats-officedocument.presentationml.slideLayout+xml"/>
  <Override PartName="/ppt/slideMasters/slideMaster5.xml" ContentType="application/vnd.openxmlformats-officedocument.presentationml.slideMaster+xml"/>
  <Override PartName="/ppt/theme/theme6.xml" ContentType="application/vnd.openxmlformats-officedocument.theme+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26.xml" ContentType="application/vnd.openxmlformats-officedocument.presentationml.slideLayout+xml"/>
  <Override PartName="/ppt/slideMasters/slideMaster6.xml" ContentType="application/vnd.openxmlformats-officedocument.presentationml.slideMaster+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7.xml" ContentType="application/vnd.openxmlformats-officedocument.theme+xml"/>
  <Override PartName="/ppt/slideLayouts/slideLayout29.xml" ContentType="application/vnd.openxmlformats-officedocument.presentationml.slideLayout+xml"/>
  <Override PartName="/ppt/slides/slide7.xml" ContentType="application/vnd.openxmlformats-officedocument.presentationml.slide+xml"/>
  <Override PartName="/ppt/notesSlides/notesSlide7.xml" ContentType="application/vnd.openxmlformats-officedocument.presentationml.notesSlide+xml"/>
  <Override PartName="/ppt/slideLayouts/slideLayout30.xml" ContentType="application/vnd.openxmlformats-officedocument.presentationml.slideLayout+xml"/>
  <Override PartName="/ppt/slideMasters/slideMaster7.xml" ContentType="application/vnd.openxmlformats-officedocument.presentationml.slideMaster+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6" r:id="rId17"/>
    <p:sldMasterId id="2147483767" r:id="rId18"/>
    <p:sldMasterId id="2147483768" r:id="rId19"/>
    <p:sldMasterId id="2147483769" r:id="rId20"/>
    <p:sldMasterId id="2147483770" r:id="rId21"/>
    <p:sldMasterId id="2147483771" r:id="rId22"/>
  </p:sldMasterIdLst>
  <p:notesMasterIdLst>
    <p:notesMasterId r:id="rId3"/>
  </p:notesMasterIdLst>
  <p:sldIdLst>
    <p:sldId id="256" r:id="rId10"/>
    <p:sldId id="257" r:id="rId11"/>
    <p:sldId id="258" r:id="rId12"/>
    <p:sldId id="259" r:id="rId13"/>
    <p:sldId id="260" r:id="rId14"/>
    <p:sldId id="261" r:id="rId15"/>
    <p:sldId id="262" r:id="rId16"/>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Master" Target="slideMasters/slideMaster2.xml"/><Relationship Id="rId18" Type="http://schemas.openxmlformats.org/officeDocument/2006/relationships/slideMaster" Target="slideMasters/slideMaster3.xml"/><Relationship Id="rId19" Type="http://schemas.openxmlformats.org/officeDocument/2006/relationships/slideMaster" Target="slideMasters/slideMaster4.xml"/><Relationship Id="rId20" Type="http://schemas.openxmlformats.org/officeDocument/2006/relationships/slideMaster" Target="slideMasters/slideMaster5.xml"/><Relationship Id="rId21" Type="http://schemas.openxmlformats.org/officeDocument/2006/relationships/slideMaster" Target="slideMasters/slideMaster6.xml"/><Relationship Id="rId22" Type="http://schemas.openxmlformats.org/officeDocument/2006/relationships/slideMaster" Target="slideMasters/slideMaster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563EF-ABEB-4A55-1BDA-B0F75E119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46676-9874-DFED-A12F-A3E367CDB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FCB86-B2CF-B98B-726E-1FD2E97B52E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87A5DB9-696B-F07C-E512-CB67CB08155B}"/>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065331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8.xml"/><Relationship Id="rId1" Type="http://schemas.openxmlformats.org/officeDocument/2006/relationships/slideLayout" Target="../slideLayouts/slideLayout26.xml"/><Relationship Id="rId5" Type="http://schemas.openxmlformats.org/officeDocument/2006/relationships/theme" Target="../theme/theme7.xml"/><Relationship Id="rId4"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2.xml"/><Relationship Id="rId1" Type="http://schemas.openxmlformats.org/officeDocument/2006/relationships/slideLayout" Target="../slideLayouts/slideLayout30.xml"/><Relationship Id="rId5" Type="http://schemas.openxmlformats.org/officeDocument/2006/relationships/theme" Target="../theme/theme8.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55"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56"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png"/><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hyperlink" Target="https://adoption.microsoft.com/en-us/copilot/frontier-progra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B99BBB6F-4D9E-CF5E-B53D-91E5C1262C2D}"/>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03148DF1-777A-D227-F6B5-23E701222BF0}"/>
              </a:ext>
            </a:extLst>
          </p:cNvPr>
          <p:cNvSpPr>
            <a:spLocks/>
          </p:cNvSpPr>
          <p:nvPr/>
        </p:nvSpPr>
        <p:spPr bwMode="auto">
          <a:xfrm>
            <a:off x="377825" y="885947"/>
            <a:ext cx="4895850" cy="6783266"/>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6DD84013-E694-D9ED-FD02-7EA08E49D089}"/>
              </a:ext>
            </a:extLst>
          </p:cNvPr>
          <p:cNvSpPr/>
          <p:nvPr/>
        </p:nvSpPr>
        <p:spPr bwMode="auto">
          <a:xfrm flipH="1">
            <a:off x="377815" y="885947"/>
            <a:ext cx="4895851" cy="436441"/>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EDC20D37-EC6D-DE3E-AA02-02630D78F503}"/>
              </a:ext>
            </a:extLst>
          </p:cNvPr>
          <p:cNvGraphicFramePr>
            <a:graphicFrameLocks noGrp="1"/>
          </p:cNvGraphicFramePr>
          <p:nvPr>
            <p:extLst>
              <p:ext uri="{D42A27DB-BD31-4B8C-83A1-F6EECF244321}">
                <p14:modId xmlns:p14="http://schemas.microsoft.com/office/powerpoint/2010/main" val="2755458559"/>
              </p:ext>
            </p:extLst>
          </p:nvPr>
        </p:nvGraphicFramePr>
        <p:xfrm>
          <a:off x="377826" y="885945"/>
          <a:ext cx="4895850" cy="6558560"/>
        </p:xfrm>
        <a:graphic>
          <a:graphicData uri="http://schemas.openxmlformats.org/drawingml/2006/table">
            <a:tbl>
              <a:tblPr firstRow="1" bandRow="1">
                <a:effectLst/>
                <a:tableStyleId>{2D5ABB26-0587-4C30-8999-92F81FD0307C}</a:tableStyleId>
              </a:tblPr>
              <a:tblGrid>
                <a:gridCol w="3521074">
                  <a:extLst>
                    <a:ext uri="{9D8B030D-6E8A-4147-A177-3AD203B41FA5}">
                      <a16:colId xmlns:a16="http://schemas.microsoft.com/office/drawing/2014/main" val="20000"/>
                    </a:ext>
                  </a:extLst>
                </a:gridCol>
                <a:gridCol w="565150">
                  <a:extLst>
                    <a:ext uri="{9D8B030D-6E8A-4147-A177-3AD203B41FA5}">
                      <a16:colId xmlns:a16="http://schemas.microsoft.com/office/drawing/2014/main" val="20001"/>
                    </a:ext>
                  </a:extLst>
                </a:gridCol>
                <a:gridCol w="809626">
                  <a:extLst>
                    <a:ext uri="{9D8B030D-6E8A-4147-A177-3AD203B41FA5}">
                      <a16:colId xmlns:a16="http://schemas.microsoft.com/office/drawing/2014/main" val="20002"/>
                    </a:ext>
                  </a:extLst>
                </a:gridCol>
              </a:tblGrid>
              <a:tr h="439935">
                <a:tc>
                  <a:txBody>
                    <a:bodyPr/>
                    <a:lstStyle/>
                    <a:p>
                      <a:pPr marL="0" indent="0">
                        <a:buNone/>
                      </a:pPr>
                      <a:r>
                        <a:rPr lang="en-US" sz="7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Incremental data security and compliance capabilities for AI</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7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Business Standard</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7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Purview Suite for Business Premium</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5940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Address oversharing concerns</a:t>
                      </a:r>
                    </a:p>
                  </a:txBody>
                  <a:tcPr marL="72000" marR="0" marT="0" marB="0" anchor="ct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dirty="0"/>
                    </a:p>
                  </a:txBody>
                  <a:tcPr marL="72000" marR="0" marT="0" marB="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148904">
                <a:tc>
                  <a:txBody>
                    <a:bodyPr/>
                    <a:lstStyle/>
                    <a:p>
                      <a:pPr marL="0" indent="0">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Identify potentially overshared sites and files across all of Microsoft 365</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Sites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Sites and files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38537">
                <a:tc>
                  <a:txBody>
                    <a:bodyPr/>
                    <a:lstStyle/>
                    <a:p>
                      <a:pPr marL="0" indent="0">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Create oversharing assessments targeted to specific Microsoft 365 locations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6092">
                <a:tc>
                  <a:txBody>
                    <a:bodyPr/>
                    <a:lstStyle/>
                    <a:p>
                      <a:pPr marL="0" indent="0">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Restrict user and/or Copilot + Agent access to risky sites while remediating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82860">
                <a:tc>
                  <a:txBody>
                    <a:bodyPr/>
                    <a:lstStyle/>
                    <a:p>
                      <a:pPr marL="0" indent="0">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Prevent Copilot + Agents from processing certain sensitive files and from using them in responses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148611">
                <a:tc>
                  <a:txBody>
                    <a:bodyPr/>
                    <a:lstStyle/>
                    <a:p>
                      <a:pPr marL="0" indent="0">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Receive and act on policy suggestions to mitigate your specific oversharing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61681">
                <a:tc>
                  <a:txBody>
                    <a:bodyPr/>
                    <a:lstStyle/>
                    <a:p>
                      <a:pPr marL="0" indent="0">
                        <a:buNone/>
                      </a:pPr>
                      <a:r>
                        <a:rPr lang="en-US" sz="650" kern="1200">
                          <a:solidFill>
                            <a:srgbClr val="000000"/>
                          </a:solidFill>
                          <a:latin typeface="Segoe UI" panose="020B0502040204020203" pitchFamily="34" charset="0"/>
                          <a:ea typeface="Calibri" charset="0"/>
                          <a:cs typeface="Segoe UI" panose="020B0502040204020203" pitchFamily="34" charset="0"/>
                        </a:rPr>
                        <a:t>Remove organization-wide site access as needed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33149">
                <a:tc>
                  <a:txBody>
                    <a:bodyPr/>
                    <a:lstStyle/>
                    <a:p>
                      <a:pPr marL="0" indent="0">
                        <a:buNone/>
                      </a:pPr>
                      <a:r>
                        <a:rPr lang="en-US" sz="650" kern="1200">
                          <a:solidFill>
                            <a:srgbClr val="000000"/>
                          </a:solidFill>
                          <a:latin typeface="Segoe UI" panose="020B0502040204020203" pitchFamily="34" charset="0"/>
                          <a:ea typeface="Calibri" charset="0"/>
                          <a:cs typeface="Segoe UI" panose="020B0502040204020203" pitchFamily="34" charset="0"/>
                        </a:rPr>
                        <a:t>Get notifications when new oversharing occurs with options for remediation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56927">
                <a:tc>
                  <a:txBody>
                    <a:bodyPr/>
                    <a:lstStyle/>
                    <a:p>
                      <a:pPr marL="0" indent="0">
                        <a:buNone/>
                      </a:pPr>
                      <a:r>
                        <a:rPr lang="en-US" sz="650" kern="1200" dirty="0">
                          <a:solidFill>
                            <a:srgbClr val="000000"/>
                          </a:solidFill>
                          <a:latin typeface="Segoe UI" panose="020B0502040204020203" pitchFamily="34" charset="0"/>
                          <a:ea typeface="Calibri" charset="0"/>
                          <a:cs typeface="Segoe UI" panose="020B0502040204020203" pitchFamily="34" charset="0"/>
                        </a:rPr>
                        <a:t>Secure sensitive data through file level access controls and Data Loss Prevention policies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179364">
                <a:tc>
                  <a:txBody>
                    <a:bodyPr/>
                    <a:lstStyle/>
                    <a:p>
                      <a:pPr marL="0" indent="0">
                        <a:buNone/>
                      </a:pPr>
                      <a:r>
                        <a:rPr lang="en-US" sz="650" kern="1200" dirty="0">
                          <a:solidFill>
                            <a:srgbClr val="000000"/>
                          </a:solidFill>
                          <a:latin typeface="Segoe UI" panose="020B0502040204020203" pitchFamily="34" charset="0"/>
                          <a:ea typeface="Calibri" charset="0"/>
                          <a:cs typeface="Segoe UI" panose="020B0502040204020203" pitchFamily="34" charset="0"/>
                        </a:rPr>
                        <a:t>Improve Copilot + Agent responses by archiving or deleting unneeded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Sites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Sites and files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700826"/>
                  </a:ext>
                </a:extLst>
              </a:tr>
              <a:tr h="16153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Protect against data loss and insider risk</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25203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View reports of sensitive data and unprotected files referenced in Copilot + Agent interactions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47415">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Get alerted to risky AI use, such as an attempted prompt injection attack</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404216"/>
                  </a:ext>
                </a:extLst>
              </a:tr>
              <a:tr h="242523">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View prompt and response text and referenced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Via search and alerts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91912513"/>
                  </a:ext>
                </a:extLst>
              </a:tr>
              <a:tr h="161682">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Detect when content contains sensitive data and ask the user to manually 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013380"/>
                  </a:ext>
                </a:extLst>
              </a:tr>
              <a:tr h="161681">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Detect when content contains sensitive data and auto-apply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6527937"/>
                  </a:ext>
                </a:extLst>
              </a:tr>
              <a:tr h="27105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Copilot + Agent response and Copilot + Agent created documents inherit sensitivity label and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424012"/>
                  </a:ext>
                </a:extLst>
              </a:tr>
              <a:tr h="147415">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Block Copilot + Agent access to files with a specific sensitivity label</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0985489"/>
                  </a:ext>
                </a:extLst>
              </a:tr>
              <a:tr h="156927">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Protect files even if they are moved or downloaded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10017648"/>
                  </a:ext>
                </a:extLst>
              </a:tr>
              <a:tr h="166438">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Get alerted to risky user actions that deviate from their usual pattern of behavior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73392232"/>
                  </a:ext>
                </a:extLst>
              </a:tr>
              <a:tr h="171192">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Correlate and sequence risk alerts to identify high severity risk patterns for a user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22534814"/>
                  </a:ext>
                </a:extLst>
              </a:tr>
              <a:tr h="161681">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Automatically add a user to more strict security policies based on their risk patterns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00522731"/>
                  </a:ext>
                </a:extLst>
              </a:tr>
              <a:tr h="16168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6360809"/>
                  </a:ext>
                </a:extLst>
              </a:tr>
              <a:tr h="16168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45917943"/>
                  </a:ext>
                </a:extLst>
              </a:tr>
              <a:tr h="161681">
                <a:tc>
                  <a:txBody>
                    <a:body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auto" latinLnBrk="0" hangingPunct="1">
                        <a:lnSpc>
                          <a:spcPct val="100000"/>
                        </a:lnSpc>
                        <a:spcBef>
                          <a:spcPts val="0"/>
                        </a:spcBef>
                        <a:spcAft>
                          <a:spcPts val="0"/>
                        </a:spcAft>
                        <a:buClrTx/>
                        <a:buSzTx/>
                        <a:buFontTx/>
                        <a:buNone/>
                        <a:tabLst/>
                        <a:defRPr/>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30275625"/>
                  </a:ext>
                </a:extLst>
              </a:tr>
              <a:tr h="15217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Govern AI use to meet regulations and policies, Copilot Chat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5692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Audit Copilot + Agent interactions to access detailed log information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6154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Enforce retention and deletion policies for Copilot + Agent interactions and meeting recordings + transcripts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5692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Include a user’s Copilot + Agent prompts and responses in a legal hold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22825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Receive an alert if a possible compliance or ethical violation occurs and start an investigation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42523">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Perform an admin search for litigation or an investigation and include Copilot + Agent generated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58758097"/>
                  </a:ext>
                </a:extLst>
              </a:tr>
              <a:tr h="15692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Assess and track adherence to regulatory frameworks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224276">
                <a:tc>
                  <a:txBody>
                    <a:bodyPr/>
                    <a:lstStyle/>
                    <a:p>
                      <a:pPr algn="l" fontAlgn="ctr">
                        <a:buNone/>
                      </a:pPr>
                      <a:r>
                        <a:rPr lang="en-US" sz="70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37807667"/>
                  </a:ext>
                </a:extLst>
              </a:tr>
              <a:tr h="156927">
                <a:tc>
                  <a:txBody>
                    <a:bodyPr/>
                    <a:lstStyle/>
                    <a:p>
                      <a:pPr algn="l" fontAlgn="ctr">
                        <a:buNone/>
                      </a:pPr>
                      <a:r>
                        <a:rPr lang="en-US" sz="70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04604295"/>
                  </a:ext>
                </a:extLst>
              </a:tr>
            </a:tbl>
          </a:graphicData>
        </a:graphic>
      </p:graphicFrame>
      <p:sp>
        <p:nvSpPr>
          <p:cNvPr id="7" name="Incremental capabilities from Current SKU to Target SKU">
            <a:extLst>
              <a:ext uri="{FF2B5EF4-FFF2-40B4-BE49-F238E27FC236}">
                <a16:creationId xmlns:a16="http://schemas.microsoft.com/office/drawing/2014/main" id="{1EDCBB6D-F473-4127-8E11-431804803ADF}"/>
              </a:ext>
            </a:extLst>
          </p:cNvPr>
          <p:cNvSpPr/>
          <p:nvPr/>
        </p:nvSpPr>
        <p:spPr>
          <a:xfrm>
            <a:off x="377826" y="281945"/>
            <a:ext cx="4895850" cy="470898"/>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Standard vs </a:t>
            </a:r>
            <a:br>
              <a:rPr lang="en-US" dirty="0">
                <a:solidFill>
                  <a:srgbClr val="B740C5"/>
                </a:solidFill>
                <a:latin typeface="Segoe UI Semibold"/>
                <a:cs typeface="Segoe UI Semibold"/>
              </a:rPr>
            </a:br>
            <a:r>
              <a:rPr lang="en-US" dirty="0">
                <a:solidFill>
                  <a:srgbClr val="B740C5"/>
                </a:solidFill>
                <a:latin typeface="Segoe UI Semibold"/>
                <a:cs typeface="Segoe UI Semibold"/>
              </a:rPr>
              <a:t>Business Premium + Purview Suite</a:t>
            </a:r>
          </a:p>
        </p:txBody>
      </p:sp>
    </p:spTree>
    <p:extLst>
      <p:ext uri="{BB962C8B-B14F-4D97-AF65-F5344CB8AC3E}">
        <p14:creationId xmlns:p14="http://schemas.microsoft.com/office/powerpoint/2010/main" val="2066579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