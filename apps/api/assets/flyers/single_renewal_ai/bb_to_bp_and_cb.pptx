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5.xml" ContentType="application/vnd.openxmlformats-officedocument.presentationml.slideLayout+xml"/>
  <Override PartName="/ppt/slideMasters/slideMaster5.xml" ContentType="application/vnd.openxmlformats-officedocument.presentationml.slideMaster+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19.xml" ContentType="application/vnd.openxmlformats-officedocument.presentationml.slideLayout+xml"/>
  <Override PartName="/ppt/slideMasters/slideMaster6.xml" ContentType="application/vnd.openxmlformats-officedocument.presentationml.slideMaster+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5" r:id="rId16"/>
    <p:sldMasterId id="2147483756" r:id="rId17"/>
    <p:sldMasterId id="2147483757" r:id="rId18"/>
    <p:sldMasterId id="2147483758" r:id="rId19"/>
    <p:sldMasterId id="2147483759" r:id="rId20"/>
  </p:sldMasterIdLst>
  <p:notesMasterIdLst>
    <p:notesMasterId r:id="rId3"/>
  </p:notesMasterIdLst>
  <p:sldIdLst>
    <p:sldId id="256" r:id="rId10"/>
    <p:sldId id="257" r:id="rId11"/>
    <p:sldId id="258" r:id="rId12"/>
    <p:sldId id="259" r:id="rId13"/>
    <p:sldId id="260" r:id="rId14"/>
    <p:sldId id="261" r:id="rId15"/>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Master" Target="slideMasters/slideMaster2.xml"/><Relationship Id="rId17" Type="http://schemas.openxmlformats.org/officeDocument/2006/relationships/slideMaster" Target="slideMasters/slideMaster3.xml"/><Relationship Id="rId18" Type="http://schemas.openxmlformats.org/officeDocument/2006/relationships/slideMaster" Target="slideMasters/slideMaster4.xml"/><Relationship Id="rId19" Type="http://schemas.openxmlformats.org/officeDocument/2006/relationships/slideMaster" Target="slideMasters/slideMaster5.xml"/><Relationship Id="rId20"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D700-29C8-E943-EE34-4A3666C86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6905A-E61B-A075-8B81-DD992B598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989EF-3A8C-73D0-F9C1-6DAEC69EEE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5B39C7-8702-C977-A9AA-FC6B3BE2D6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2463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7.xml"/><Relationship Id="rId1" Type="http://schemas.openxmlformats.org/officeDocument/2006/relationships/slideLayout" Target="../slideLayouts/slideLayout15.xml"/><Relationship Id="rId5" Type="http://schemas.openxmlformats.org/officeDocument/2006/relationships/theme" Target="../theme/theme6.xml"/><Relationship Id="rId4"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21.xml"/><Relationship Id="rId1" Type="http://schemas.openxmlformats.org/officeDocument/2006/relationships/slideLayout" Target="../slideLayouts/slideLayout19.xml"/><Relationship Id="rId5" Type="http://schemas.openxmlformats.org/officeDocument/2006/relationships/theme" Target="../theme/theme7.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45"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7825" y="773277"/>
            <a:ext cx="4895850" cy="682132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7820" y="773275"/>
            <a:ext cx="4895851" cy="339245"/>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E92FBC31-C842-4B95-0235-A5090274DEC9}"/>
              </a:ext>
            </a:extLst>
          </p:cNvPr>
          <p:cNvGraphicFramePr>
            <a:graphicFrameLocks noGrp="1"/>
          </p:cNvGraphicFramePr>
          <p:nvPr>
            <p:extLst>
              <p:ext uri="{D42A27DB-BD31-4B8C-83A1-F6EECF244321}">
                <p14:modId xmlns:p14="http://schemas.microsoft.com/office/powerpoint/2010/main" val="991024875"/>
              </p:ext>
            </p:extLst>
          </p:nvPr>
        </p:nvGraphicFramePr>
        <p:xfrm>
          <a:off x="377826" y="773281"/>
          <a:ext cx="4895850" cy="6727920"/>
        </p:xfrm>
        <a:graphic>
          <a:graphicData uri="http://schemas.openxmlformats.org/drawingml/2006/table">
            <a:tbl>
              <a:tblPr firstRow="1" bandRow="1">
                <a:effectLst/>
                <a:tableStyleId>{2D5ABB26-0587-4C30-8999-92F81FD0307C}</a:tableStyleId>
              </a:tblPr>
              <a:tblGrid>
                <a:gridCol w="3843952">
                  <a:extLst>
                    <a:ext uri="{9D8B030D-6E8A-4147-A177-3AD203B41FA5}">
                      <a16:colId xmlns:a16="http://schemas.microsoft.com/office/drawing/2014/main" val="20000"/>
                    </a:ext>
                  </a:extLst>
                </a:gridCol>
                <a:gridCol w="525949">
                  <a:extLst>
                    <a:ext uri="{9D8B030D-6E8A-4147-A177-3AD203B41FA5}">
                      <a16:colId xmlns:a16="http://schemas.microsoft.com/office/drawing/2014/main" val="20001"/>
                    </a:ext>
                  </a:extLst>
                </a:gridCol>
                <a:gridCol w="525949">
                  <a:extLst>
                    <a:ext uri="{9D8B030D-6E8A-4147-A177-3AD203B41FA5}">
                      <a16:colId xmlns:a16="http://schemas.microsoft.com/office/drawing/2014/main" val="20002"/>
                    </a:ext>
                  </a:extLst>
                </a:gridCol>
              </a:tblGrid>
              <a:tr h="34643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 Business Basic → Business Premium</a:t>
                      </a:r>
                    </a:p>
                  </a:txBody>
                  <a:tcPr marL="108000" marR="7593" marT="36000" marB="3600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Business</a:t>
                      </a:r>
                    </a:p>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Basic</a:t>
                      </a:r>
                    </a:p>
                  </a:txBody>
                  <a:tcPr marL="7593" marR="7593" marT="36000" marB="3600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dirty="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Business</a:t>
                      </a:r>
                    </a:p>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dirty="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Premium</a:t>
                      </a:r>
                    </a:p>
                  </a:txBody>
                  <a:tcPr marL="7593" marR="7593" marT="36000" marB="3600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Productivity, collaboration, e-mail, storage, and employee engagement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dirty="0"/>
                    </a:p>
                  </a:txBody>
                  <a:tcPr marL="72000" marR="0" marT="36000" marB="3600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dirty="0"/>
                    </a:p>
                  </a:txBody>
                  <a:tcPr marL="72000" marR="0" marT="36000" marB="3600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Web and mobile versions of Word, Excel, PowerPoint, and Outlook</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Desktop versions of Word, Excel, PowerPoint, Outlook, OneNote, and Access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Chat, audio, video, recording, and 3D immersive spaces with Microsoft Teams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Webinar hosting with attendee registration and reporting</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25994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10+ additional apps for your business needs (including Microsoft Loop, Clipchamp, Bookings, Planner, and Forms)​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26579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Ad-free email and calendar with Outlook; custom business email with Exchange Online Plan 1 (100 GB mailbox)</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2203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OneDrive: 1 TB cloud storage per user; SharePoint Plan 1; Microsoft Search; Microsoft Visio for the web</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Viva Connections, Viva Insights (personal), Viva Engage, Viva Learning (select courses)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solidFill>
                          <a:latin typeface="Segoe UI Semibold"/>
                          <a:ea typeface="+mn-ea"/>
                          <a:cs typeface="Segoe UI Semibold"/>
                          <a:sym typeface=""/>
                        </a:rPr>
                        <a:t>Automation</a:t>
                      </a:r>
                      <a:r>
                        <a:rPr lang="en-US" sz="700" b="0" i="0" u="none" strike="noStrike" kern="1200" cap="none" spc="0" normalizeH="0" baseline="0">
                          <a:solidFill>
                            <a:srgbClr val="8A226F"/>
                          </a:solidFill>
                          <a:latin typeface="Segoe UI Semibold"/>
                          <a:ea typeface="+mn-ea"/>
                          <a:cs typeface="Segoe UI Semibold"/>
                        </a:rPr>
                        <a:t>, Security</a:t>
                      </a:r>
                      <a:r>
                        <a:rPr lang="en-US" sz="700" b="0" i="0" u="none" strike="noStrike" kern="1200" cap="none" spc="0" normalizeH="0" baseline="0">
                          <a:solidFill>
                            <a:srgbClr val="8A226F"/>
                          </a:solidFill>
                          <a:latin typeface="Segoe UI Semibold"/>
                          <a:ea typeface="+mn-ea"/>
                          <a:cs typeface="Segoe UI Semibold"/>
                          <a:sym typeface=""/>
                        </a:rPr>
                        <a:t> &amp; business platform</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25994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Apps, Power Automate (cloud flows), Dataverse for Teams, Microsoft Graph API, Power Virtual Agents for Teams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Automate: Full cloud and desktop flows for enhanced workflow automation</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Secure Score, Microsoft Purview Audit (Standard)</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6"/>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Device management &amp; Windows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25994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Intuitive, intelligent operating system designed to enhance your PC experience and productivity with Windows 11</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Secure remote desktop and application experiences with Azure Virtual Desktop</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Endpoint management across devices with Intune</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&amp; access management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Entra ID (Free): Basic single sign-on and multifactor authentication</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25994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Entra ID Plan 1: Conditional Access policies, automated user provisioning, group-based access management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Personal and secure way to sign in to devices with Windows Hello for Business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Threat protection</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Exchange Online Protection: Basic anti-spam and anti-malware filtering</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25994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Integrated cyberthreat protection for email and collaboration tools with Microsoft Defender for Office 365</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Cyberthreat protection against viruses and phishing with Microsoft Defender for Business</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62765">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URL time-of-click protection (</a:t>
                      </a:r>
                      <a:r>
                        <a:rPr lang="en-US" sz="650" b="0" i="0" u="none" strike="noStrike" dirty="0" err="1">
                          <a:solidFill>
                            <a:srgbClr val="000000"/>
                          </a:solidFill>
                          <a:effectLst/>
                          <a:latin typeface="Segoe UI" panose="020B0502040204020203" pitchFamily="34" charset="0"/>
                          <a:cs typeface="Segoe UI" panose="020B0502040204020203" pitchFamily="34" charset="0"/>
                        </a:rPr>
                        <a:t>SafeLinks</a:t>
                      </a:r>
                      <a:r>
                        <a:rPr lang="en-US" sz="650" b="0" i="0" u="none" strike="noStrike" dirty="0">
                          <a:solidFill>
                            <a:srgbClr val="000000"/>
                          </a:solidFill>
                          <a:effectLst/>
                          <a:latin typeface="Segoe UI" panose="020B0502040204020203" pitchFamily="34" charset="0"/>
                          <a:cs typeface="Segoe UI" panose="020B0502040204020203" pitchFamily="34" charset="0"/>
                        </a:rPr>
                        <a:t> Lite) — re-checks links at moment of click</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20564467"/>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Data compliance, security and governance</a:t>
                      </a:r>
                      <a:endPar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indent="0" algn="ctr">
                        <a:buNone/>
                      </a:pPr>
                      <a:endParaRPr lang="en-US" sz="70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indent="0" algn="ctr">
                        <a:buNone/>
                      </a:pPr>
                      <a:endParaRPr lang="en-US" sz="70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555911222"/>
                  </a:ext>
                </a:extLst>
              </a:tr>
              <a:tr h="16276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Ability to log and search for audited activities with Microsoft Purview Audit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9325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Intelligent detection and control of sensitive information with Microsoft Purview Data Loss Protection</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220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Calibri" panose="020F0502020204030204" pitchFamily="34" charset="0"/>
                          <a:cs typeface="Segoe UI" panose="020B0502040204020203" pitchFamily="34" charset="0"/>
                          <a:sym typeface=""/>
                        </a:rPr>
                        <a:t>Discovery and protection of sensitive data with Microsoft Purview Information Protection</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36000" marB="3600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162765">
                <a:tc>
                  <a:txBody>
                    <a:body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rPr>
                        <a:t>Copilot Chat</a:t>
                      </a:r>
                      <a:endPar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2444116783"/>
                  </a:ext>
                </a:extLst>
              </a:tr>
              <a:tr h="198966">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56611289"/>
                  </a:ext>
                </a:extLst>
              </a:tr>
              <a:tr h="173567">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294134069"/>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7826" y="351710"/>
            <a:ext cx="4895850" cy="275909"/>
          </a:xfrm>
          <a:prstGeom prst="rect">
            <a:avLst/>
          </a:prstGeom>
          <a:noFill/>
          <a:ln/>
        </p:spPr>
        <p:txBody>
          <a:bodyPr wrap="square" lIns="0" tIns="0" rIns="0" bIns="0" rtlCol="0" anchor="t" anchorCtr="0">
            <a:spAutoFit/>
          </a:bodyPr>
          <a:lstStyle/>
          <a:p>
            <a:pPr lvl="0" defTabSz="910968">
              <a:defRPr/>
            </a:pPr>
            <a:r>
              <a:rPr kumimoji="0" lang="en-US" sz="1793" b="0" i="0" u="none" strike="noStrike" kern="1200" cap="none" spc="0" normalizeH="0" baseline="0" noProof="0" dirty="0">
                <a:ln>
                  <a:noFill/>
                </a:ln>
                <a:solidFill>
                  <a:srgbClr val="B740C5"/>
                </a:solidFill>
                <a:effectLst/>
                <a:uLnTx/>
                <a:uFillTx/>
                <a:latin typeface="Segoe UI Semibold"/>
                <a:ea typeface="+mn-ea"/>
                <a:cs typeface="Segoe UI Semibold"/>
              </a:rPr>
              <a:t>Business </a:t>
            </a:r>
            <a:r>
              <a:rPr lang="en-US" sz="1793" dirty="0">
                <a:solidFill>
                  <a:srgbClr val="B740C5"/>
                </a:solidFill>
                <a:latin typeface="Segoe UI Semibold"/>
                <a:cs typeface="Segoe UI Semibold"/>
              </a:rPr>
              <a:t>Basic</a:t>
            </a:r>
            <a:r>
              <a:rPr kumimoji="0" lang="en-US" sz="1793" b="0" i="0" u="none" strike="noStrike" kern="1200" cap="none" spc="0" normalizeH="0" baseline="0" noProof="0" dirty="0">
                <a:ln>
                  <a:noFill/>
                </a:ln>
                <a:solidFill>
                  <a:srgbClr val="B740C5"/>
                </a:solidFill>
                <a:effectLst/>
                <a:uLnTx/>
                <a:uFillTx/>
                <a:latin typeface="Segoe UI Semibold"/>
                <a:ea typeface="+mn-ea"/>
                <a:cs typeface="Segoe UI Semibold"/>
              </a:rPr>
              <a:t> vs Business Premium</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BF04F-F5E6-9BBC-0F31-00450DFD326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5E1E200E-1D71-771B-1D7E-1C697D28A464}"/>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AB35AEB-AE5F-DF15-E60C-7692A080DB63}"/>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1E46EDD8-8E9E-7001-ADF6-C049C2C6070C}"/>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81E1DC8-3F83-579E-0D76-C0042C45DA34}"/>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CD86A790-6B1E-5978-DD67-58EDAF178703}"/>
              </a:ext>
            </a:extLst>
          </p:cNvPr>
          <p:cNvGraphicFramePr>
            <a:graphicFrameLocks noGrp="1"/>
          </p:cNvGraphicFramePr>
          <p:nvPr>
            <p:extLst>
              <p:ext uri="{D42A27DB-BD31-4B8C-83A1-F6EECF244321}">
                <p14:modId xmlns:p14="http://schemas.microsoft.com/office/powerpoint/2010/main" val="2542290266"/>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start_sku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IN"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current_annual_cost_per_user</a:t>
                      </a: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6B20BA4E-F00B-2A24-6728-C2663BCB118E}"/>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7E65FF40-2739-DA62-0B72-DE2D764DAE71}"/>
              </a:ext>
            </a:extLst>
          </p:cNvPr>
          <p:cNvGraphicFramePr>
            <a:graphicFrameLocks noGrp="1"/>
          </p:cNvGraphicFramePr>
          <p:nvPr>
            <p:extLst>
              <p:ext uri="{D42A27DB-BD31-4B8C-83A1-F6EECF244321}">
                <p14:modId xmlns:p14="http://schemas.microsoft.com/office/powerpoint/2010/main" val="2331006988"/>
              </p:ext>
            </p:extLst>
          </p:nvPr>
        </p:nvGraphicFramePr>
        <p:xfrm>
          <a:off x="409574" y="3331405"/>
          <a:ext cx="4848226" cy="1417576"/>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200"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63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investment in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cap="none" spc="0" normalizeH="0" baseline="0" dirty="0">
                          <a:ln>
                            <a:noFill/>
                          </a:ln>
                          <a:solidFill>
                            <a:schemeClr val="tx1"/>
                          </a:solidFill>
                          <a:effectLst/>
                          <a:uLnTx/>
                          <a:uFillTx/>
                          <a:latin typeface="Segoe UI"/>
                          <a:ea typeface="Segoe UI Regular"/>
                          <a:cs typeface="Segoe UI"/>
                        </a:rPr>
                        <a:t>{</a:t>
                      </a:r>
                      <a:r>
                        <a:rPr lang="en-IN" sz="1200" b="0" i="0" u="none" strike="noStrike" kern="1200" cap="none" spc="0" normalizeH="0" baseline="0" dirty="0" err="1">
                          <a:ln>
                            <a:noFill/>
                          </a:ln>
                          <a:solidFill>
                            <a:schemeClr val="tx1"/>
                          </a:solidFill>
                          <a:effectLst/>
                          <a:uLnTx/>
                          <a:uFillTx/>
                          <a:latin typeface="Segoe UI"/>
                          <a:ea typeface="Segoe UI Regular"/>
                          <a:cs typeface="Segoe UI"/>
                        </a:rPr>
                        <a:t>total_upgraded_solution_investment</a:t>
                      </a:r>
                      <a:r>
                        <a:rPr lang="en-IN" sz="1200" b="0" i="0" u="none" strike="noStrike" kern="1200" cap="none" spc="0" normalizeH="0" baseline="0" dirty="0">
                          <a:ln>
                            <a:noFill/>
                          </a:ln>
                          <a:solidFill>
                            <a:schemeClr val="tx1"/>
                          </a:solidFill>
                          <a:effectLst/>
                          <a:uLnTx/>
                          <a:uFillTx/>
                          <a:latin typeface="Segoe UI"/>
                          <a:ea typeface="Segoe UI Regular"/>
                          <a:cs typeface="Segoe UI"/>
                        </a:rPr>
                        <a:t>}</a:t>
                      </a:r>
                      <a:endParaRPr lang="en-US" sz="1200" b="0" i="0" u="none" strike="noStrike" kern="1200" cap="none" spc="0" normalizeH="0" baseline="0" noProof="0" dirty="0">
                        <a:ln>
                          <a:noFill/>
                        </a:ln>
                        <a:solidFill>
                          <a:schemeClr val="tx1"/>
                        </a:solidFill>
                        <a:effectLst/>
                        <a:uLnTx/>
                        <a:uFillTx/>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bl>
          </a:graphicData>
        </a:graphic>
      </p:graphicFrame>
      <p:sp>
        <p:nvSpPr>
          <p:cNvPr id="35" name="Rectangle: Top Corners Rounded 34">
            <a:extLst>
              <a:ext uri="{FF2B5EF4-FFF2-40B4-BE49-F238E27FC236}">
                <a16:creationId xmlns:a16="http://schemas.microsoft.com/office/drawing/2014/main" id="{E9E92B9C-BA84-6DEC-1423-CE1E3BC888A3}"/>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0ECB62EE-D44D-A2BF-516D-BBC7F474799A}"/>
              </a:ext>
            </a:extLst>
          </p:cNvPr>
          <p:cNvGraphicFramePr>
            <a:graphicFrameLocks noGrp="1"/>
          </p:cNvGraphicFramePr>
          <p:nvPr>
            <p:extLst>
              <p:ext uri="{D42A27DB-BD31-4B8C-83A1-F6EECF244321}">
                <p14:modId xmlns:p14="http://schemas.microsoft.com/office/powerpoint/2010/main" val="2160284069"/>
              </p:ext>
            </p:extLst>
          </p:nvPr>
        </p:nvGraphicFramePr>
        <p:xfrm>
          <a:off x="409574" y="530939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B16C30A7-E5F7-B090-2E6A-A865E7D2CB50}"/>
              </a:ext>
            </a:extLst>
          </p:cNvPr>
          <p:cNvSpPr/>
          <p:nvPr/>
        </p:nvSpPr>
        <p:spPr>
          <a:xfrm>
            <a:off x="409574" y="499598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1419858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