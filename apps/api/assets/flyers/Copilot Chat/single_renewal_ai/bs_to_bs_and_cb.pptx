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4" r:id="rId2"/>
    <p:sldMasterId id="2147483666" r:id="rId3"/>
  </p:sldMasterIdLst>
  <p:notesMasterIdLst>
    <p:notesMasterId r:id="rId9"/>
  </p:notesMasterIdLst>
  <p:sldIdLst>
    <p:sldId id="2147470025" r:id="rId4"/>
    <p:sldId id="275" r:id="rId5"/>
    <p:sldId id="274" r:id="rId6"/>
    <p:sldId id="2147470024" r:id="rId7"/>
    <p:sldId id="2147470015" r:id="rId8"/>
  </p:sldIdLst>
  <p:sldSz cx="5667375" cy="8020050"/>
  <p:notesSz cx="8020050" cy="566737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526" userDrawn="1">
          <p15:clr>
            <a:srgbClr val="A4A3A4"/>
          </p15:clr>
        </p15:guide>
        <p15:guide id="2" pos="178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740C5"/>
    <a:srgbClr val="8A226F"/>
    <a:srgbClr val="0078D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1B66F67-C416-4A5A-8CE2-40D3E6151477}" v="2" dt="2026-04-30T10:18:53.59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7" d="100"/>
          <a:sy n="87" d="100"/>
        </p:scale>
        <p:origin x="2368" y="52"/>
      </p:cViewPr>
      <p:guideLst>
        <p:guide orient="horz" pos="2526"/>
        <p:guide pos="1785"/>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tableStyles" Target="tableStyles.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theme" Target="theme/theme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viewProps" Target="viewProps.xml"/><Relationship Id="rId5" Type="http://schemas.openxmlformats.org/officeDocument/2006/relationships/slide" Target="slides/slide2.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ndan Jain" userId="4244b45b-25d1-413d-855b-6597e767c081" providerId="ADAL" clId="{67AB2A15-26B8-47FB-BEC6-EFDC03C3B3B6}"/>
    <pc:docChg chg="custSel addSld delSld modSld delMainMaster">
      <pc:chgData name="Vandan Jain" userId="4244b45b-25d1-413d-855b-6597e767c081" providerId="ADAL" clId="{67AB2A15-26B8-47FB-BEC6-EFDC03C3B3B6}" dt="2026-04-30T10:18:53.586" v="23"/>
      <pc:docMkLst>
        <pc:docMk/>
      </pc:docMkLst>
      <pc:sldChg chg="add">
        <pc:chgData name="Vandan Jain" userId="4244b45b-25d1-413d-855b-6597e767c081" providerId="ADAL" clId="{67AB2A15-26B8-47FB-BEC6-EFDC03C3B3B6}" dt="2026-04-30T10:18:53.586" v="23"/>
        <pc:sldMkLst>
          <pc:docMk/>
          <pc:sldMk cId="2160271917" sldId="274"/>
        </pc:sldMkLst>
      </pc:sldChg>
      <pc:sldChg chg="add">
        <pc:chgData name="Vandan Jain" userId="4244b45b-25d1-413d-855b-6597e767c081" providerId="ADAL" clId="{67AB2A15-26B8-47FB-BEC6-EFDC03C3B3B6}" dt="2026-04-28T15:59:57.276" v="21"/>
        <pc:sldMkLst>
          <pc:docMk/>
          <pc:sldMk cId="1144813852" sldId="275"/>
        </pc:sldMkLst>
      </pc:sldChg>
      <pc:sldChg chg="add">
        <pc:chgData name="Vandan Jain" userId="4244b45b-25d1-413d-855b-6597e767c081" providerId="ADAL" clId="{67AB2A15-26B8-47FB-BEC6-EFDC03C3B3B6}" dt="2026-04-28T15:59:57.276" v="21"/>
        <pc:sldMkLst>
          <pc:docMk/>
          <pc:sldMk cId="502757189" sldId="214747002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979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513399-8C83-AF56-B2F0-A97ACDD18D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B37BFC-486C-B9BD-0E17-CEF04F33951F}"/>
              </a:ext>
            </a:extLst>
          </p:cNvPr>
          <p:cNvSpPr>
            <a:spLocks noGrp="1" noRot="1" noChangeAspect="1"/>
          </p:cNvSpPr>
          <p:nvPr>
            <p:ph type="sldImg"/>
          </p:nvPr>
        </p:nvSpPr>
        <p:spPr>
          <a:xfrm>
            <a:off x="2338388" y="1143000"/>
            <a:ext cx="2181225" cy="3086100"/>
          </a:xfrm>
        </p:spPr>
        <p:txBody>
          <a:bodyPr/>
          <a:lstStyle/>
          <a:p>
            <a:endParaRPr lang="en-US"/>
          </a:p>
        </p:txBody>
      </p:sp>
      <p:sp>
        <p:nvSpPr>
          <p:cNvPr id="3" name="Notes Placeholder 2">
            <a:extLst>
              <a:ext uri="{FF2B5EF4-FFF2-40B4-BE49-F238E27FC236}">
                <a16:creationId xmlns:a16="http://schemas.microsoft.com/office/drawing/2014/main" id="{68165880-E896-D2D4-83B6-3FD05B53FB2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23062FE-6677-CD01-D640-BA1BE21938BB}"/>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532327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034A72A-6E2F-4343-B7FF-0EAC6B5BD073}" type="slidenum">
              <a:rPr kumimoji="0" lang="en-IN"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IN"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921144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616C1-7F56-413A-6A3A-878BD15D07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DB7EBA-9CA2-10DB-2146-DAC4924D5943}"/>
              </a:ext>
            </a:extLst>
          </p:cNvPr>
          <p:cNvSpPr>
            <a:spLocks noGrp="1" noRot="1" noChangeAspect="1"/>
          </p:cNvSpPr>
          <p:nvPr>
            <p:ph type="sldImg"/>
          </p:nvPr>
        </p:nvSpPr>
        <p:spPr>
          <a:xfrm>
            <a:off x="2338388" y="1143000"/>
            <a:ext cx="2181225" cy="3086100"/>
          </a:xfrm>
        </p:spPr>
        <p:txBody>
          <a:bodyPr/>
          <a:lstStyle/>
          <a:p>
            <a:endParaRPr lang="en-US"/>
          </a:p>
        </p:txBody>
      </p:sp>
      <p:sp>
        <p:nvSpPr>
          <p:cNvPr id="3" name="Notes Placeholder 2">
            <a:extLst>
              <a:ext uri="{FF2B5EF4-FFF2-40B4-BE49-F238E27FC236}">
                <a16:creationId xmlns:a16="http://schemas.microsoft.com/office/drawing/2014/main" id="{B3877D13-BD51-E463-928D-5D7E02A1F29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EFF1E35-579A-C40A-F3DC-CB4E963B2E77}"/>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017630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582735-F5C0-9D94-8980-3AD175EAC9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42EAF3-859A-62A3-022B-886C16A07F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244E4C-145D-CAFC-9CF7-05D753B353E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B19EAFC-CBF7-1A7A-C8BE-DD745F3F511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278912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963E1-146A-595C-6874-BC841CAE81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742B3E-DC18-0B4F-2E3B-70E397FCE2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367CD0-A4C6-103B-FA86-B1148C74D32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19F050F-0226-2E53-C9EA-02BDB186ED9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814025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5054" y="1312542"/>
            <a:ext cx="4817268" cy="2792166"/>
          </a:xfrm>
        </p:spPr>
        <p:txBody>
          <a:bodyPr anchor="b"/>
          <a:lstStyle>
            <a:lvl1pPr algn="ctr">
              <a:defRPr sz="3719"/>
            </a:lvl1pPr>
          </a:lstStyle>
          <a:p>
            <a:r>
              <a:rPr lang="en-US"/>
              <a:t>Click to edit Master title style</a:t>
            </a:r>
            <a:endParaRPr lang="en-US" dirty="0"/>
          </a:p>
        </p:txBody>
      </p:sp>
      <p:sp>
        <p:nvSpPr>
          <p:cNvPr id="3" name="Subtitle 2"/>
          <p:cNvSpPr>
            <a:spLocks noGrp="1"/>
          </p:cNvSpPr>
          <p:nvPr>
            <p:ph type="subTitle" idx="1"/>
          </p:nvPr>
        </p:nvSpPr>
        <p:spPr>
          <a:xfrm>
            <a:off x="708422" y="4212384"/>
            <a:ext cx="4250532" cy="1936322"/>
          </a:xfrm>
        </p:spPr>
        <p:txBody>
          <a:bodyPr/>
          <a:lstStyle>
            <a:lvl1pPr marL="0" indent="0" algn="ctr">
              <a:buNone/>
              <a:defRPr sz="1488"/>
            </a:lvl1pPr>
            <a:lvl2pPr marL="283383" indent="0" algn="ctr">
              <a:buNone/>
              <a:defRPr sz="1240"/>
            </a:lvl2pPr>
            <a:lvl3pPr marL="566766" indent="0" algn="ctr">
              <a:buNone/>
              <a:defRPr sz="1116"/>
            </a:lvl3pPr>
            <a:lvl4pPr marL="850150" indent="0" algn="ctr">
              <a:buNone/>
              <a:defRPr sz="991"/>
            </a:lvl4pPr>
            <a:lvl5pPr marL="1133532" indent="0" algn="ctr">
              <a:buNone/>
              <a:defRPr sz="991"/>
            </a:lvl5pPr>
            <a:lvl6pPr marL="1416915" indent="0" algn="ctr">
              <a:buNone/>
              <a:defRPr sz="991"/>
            </a:lvl6pPr>
            <a:lvl7pPr marL="1700298" indent="0" algn="ctr">
              <a:buNone/>
              <a:defRPr sz="991"/>
            </a:lvl7pPr>
            <a:lvl8pPr marL="1983682" indent="0" algn="ctr">
              <a:buNone/>
              <a:defRPr sz="991"/>
            </a:lvl8pPr>
            <a:lvl9pPr marL="2267064" indent="0" algn="ctr">
              <a:buNone/>
              <a:defRPr sz="991"/>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30-04-2026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1352488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30-04-2026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4587813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6681" y="1999447"/>
            <a:ext cx="4888111" cy="3336117"/>
          </a:xfrm>
        </p:spPr>
        <p:txBody>
          <a:bodyPr anchor="b"/>
          <a:lstStyle>
            <a:lvl1pPr>
              <a:defRPr sz="3719"/>
            </a:lvl1pPr>
          </a:lstStyle>
          <a:p>
            <a:r>
              <a:rPr lang="en-US"/>
              <a:t>Click to edit Master title style</a:t>
            </a:r>
            <a:endParaRPr lang="en-US" dirty="0"/>
          </a:p>
        </p:txBody>
      </p:sp>
      <p:sp>
        <p:nvSpPr>
          <p:cNvPr id="3" name="Text Placeholder 2"/>
          <p:cNvSpPr>
            <a:spLocks noGrp="1"/>
          </p:cNvSpPr>
          <p:nvPr>
            <p:ph type="body" idx="1"/>
          </p:nvPr>
        </p:nvSpPr>
        <p:spPr>
          <a:xfrm>
            <a:off x="386681" y="5367124"/>
            <a:ext cx="4888111" cy="1754386"/>
          </a:xfrm>
        </p:spPr>
        <p:txBody>
          <a:bodyPr/>
          <a:lstStyle>
            <a:lvl1pPr marL="0" indent="0">
              <a:buNone/>
              <a:defRPr sz="1488">
                <a:solidFill>
                  <a:schemeClr val="tx1">
                    <a:tint val="82000"/>
                  </a:schemeClr>
                </a:solidFill>
              </a:defRPr>
            </a:lvl1pPr>
            <a:lvl2pPr marL="283383" indent="0">
              <a:buNone/>
              <a:defRPr sz="1240">
                <a:solidFill>
                  <a:schemeClr val="tx1">
                    <a:tint val="82000"/>
                  </a:schemeClr>
                </a:solidFill>
              </a:defRPr>
            </a:lvl2pPr>
            <a:lvl3pPr marL="566766" indent="0">
              <a:buNone/>
              <a:defRPr sz="1116">
                <a:solidFill>
                  <a:schemeClr val="tx1">
                    <a:tint val="82000"/>
                  </a:schemeClr>
                </a:solidFill>
              </a:defRPr>
            </a:lvl3pPr>
            <a:lvl4pPr marL="850150" indent="0">
              <a:buNone/>
              <a:defRPr sz="991">
                <a:solidFill>
                  <a:schemeClr val="tx1">
                    <a:tint val="82000"/>
                  </a:schemeClr>
                </a:solidFill>
              </a:defRPr>
            </a:lvl4pPr>
            <a:lvl5pPr marL="1133532" indent="0">
              <a:buNone/>
              <a:defRPr sz="991">
                <a:solidFill>
                  <a:schemeClr val="tx1">
                    <a:tint val="82000"/>
                  </a:schemeClr>
                </a:solidFill>
              </a:defRPr>
            </a:lvl5pPr>
            <a:lvl6pPr marL="1416915" indent="0">
              <a:buNone/>
              <a:defRPr sz="991">
                <a:solidFill>
                  <a:schemeClr val="tx1">
                    <a:tint val="82000"/>
                  </a:schemeClr>
                </a:solidFill>
              </a:defRPr>
            </a:lvl6pPr>
            <a:lvl7pPr marL="1700298" indent="0">
              <a:buNone/>
              <a:defRPr sz="991">
                <a:solidFill>
                  <a:schemeClr val="tx1">
                    <a:tint val="82000"/>
                  </a:schemeClr>
                </a:solidFill>
              </a:defRPr>
            </a:lvl7pPr>
            <a:lvl8pPr marL="1983682" indent="0">
              <a:buNone/>
              <a:defRPr sz="991">
                <a:solidFill>
                  <a:schemeClr val="tx1">
                    <a:tint val="82000"/>
                  </a:schemeClr>
                </a:solidFill>
              </a:defRPr>
            </a:lvl8pPr>
            <a:lvl9pPr marL="2267064" indent="0">
              <a:buNone/>
              <a:defRPr sz="991">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72F6F66-F0E3-45FA-BF06-9237F73415C1}" type="datetimeFigureOut">
              <a:rPr lang="en-IN" smtClean="0"/>
              <a:t>30-04-2026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1517052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89633" y="2134967"/>
            <a:ext cx="2408634" cy="50886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869109" y="2134967"/>
            <a:ext cx="2408634" cy="50886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72F6F66-F0E3-45FA-BF06-9237F73415C1}" type="datetimeFigureOut">
              <a:rPr lang="en-IN" smtClean="0"/>
              <a:t>30-04-2026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1569547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90371" y="426996"/>
            <a:ext cx="4888111" cy="1550172"/>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0370" y="1966027"/>
            <a:ext cx="2397565" cy="963519"/>
          </a:xfrm>
        </p:spPr>
        <p:txBody>
          <a:bodyPr anchor="b"/>
          <a:lstStyle>
            <a:lvl1pPr marL="0" indent="0">
              <a:buNone/>
              <a:defRPr sz="1488" b="1"/>
            </a:lvl1pPr>
            <a:lvl2pPr marL="283383" indent="0">
              <a:buNone/>
              <a:defRPr sz="1240" b="1"/>
            </a:lvl2pPr>
            <a:lvl3pPr marL="566766" indent="0">
              <a:buNone/>
              <a:defRPr sz="1116" b="1"/>
            </a:lvl3pPr>
            <a:lvl4pPr marL="850150" indent="0">
              <a:buNone/>
              <a:defRPr sz="991" b="1"/>
            </a:lvl4pPr>
            <a:lvl5pPr marL="1133532" indent="0">
              <a:buNone/>
              <a:defRPr sz="991" b="1"/>
            </a:lvl5pPr>
            <a:lvl6pPr marL="1416915" indent="0">
              <a:buNone/>
              <a:defRPr sz="991" b="1"/>
            </a:lvl6pPr>
            <a:lvl7pPr marL="1700298" indent="0">
              <a:buNone/>
              <a:defRPr sz="991" b="1"/>
            </a:lvl7pPr>
            <a:lvl8pPr marL="1983682" indent="0">
              <a:buNone/>
              <a:defRPr sz="991" b="1"/>
            </a:lvl8pPr>
            <a:lvl9pPr marL="2267064" indent="0">
              <a:buNone/>
              <a:defRPr sz="991" b="1"/>
            </a:lvl9pPr>
          </a:lstStyle>
          <a:p>
            <a:pPr lvl="0"/>
            <a:r>
              <a:rPr lang="en-US"/>
              <a:t>Click to edit Master text styles</a:t>
            </a:r>
          </a:p>
        </p:txBody>
      </p:sp>
      <p:sp>
        <p:nvSpPr>
          <p:cNvPr id="4" name="Content Placeholder 3"/>
          <p:cNvSpPr>
            <a:spLocks noGrp="1"/>
          </p:cNvSpPr>
          <p:nvPr>
            <p:ph sz="half" idx="2"/>
          </p:nvPr>
        </p:nvSpPr>
        <p:spPr>
          <a:xfrm>
            <a:off x="390370" y="2929547"/>
            <a:ext cx="2397565" cy="43089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869110" y="1966027"/>
            <a:ext cx="2409372" cy="963519"/>
          </a:xfrm>
        </p:spPr>
        <p:txBody>
          <a:bodyPr anchor="b"/>
          <a:lstStyle>
            <a:lvl1pPr marL="0" indent="0">
              <a:buNone/>
              <a:defRPr sz="1488" b="1"/>
            </a:lvl1pPr>
            <a:lvl2pPr marL="283383" indent="0">
              <a:buNone/>
              <a:defRPr sz="1240" b="1"/>
            </a:lvl2pPr>
            <a:lvl3pPr marL="566766" indent="0">
              <a:buNone/>
              <a:defRPr sz="1116" b="1"/>
            </a:lvl3pPr>
            <a:lvl4pPr marL="850150" indent="0">
              <a:buNone/>
              <a:defRPr sz="991" b="1"/>
            </a:lvl4pPr>
            <a:lvl5pPr marL="1133532" indent="0">
              <a:buNone/>
              <a:defRPr sz="991" b="1"/>
            </a:lvl5pPr>
            <a:lvl6pPr marL="1416915" indent="0">
              <a:buNone/>
              <a:defRPr sz="991" b="1"/>
            </a:lvl6pPr>
            <a:lvl7pPr marL="1700298" indent="0">
              <a:buNone/>
              <a:defRPr sz="991" b="1"/>
            </a:lvl7pPr>
            <a:lvl8pPr marL="1983682" indent="0">
              <a:buNone/>
              <a:defRPr sz="991" b="1"/>
            </a:lvl8pPr>
            <a:lvl9pPr marL="2267064" indent="0">
              <a:buNone/>
              <a:defRPr sz="991" b="1"/>
            </a:lvl9pPr>
          </a:lstStyle>
          <a:p>
            <a:pPr lvl="0"/>
            <a:r>
              <a:rPr lang="en-US"/>
              <a:t>Click to edit Master text styles</a:t>
            </a:r>
          </a:p>
        </p:txBody>
      </p:sp>
      <p:sp>
        <p:nvSpPr>
          <p:cNvPr id="6" name="Content Placeholder 5"/>
          <p:cNvSpPr>
            <a:spLocks noGrp="1"/>
          </p:cNvSpPr>
          <p:nvPr>
            <p:ph sz="quarter" idx="4"/>
          </p:nvPr>
        </p:nvSpPr>
        <p:spPr>
          <a:xfrm>
            <a:off x="2869110" y="2929547"/>
            <a:ext cx="2409372" cy="43089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72F6F66-F0E3-45FA-BF06-9237F73415C1}" type="datetimeFigureOut">
              <a:rPr lang="en-IN" smtClean="0"/>
              <a:t>30-04-2026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2225586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72F6F66-F0E3-45FA-BF06-9237F73415C1}" type="datetimeFigureOut">
              <a:rPr lang="en-IN" smtClean="0"/>
              <a:t>30-04-2026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8964994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72F6F66-F0E3-45FA-BF06-9237F73415C1}" type="datetimeFigureOut">
              <a:rPr lang="en-IN" smtClean="0"/>
              <a:t>30-04-2026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8714249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0370" y="534672"/>
            <a:ext cx="1827876" cy="1871344"/>
          </a:xfrm>
        </p:spPr>
        <p:txBody>
          <a:bodyPr anchor="b"/>
          <a:lstStyle>
            <a:lvl1pPr>
              <a:defRPr sz="1984"/>
            </a:lvl1pPr>
          </a:lstStyle>
          <a:p>
            <a:r>
              <a:rPr lang="en-US"/>
              <a:t>Click to edit Master title style</a:t>
            </a:r>
            <a:endParaRPr lang="en-US" dirty="0"/>
          </a:p>
        </p:txBody>
      </p:sp>
      <p:sp>
        <p:nvSpPr>
          <p:cNvPr id="3" name="Content Placeholder 2"/>
          <p:cNvSpPr>
            <a:spLocks noGrp="1"/>
          </p:cNvSpPr>
          <p:nvPr>
            <p:ph idx="1"/>
          </p:nvPr>
        </p:nvSpPr>
        <p:spPr>
          <a:xfrm>
            <a:off x="2409373" y="1154742"/>
            <a:ext cx="2869108" cy="5699434"/>
          </a:xfrm>
        </p:spPr>
        <p:txBody>
          <a:bodyPr/>
          <a:lstStyle>
            <a:lvl1pPr>
              <a:defRPr sz="1984"/>
            </a:lvl1pPr>
            <a:lvl2pPr>
              <a:defRPr sz="1736"/>
            </a:lvl2pPr>
            <a:lvl3pPr>
              <a:defRPr sz="1488"/>
            </a:lvl3pPr>
            <a:lvl4pPr>
              <a:defRPr sz="1240"/>
            </a:lvl4pPr>
            <a:lvl5pPr>
              <a:defRPr sz="1240"/>
            </a:lvl5pPr>
            <a:lvl6pPr>
              <a:defRPr sz="1240"/>
            </a:lvl6pPr>
            <a:lvl7pPr>
              <a:defRPr sz="1240"/>
            </a:lvl7pPr>
            <a:lvl8pPr>
              <a:defRPr sz="1240"/>
            </a:lvl8pPr>
            <a:lvl9pPr>
              <a:defRPr sz="124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90370" y="2406016"/>
            <a:ext cx="1827876" cy="4457441"/>
          </a:xfrm>
        </p:spPr>
        <p:txBody>
          <a:bodyPr/>
          <a:lstStyle>
            <a:lvl1pPr marL="0" indent="0">
              <a:buNone/>
              <a:defRPr sz="991"/>
            </a:lvl1pPr>
            <a:lvl2pPr marL="283383" indent="0">
              <a:buNone/>
              <a:defRPr sz="868"/>
            </a:lvl2pPr>
            <a:lvl3pPr marL="566766" indent="0">
              <a:buNone/>
              <a:defRPr sz="744"/>
            </a:lvl3pPr>
            <a:lvl4pPr marL="850150" indent="0">
              <a:buNone/>
              <a:defRPr sz="620"/>
            </a:lvl4pPr>
            <a:lvl5pPr marL="1133532" indent="0">
              <a:buNone/>
              <a:defRPr sz="620"/>
            </a:lvl5pPr>
            <a:lvl6pPr marL="1416915" indent="0">
              <a:buNone/>
              <a:defRPr sz="620"/>
            </a:lvl6pPr>
            <a:lvl7pPr marL="1700298" indent="0">
              <a:buNone/>
              <a:defRPr sz="620"/>
            </a:lvl7pPr>
            <a:lvl8pPr marL="1983682" indent="0">
              <a:buNone/>
              <a:defRPr sz="620"/>
            </a:lvl8pPr>
            <a:lvl9pPr marL="2267064" indent="0">
              <a:buNone/>
              <a:defRPr sz="620"/>
            </a:lvl9pPr>
          </a:lstStyle>
          <a:p>
            <a:pPr lvl="0"/>
            <a:r>
              <a:rPr lang="en-US"/>
              <a:t>Click to edit Master text styles</a:t>
            </a:r>
          </a:p>
        </p:txBody>
      </p:sp>
      <p:sp>
        <p:nvSpPr>
          <p:cNvPr id="5" name="Date Placeholder 4"/>
          <p:cNvSpPr>
            <a:spLocks noGrp="1"/>
          </p:cNvSpPr>
          <p:nvPr>
            <p:ph type="dt" sz="half" idx="10"/>
          </p:nvPr>
        </p:nvSpPr>
        <p:spPr/>
        <p:txBody>
          <a:bodyPr/>
          <a:lstStyle/>
          <a:p>
            <a:fld id="{B72F6F66-F0E3-45FA-BF06-9237F73415C1}" type="datetimeFigureOut">
              <a:rPr lang="en-IN" smtClean="0"/>
              <a:t>30-04-2026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5144373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0370" y="534672"/>
            <a:ext cx="1827876" cy="1871344"/>
          </a:xfrm>
        </p:spPr>
        <p:txBody>
          <a:bodyPr anchor="b"/>
          <a:lstStyle>
            <a:lvl1pPr>
              <a:defRPr sz="1984"/>
            </a:lvl1pPr>
          </a:lstStyle>
          <a:p>
            <a:r>
              <a:rPr lang="en-US"/>
              <a:t>Click to edit Master title style</a:t>
            </a:r>
            <a:endParaRPr lang="en-US" dirty="0"/>
          </a:p>
        </p:txBody>
      </p:sp>
      <p:sp>
        <p:nvSpPr>
          <p:cNvPr id="3" name="Picture Placeholder 2"/>
          <p:cNvSpPr>
            <a:spLocks noGrp="1" noChangeAspect="1"/>
          </p:cNvSpPr>
          <p:nvPr>
            <p:ph type="pic" idx="1"/>
          </p:nvPr>
        </p:nvSpPr>
        <p:spPr>
          <a:xfrm>
            <a:off x="2409373" y="1154742"/>
            <a:ext cx="2869108" cy="5699434"/>
          </a:xfrm>
        </p:spPr>
        <p:txBody>
          <a:bodyPr anchor="t"/>
          <a:lstStyle>
            <a:lvl1pPr marL="0" indent="0">
              <a:buNone/>
              <a:defRPr sz="1984"/>
            </a:lvl1pPr>
            <a:lvl2pPr marL="283383" indent="0">
              <a:buNone/>
              <a:defRPr sz="1736"/>
            </a:lvl2pPr>
            <a:lvl3pPr marL="566766" indent="0">
              <a:buNone/>
              <a:defRPr sz="1488"/>
            </a:lvl3pPr>
            <a:lvl4pPr marL="850150" indent="0">
              <a:buNone/>
              <a:defRPr sz="1240"/>
            </a:lvl4pPr>
            <a:lvl5pPr marL="1133532" indent="0">
              <a:buNone/>
              <a:defRPr sz="1240"/>
            </a:lvl5pPr>
            <a:lvl6pPr marL="1416915" indent="0">
              <a:buNone/>
              <a:defRPr sz="1240"/>
            </a:lvl6pPr>
            <a:lvl7pPr marL="1700298" indent="0">
              <a:buNone/>
              <a:defRPr sz="1240"/>
            </a:lvl7pPr>
            <a:lvl8pPr marL="1983682" indent="0">
              <a:buNone/>
              <a:defRPr sz="1240"/>
            </a:lvl8pPr>
            <a:lvl9pPr marL="2267064" indent="0">
              <a:buNone/>
              <a:defRPr sz="1240"/>
            </a:lvl9pPr>
          </a:lstStyle>
          <a:p>
            <a:r>
              <a:rPr lang="en-US"/>
              <a:t>Click icon to add picture</a:t>
            </a:r>
            <a:endParaRPr lang="en-US" dirty="0"/>
          </a:p>
        </p:txBody>
      </p:sp>
      <p:sp>
        <p:nvSpPr>
          <p:cNvPr id="4" name="Text Placeholder 3"/>
          <p:cNvSpPr>
            <a:spLocks noGrp="1"/>
          </p:cNvSpPr>
          <p:nvPr>
            <p:ph type="body" sz="half" idx="2"/>
          </p:nvPr>
        </p:nvSpPr>
        <p:spPr>
          <a:xfrm>
            <a:off x="390370" y="2406016"/>
            <a:ext cx="1827876" cy="4457441"/>
          </a:xfrm>
        </p:spPr>
        <p:txBody>
          <a:bodyPr/>
          <a:lstStyle>
            <a:lvl1pPr marL="0" indent="0">
              <a:buNone/>
              <a:defRPr sz="991"/>
            </a:lvl1pPr>
            <a:lvl2pPr marL="283383" indent="0">
              <a:buNone/>
              <a:defRPr sz="868"/>
            </a:lvl2pPr>
            <a:lvl3pPr marL="566766" indent="0">
              <a:buNone/>
              <a:defRPr sz="744"/>
            </a:lvl3pPr>
            <a:lvl4pPr marL="850150" indent="0">
              <a:buNone/>
              <a:defRPr sz="620"/>
            </a:lvl4pPr>
            <a:lvl5pPr marL="1133532" indent="0">
              <a:buNone/>
              <a:defRPr sz="620"/>
            </a:lvl5pPr>
            <a:lvl6pPr marL="1416915" indent="0">
              <a:buNone/>
              <a:defRPr sz="620"/>
            </a:lvl6pPr>
            <a:lvl7pPr marL="1700298" indent="0">
              <a:buNone/>
              <a:defRPr sz="620"/>
            </a:lvl7pPr>
            <a:lvl8pPr marL="1983682" indent="0">
              <a:buNone/>
              <a:defRPr sz="620"/>
            </a:lvl8pPr>
            <a:lvl9pPr marL="2267064" indent="0">
              <a:buNone/>
              <a:defRPr sz="620"/>
            </a:lvl9pPr>
          </a:lstStyle>
          <a:p>
            <a:pPr lvl="0"/>
            <a:r>
              <a:rPr lang="en-US"/>
              <a:t>Click to edit Master text styles</a:t>
            </a:r>
          </a:p>
        </p:txBody>
      </p:sp>
      <p:sp>
        <p:nvSpPr>
          <p:cNvPr id="5" name="Date Placeholder 4"/>
          <p:cNvSpPr>
            <a:spLocks noGrp="1"/>
          </p:cNvSpPr>
          <p:nvPr>
            <p:ph type="dt" sz="half" idx="10"/>
          </p:nvPr>
        </p:nvSpPr>
        <p:spPr/>
        <p:txBody>
          <a:bodyPr/>
          <a:lstStyle/>
          <a:p>
            <a:fld id="{B72F6F66-F0E3-45FA-BF06-9237F73415C1}" type="datetimeFigureOut">
              <a:rPr lang="en-IN" smtClean="0"/>
              <a:t>30-04-2026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4497738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30-04-2026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76222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055715" y="426993"/>
            <a:ext cx="1222028" cy="679662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89633" y="426993"/>
            <a:ext cx="3595241" cy="679662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30-04-2026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0296785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5293" y="1312543"/>
            <a:ext cx="4819977" cy="2792165"/>
          </a:xfrm>
        </p:spPr>
        <p:txBody>
          <a:bodyPr anchor="b"/>
          <a:lstStyle>
            <a:lvl1pPr algn="ctr">
              <a:defRPr sz="3721"/>
            </a:lvl1pPr>
          </a:lstStyle>
          <a:p>
            <a:r>
              <a:rPr lang="en-US"/>
              <a:t>Click to edit Master title style</a:t>
            </a:r>
          </a:p>
        </p:txBody>
      </p:sp>
      <p:sp>
        <p:nvSpPr>
          <p:cNvPr id="3" name="Subtitle 2"/>
          <p:cNvSpPr>
            <a:spLocks noGrp="1"/>
          </p:cNvSpPr>
          <p:nvPr>
            <p:ph type="subTitle" idx="1"/>
          </p:nvPr>
        </p:nvSpPr>
        <p:spPr>
          <a:xfrm>
            <a:off x="708821" y="4212384"/>
            <a:ext cx="4252921" cy="1936322"/>
          </a:xfrm>
        </p:spPr>
        <p:txBody>
          <a:bodyPr/>
          <a:lstStyle>
            <a:lvl1pPr marL="0" indent="0" algn="ctr">
              <a:buNone/>
              <a:defRPr sz="1488"/>
            </a:lvl1pPr>
            <a:lvl2pPr marL="283527" indent="0" algn="ctr">
              <a:buNone/>
              <a:defRPr sz="1240"/>
            </a:lvl2pPr>
            <a:lvl3pPr marL="567052" indent="0" algn="ctr">
              <a:buNone/>
              <a:defRPr sz="1116"/>
            </a:lvl3pPr>
            <a:lvl4pPr marL="850579" indent="0" algn="ctr">
              <a:buNone/>
              <a:defRPr sz="992"/>
            </a:lvl4pPr>
            <a:lvl5pPr marL="1134105" indent="0" algn="ctr">
              <a:buNone/>
              <a:defRPr sz="992"/>
            </a:lvl5pPr>
            <a:lvl6pPr marL="1417632" indent="0" algn="ctr">
              <a:buNone/>
              <a:defRPr sz="992"/>
            </a:lvl6pPr>
            <a:lvl7pPr marL="1701158" indent="0" algn="ctr">
              <a:buNone/>
              <a:defRPr sz="992"/>
            </a:lvl7pPr>
            <a:lvl8pPr marL="1984684" indent="0" algn="ctr">
              <a:buNone/>
              <a:defRPr sz="992"/>
            </a:lvl8pPr>
            <a:lvl9pPr marL="2268211" indent="0" algn="ctr">
              <a:buNone/>
              <a:defRPr sz="992"/>
            </a:lvl9pPr>
          </a:lstStyle>
          <a:p>
            <a:r>
              <a:rPr lang="en-US"/>
              <a:t>Click to edit Master subtitle style</a:t>
            </a:r>
          </a:p>
        </p:txBody>
      </p:sp>
      <p:sp>
        <p:nvSpPr>
          <p:cNvPr id="4" name="Date Placeholder 3"/>
          <p:cNvSpPr>
            <a:spLocks noGrp="1"/>
          </p:cNvSpPr>
          <p:nvPr>
            <p:ph type="dt" sz="half" idx="10"/>
          </p:nvPr>
        </p:nvSpPr>
        <p:spPr/>
        <p:txBody>
          <a:bodyPr/>
          <a:lstStyle/>
          <a:p>
            <a:fld id="{27475733-6F7F-4117-9D24-6C952A0F31DE}"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3F0519-0BF0-4B50-8CCC-476EE0113DE2}" type="slidenum">
              <a:rPr lang="en-US" smtClean="0"/>
              <a:t>‹#›</a:t>
            </a:fld>
            <a:endParaRPr lang="en-US"/>
          </a:p>
        </p:txBody>
      </p:sp>
    </p:spTree>
    <p:extLst>
      <p:ext uri="{BB962C8B-B14F-4D97-AF65-F5344CB8AC3E}">
        <p14:creationId xmlns:p14="http://schemas.microsoft.com/office/powerpoint/2010/main" val="819508304"/>
      </p:ext>
    </p:extLst>
  </p:cSld>
  <p:clrMapOvr>
    <a:masterClrMapping/>
  </p:clrMapOvr>
  <p:extLst>
    <p:ext uri="{DCECCB84-F9BA-43D5-87BE-67443E8EF086}">
      <p15:sldGuideLst xmlns:p15="http://schemas.microsoft.com/office/powerpoint/2012/main">
        <p15:guide id="1" orient="horz" pos="3168">
          <p15:clr>
            <a:srgbClr val="FBAE40"/>
          </p15:clr>
        </p15:guide>
        <p15:guide id="2" pos="2448">
          <p15:clr>
            <a:srgbClr val="FBAE40"/>
          </p15:clr>
        </p15:guide>
      </p15:sldGuideLst>
    </p:ext>
  </p:extLs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9633" y="426996"/>
            <a:ext cx="4888111" cy="1550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389633" y="2134967"/>
            <a:ext cx="4888111" cy="508864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89632" y="7433400"/>
            <a:ext cx="1275159" cy="426993"/>
          </a:xfrm>
          <a:prstGeom prst="rect">
            <a:avLst/>
          </a:prstGeom>
        </p:spPr>
        <p:txBody>
          <a:bodyPr vert="horz" lIns="91440" tIns="45720" rIns="91440" bIns="45720" rtlCol="0" anchor="ctr"/>
          <a:lstStyle>
            <a:lvl1pPr algn="l">
              <a:defRPr sz="744">
                <a:solidFill>
                  <a:schemeClr val="tx1">
                    <a:tint val="82000"/>
                  </a:schemeClr>
                </a:solidFill>
              </a:defRPr>
            </a:lvl1pPr>
          </a:lstStyle>
          <a:p>
            <a:fld id="{B72F6F66-F0E3-45FA-BF06-9237F73415C1}" type="datetimeFigureOut">
              <a:rPr lang="en-IN" smtClean="0"/>
              <a:t>30-04-2026</a:t>
            </a:fld>
            <a:endParaRPr lang="en-IN"/>
          </a:p>
        </p:txBody>
      </p:sp>
      <p:sp>
        <p:nvSpPr>
          <p:cNvPr id="5" name="Footer Placeholder 4"/>
          <p:cNvSpPr>
            <a:spLocks noGrp="1"/>
          </p:cNvSpPr>
          <p:nvPr>
            <p:ph type="ftr" sz="quarter" idx="3"/>
          </p:nvPr>
        </p:nvSpPr>
        <p:spPr>
          <a:xfrm>
            <a:off x="1877319" y="7433400"/>
            <a:ext cx="1912739" cy="426993"/>
          </a:xfrm>
          <a:prstGeom prst="rect">
            <a:avLst/>
          </a:prstGeom>
        </p:spPr>
        <p:txBody>
          <a:bodyPr vert="horz" lIns="91440" tIns="45720" rIns="91440" bIns="45720" rtlCol="0" anchor="ctr"/>
          <a:lstStyle>
            <a:lvl1pPr algn="ctr">
              <a:defRPr sz="744">
                <a:solidFill>
                  <a:schemeClr val="tx1">
                    <a:tint val="82000"/>
                  </a:schemeClr>
                </a:solidFill>
              </a:defRPr>
            </a:lvl1pPr>
          </a:lstStyle>
          <a:p>
            <a:endParaRPr lang="en-IN"/>
          </a:p>
        </p:txBody>
      </p:sp>
      <p:sp>
        <p:nvSpPr>
          <p:cNvPr id="6" name="Slide Number Placeholder 5"/>
          <p:cNvSpPr>
            <a:spLocks noGrp="1"/>
          </p:cNvSpPr>
          <p:nvPr>
            <p:ph type="sldNum" sz="quarter" idx="4"/>
          </p:nvPr>
        </p:nvSpPr>
        <p:spPr>
          <a:xfrm>
            <a:off x="4002585" y="7433400"/>
            <a:ext cx="1275159" cy="426993"/>
          </a:xfrm>
          <a:prstGeom prst="rect">
            <a:avLst/>
          </a:prstGeom>
        </p:spPr>
        <p:txBody>
          <a:bodyPr vert="horz" lIns="91440" tIns="45720" rIns="91440" bIns="45720" rtlCol="0" anchor="ctr"/>
          <a:lstStyle>
            <a:lvl1pPr algn="r">
              <a:defRPr sz="744">
                <a:solidFill>
                  <a:schemeClr val="tx1">
                    <a:tint val="82000"/>
                  </a:schemeClr>
                </a:solidFill>
              </a:defRPr>
            </a:lvl1pPr>
          </a:lstStyle>
          <a:p>
            <a:fld id="{30123456-B948-472E-8498-9A8C99CE3B75}" type="slidenum">
              <a:rPr lang="en-IN" smtClean="0"/>
              <a:t>‹#›</a:t>
            </a:fld>
            <a:endParaRPr lang="en-IN"/>
          </a:p>
        </p:txBody>
      </p:sp>
    </p:spTree>
    <p:extLst>
      <p:ext uri="{BB962C8B-B14F-4D97-AF65-F5344CB8AC3E}">
        <p14:creationId xmlns:p14="http://schemas.microsoft.com/office/powerpoint/2010/main" val="2478214246"/>
      </p:ext>
    </p:extLst>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 id="2147483659" r:id="rId5"/>
    <p:sldLayoutId id="2147483660" r:id="rId6"/>
    <p:sldLayoutId id="2147483661" r:id="rId7"/>
    <p:sldLayoutId id="2147483662" r:id="rId8"/>
    <p:sldLayoutId id="2147483663" r:id="rId9"/>
    <p:sldLayoutId id="2147483664" r:id="rId10"/>
    <p:sldLayoutId id="2147483665" r:id="rId11"/>
  </p:sldLayoutIdLst>
  <p:txStyles>
    <p:titleStyle>
      <a:lvl1pPr algn="l" defTabSz="697216" rtl="0" eaLnBrk="1" latinLnBrk="0" hangingPunct="1">
        <a:lnSpc>
          <a:spcPct val="90000"/>
        </a:lnSpc>
        <a:spcBef>
          <a:spcPct val="0"/>
        </a:spcBef>
        <a:buNone/>
        <a:defRPr sz="3355" kern="1200">
          <a:solidFill>
            <a:schemeClr val="tx1"/>
          </a:solidFill>
          <a:latin typeface="+mj-lt"/>
          <a:ea typeface="+mj-ea"/>
          <a:cs typeface="+mj-cs"/>
        </a:defRPr>
      </a:lvl1pPr>
    </p:titleStyle>
    <p:bodyStyle>
      <a:lvl1pPr marL="174304" indent="-174304" algn="l" defTabSz="697216" rtl="0" eaLnBrk="1" latinLnBrk="0" hangingPunct="1">
        <a:lnSpc>
          <a:spcPct val="90000"/>
        </a:lnSpc>
        <a:spcBef>
          <a:spcPts val="763"/>
        </a:spcBef>
        <a:buFont typeface="Arial" panose="020B0604020202020204" pitchFamily="34" charset="0"/>
        <a:buChar char="•"/>
        <a:defRPr sz="2135" kern="1200">
          <a:solidFill>
            <a:schemeClr val="tx1"/>
          </a:solidFill>
          <a:latin typeface="+mn-lt"/>
          <a:ea typeface="+mn-ea"/>
          <a:cs typeface="+mn-cs"/>
        </a:defRPr>
      </a:lvl1pPr>
      <a:lvl2pPr marL="522911" indent="-174304" algn="l" defTabSz="697216" rtl="0" eaLnBrk="1" latinLnBrk="0" hangingPunct="1">
        <a:lnSpc>
          <a:spcPct val="90000"/>
        </a:lnSpc>
        <a:spcBef>
          <a:spcPts val="381"/>
        </a:spcBef>
        <a:buFont typeface="Arial" panose="020B0604020202020204" pitchFamily="34" charset="0"/>
        <a:buChar char="•"/>
        <a:defRPr sz="1830" kern="1200">
          <a:solidFill>
            <a:schemeClr val="tx1"/>
          </a:solidFill>
          <a:latin typeface="+mn-lt"/>
          <a:ea typeface="+mn-ea"/>
          <a:cs typeface="+mn-cs"/>
        </a:defRPr>
      </a:lvl2pPr>
      <a:lvl3pPr marL="871519" indent="-174304" algn="l" defTabSz="697216" rtl="0" eaLnBrk="1" latinLnBrk="0" hangingPunct="1">
        <a:lnSpc>
          <a:spcPct val="90000"/>
        </a:lnSpc>
        <a:spcBef>
          <a:spcPts val="381"/>
        </a:spcBef>
        <a:buFont typeface="Arial" panose="020B0604020202020204" pitchFamily="34" charset="0"/>
        <a:buChar char="•"/>
        <a:defRPr sz="1525" kern="1200">
          <a:solidFill>
            <a:schemeClr val="tx1"/>
          </a:solidFill>
          <a:latin typeface="+mn-lt"/>
          <a:ea typeface="+mn-ea"/>
          <a:cs typeface="+mn-cs"/>
        </a:defRPr>
      </a:lvl3pPr>
      <a:lvl4pPr marL="1220126" indent="-174304" algn="l" defTabSz="697216" rtl="0" eaLnBrk="1" latinLnBrk="0" hangingPunct="1">
        <a:lnSpc>
          <a:spcPct val="90000"/>
        </a:lnSpc>
        <a:spcBef>
          <a:spcPts val="381"/>
        </a:spcBef>
        <a:buFont typeface="Arial" panose="020B0604020202020204" pitchFamily="34" charset="0"/>
        <a:buChar char="•"/>
        <a:defRPr sz="1373" kern="1200">
          <a:solidFill>
            <a:schemeClr val="tx1"/>
          </a:solidFill>
          <a:latin typeface="+mn-lt"/>
          <a:ea typeface="+mn-ea"/>
          <a:cs typeface="+mn-cs"/>
        </a:defRPr>
      </a:lvl4pPr>
      <a:lvl5pPr marL="1568734" indent="-174304" algn="l" defTabSz="697216" rtl="0" eaLnBrk="1" latinLnBrk="0" hangingPunct="1">
        <a:lnSpc>
          <a:spcPct val="90000"/>
        </a:lnSpc>
        <a:spcBef>
          <a:spcPts val="381"/>
        </a:spcBef>
        <a:buFont typeface="Arial" panose="020B0604020202020204" pitchFamily="34" charset="0"/>
        <a:buChar char="•"/>
        <a:defRPr sz="1373" kern="1200">
          <a:solidFill>
            <a:schemeClr val="tx1"/>
          </a:solidFill>
          <a:latin typeface="+mn-lt"/>
          <a:ea typeface="+mn-ea"/>
          <a:cs typeface="+mn-cs"/>
        </a:defRPr>
      </a:lvl5pPr>
      <a:lvl6pPr marL="1917342" indent="-174304" algn="l" defTabSz="697216" rtl="0" eaLnBrk="1" latinLnBrk="0" hangingPunct="1">
        <a:lnSpc>
          <a:spcPct val="90000"/>
        </a:lnSpc>
        <a:spcBef>
          <a:spcPts val="381"/>
        </a:spcBef>
        <a:buFont typeface="Arial" panose="020B0604020202020204" pitchFamily="34" charset="0"/>
        <a:buChar char="•"/>
        <a:defRPr sz="1373" kern="1200">
          <a:solidFill>
            <a:schemeClr val="tx1"/>
          </a:solidFill>
          <a:latin typeface="+mn-lt"/>
          <a:ea typeface="+mn-ea"/>
          <a:cs typeface="+mn-cs"/>
        </a:defRPr>
      </a:lvl6pPr>
      <a:lvl7pPr marL="2265949" indent="-174304" algn="l" defTabSz="697216" rtl="0" eaLnBrk="1" latinLnBrk="0" hangingPunct="1">
        <a:lnSpc>
          <a:spcPct val="90000"/>
        </a:lnSpc>
        <a:spcBef>
          <a:spcPts val="381"/>
        </a:spcBef>
        <a:buFont typeface="Arial" panose="020B0604020202020204" pitchFamily="34" charset="0"/>
        <a:buChar char="•"/>
        <a:defRPr sz="1373" kern="1200">
          <a:solidFill>
            <a:schemeClr val="tx1"/>
          </a:solidFill>
          <a:latin typeface="+mn-lt"/>
          <a:ea typeface="+mn-ea"/>
          <a:cs typeface="+mn-cs"/>
        </a:defRPr>
      </a:lvl7pPr>
      <a:lvl8pPr marL="2614556" indent="-174304" algn="l" defTabSz="697216" rtl="0" eaLnBrk="1" latinLnBrk="0" hangingPunct="1">
        <a:lnSpc>
          <a:spcPct val="90000"/>
        </a:lnSpc>
        <a:spcBef>
          <a:spcPts val="381"/>
        </a:spcBef>
        <a:buFont typeface="Arial" panose="020B0604020202020204" pitchFamily="34" charset="0"/>
        <a:buChar char="•"/>
        <a:defRPr sz="1373" kern="1200">
          <a:solidFill>
            <a:schemeClr val="tx1"/>
          </a:solidFill>
          <a:latin typeface="+mn-lt"/>
          <a:ea typeface="+mn-ea"/>
          <a:cs typeface="+mn-cs"/>
        </a:defRPr>
      </a:lvl8pPr>
      <a:lvl9pPr marL="2963164" indent="-174304" algn="l" defTabSz="697216" rtl="0" eaLnBrk="1" latinLnBrk="0" hangingPunct="1">
        <a:lnSpc>
          <a:spcPct val="90000"/>
        </a:lnSpc>
        <a:spcBef>
          <a:spcPts val="381"/>
        </a:spcBef>
        <a:buFont typeface="Arial" panose="020B0604020202020204" pitchFamily="34" charset="0"/>
        <a:buChar char="•"/>
        <a:defRPr sz="1373" kern="1200">
          <a:solidFill>
            <a:schemeClr val="tx1"/>
          </a:solidFill>
          <a:latin typeface="+mn-lt"/>
          <a:ea typeface="+mn-ea"/>
          <a:cs typeface="+mn-cs"/>
        </a:defRPr>
      </a:lvl9pPr>
    </p:bodyStyle>
    <p:otherStyle>
      <a:defPPr>
        <a:defRPr lang="en-US"/>
      </a:defPPr>
      <a:lvl1pPr marL="0" algn="l" defTabSz="697216" rtl="0" eaLnBrk="1" latinLnBrk="0" hangingPunct="1">
        <a:defRPr sz="1373" kern="1200">
          <a:solidFill>
            <a:schemeClr val="tx1"/>
          </a:solidFill>
          <a:latin typeface="+mn-lt"/>
          <a:ea typeface="+mn-ea"/>
          <a:cs typeface="+mn-cs"/>
        </a:defRPr>
      </a:lvl1pPr>
      <a:lvl2pPr marL="348607" algn="l" defTabSz="697216" rtl="0" eaLnBrk="1" latinLnBrk="0" hangingPunct="1">
        <a:defRPr sz="1373" kern="1200">
          <a:solidFill>
            <a:schemeClr val="tx1"/>
          </a:solidFill>
          <a:latin typeface="+mn-lt"/>
          <a:ea typeface="+mn-ea"/>
          <a:cs typeface="+mn-cs"/>
        </a:defRPr>
      </a:lvl2pPr>
      <a:lvl3pPr marL="697216" algn="l" defTabSz="697216" rtl="0" eaLnBrk="1" latinLnBrk="0" hangingPunct="1">
        <a:defRPr sz="1373" kern="1200">
          <a:solidFill>
            <a:schemeClr val="tx1"/>
          </a:solidFill>
          <a:latin typeface="+mn-lt"/>
          <a:ea typeface="+mn-ea"/>
          <a:cs typeface="+mn-cs"/>
        </a:defRPr>
      </a:lvl3pPr>
      <a:lvl4pPr marL="1045823" algn="l" defTabSz="697216" rtl="0" eaLnBrk="1" latinLnBrk="0" hangingPunct="1">
        <a:defRPr sz="1373" kern="1200">
          <a:solidFill>
            <a:schemeClr val="tx1"/>
          </a:solidFill>
          <a:latin typeface="+mn-lt"/>
          <a:ea typeface="+mn-ea"/>
          <a:cs typeface="+mn-cs"/>
        </a:defRPr>
      </a:lvl4pPr>
      <a:lvl5pPr marL="1394430" algn="l" defTabSz="697216" rtl="0" eaLnBrk="1" latinLnBrk="0" hangingPunct="1">
        <a:defRPr sz="1373" kern="1200">
          <a:solidFill>
            <a:schemeClr val="tx1"/>
          </a:solidFill>
          <a:latin typeface="+mn-lt"/>
          <a:ea typeface="+mn-ea"/>
          <a:cs typeface="+mn-cs"/>
        </a:defRPr>
      </a:lvl5pPr>
      <a:lvl6pPr marL="1743037" algn="l" defTabSz="697216" rtl="0" eaLnBrk="1" latinLnBrk="0" hangingPunct="1">
        <a:defRPr sz="1373" kern="1200">
          <a:solidFill>
            <a:schemeClr val="tx1"/>
          </a:solidFill>
          <a:latin typeface="+mn-lt"/>
          <a:ea typeface="+mn-ea"/>
          <a:cs typeface="+mn-cs"/>
        </a:defRPr>
      </a:lvl6pPr>
      <a:lvl7pPr marL="2091645" algn="l" defTabSz="697216" rtl="0" eaLnBrk="1" latinLnBrk="0" hangingPunct="1">
        <a:defRPr sz="1373" kern="1200">
          <a:solidFill>
            <a:schemeClr val="tx1"/>
          </a:solidFill>
          <a:latin typeface="+mn-lt"/>
          <a:ea typeface="+mn-ea"/>
          <a:cs typeface="+mn-cs"/>
        </a:defRPr>
      </a:lvl7pPr>
      <a:lvl8pPr marL="2440253" algn="l" defTabSz="697216" rtl="0" eaLnBrk="1" latinLnBrk="0" hangingPunct="1">
        <a:defRPr sz="1373" kern="1200">
          <a:solidFill>
            <a:schemeClr val="tx1"/>
          </a:solidFill>
          <a:latin typeface="+mn-lt"/>
          <a:ea typeface="+mn-ea"/>
          <a:cs typeface="+mn-cs"/>
        </a:defRPr>
      </a:lvl8pPr>
      <a:lvl9pPr marL="2788860" algn="l" defTabSz="697216" rtl="0" eaLnBrk="1" latinLnBrk="0" hangingPunct="1">
        <a:defRPr sz="1373"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9852" y="426996"/>
            <a:ext cx="4890859" cy="1550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89852" y="2134968"/>
            <a:ext cx="4890859" cy="508864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89851" y="7433401"/>
            <a:ext cx="1275877" cy="426993"/>
          </a:xfrm>
          <a:prstGeom prst="rect">
            <a:avLst/>
          </a:prstGeom>
        </p:spPr>
        <p:txBody>
          <a:bodyPr vert="horz" lIns="91440" tIns="45720" rIns="91440" bIns="45720" rtlCol="0" anchor="ctr"/>
          <a:lstStyle>
            <a:lvl1pPr algn="l">
              <a:defRPr sz="745">
                <a:solidFill>
                  <a:schemeClr val="tx1">
                    <a:tint val="82000"/>
                  </a:schemeClr>
                </a:solidFill>
              </a:defRPr>
            </a:lvl1pPr>
          </a:lstStyle>
          <a:p>
            <a:fld id="{27475733-6F7F-4117-9D24-6C952A0F31DE}" type="datetimeFigureOut">
              <a:rPr lang="en-US" smtClean="0"/>
              <a:t>4/30/2026</a:t>
            </a:fld>
            <a:endParaRPr lang="en-US"/>
          </a:p>
        </p:txBody>
      </p:sp>
      <p:sp>
        <p:nvSpPr>
          <p:cNvPr id="5" name="Footer Placeholder 4"/>
          <p:cNvSpPr>
            <a:spLocks noGrp="1"/>
          </p:cNvSpPr>
          <p:nvPr>
            <p:ph type="ftr" sz="quarter" idx="3"/>
          </p:nvPr>
        </p:nvSpPr>
        <p:spPr>
          <a:xfrm>
            <a:off x="1878374" y="7433401"/>
            <a:ext cx="1913814" cy="426993"/>
          </a:xfrm>
          <a:prstGeom prst="rect">
            <a:avLst/>
          </a:prstGeom>
        </p:spPr>
        <p:txBody>
          <a:bodyPr vert="horz" lIns="91440" tIns="45720" rIns="91440" bIns="45720" rtlCol="0" anchor="ctr"/>
          <a:lstStyle>
            <a:lvl1pPr algn="ctr">
              <a:defRPr sz="745">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004833" y="7433401"/>
            <a:ext cx="1275877" cy="426993"/>
          </a:xfrm>
          <a:prstGeom prst="rect">
            <a:avLst/>
          </a:prstGeom>
        </p:spPr>
        <p:txBody>
          <a:bodyPr vert="horz" lIns="91440" tIns="45720" rIns="91440" bIns="45720" rtlCol="0" anchor="ctr"/>
          <a:lstStyle>
            <a:lvl1pPr algn="r">
              <a:defRPr sz="745">
                <a:solidFill>
                  <a:schemeClr val="tx1">
                    <a:tint val="82000"/>
                  </a:schemeClr>
                </a:solidFill>
              </a:defRPr>
            </a:lvl1pPr>
          </a:lstStyle>
          <a:p>
            <a:fld id="{543F0519-0BF0-4B50-8CCC-476EE0113DE2}" type="slidenum">
              <a:rPr lang="en-US" smtClean="0"/>
              <a:t>‹#›</a:t>
            </a:fld>
            <a:endParaRPr lang="en-US"/>
          </a:p>
        </p:txBody>
      </p:sp>
    </p:spTree>
    <p:extLst>
      <p:ext uri="{BB962C8B-B14F-4D97-AF65-F5344CB8AC3E}">
        <p14:creationId xmlns:p14="http://schemas.microsoft.com/office/powerpoint/2010/main" val="1558953309"/>
      </p:ext>
    </p:extLst>
  </p:cSld>
  <p:clrMap bg1="lt1" tx1="dk1" bg2="lt2" tx2="dk2" accent1="accent1" accent2="accent2" accent3="accent3" accent4="accent4" accent5="accent5" accent6="accent6" hlink="hlink" folHlink="folHlink"/>
  <p:sldLayoutIdLst>
    <p:sldLayoutId id="2147483667" r:id="rId1"/>
  </p:sldLayoutIdLst>
  <p:txStyles>
    <p:titleStyle>
      <a:lvl1pPr algn="l" defTabSz="567052" rtl="0" eaLnBrk="1" latinLnBrk="0" hangingPunct="1">
        <a:lnSpc>
          <a:spcPct val="90000"/>
        </a:lnSpc>
        <a:spcBef>
          <a:spcPct val="0"/>
        </a:spcBef>
        <a:buNone/>
        <a:defRPr sz="2728" kern="1200">
          <a:solidFill>
            <a:schemeClr val="tx1"/>
          </a:solidFill>
          <a:latin typeface="+mj-lt"/>
          <a:ea typeface="+mj-ea"/>
          <a:cs typeface="+mj-cs"/>
        </a:defRPr>
      </a:lvl1pPr>
    </p:titleStyle>
    <p:bodyStyle>
      <a:lvl1pPr marL="141763" indent="-141763" algn="l" defTabSz="567052" rtl="0" eaLnBrk="1" latinLnBrk="0" hangingPunct="1">
        <a:lnSpc>
          <a:spcPct val="90000"/>
        </a:lnSpc>
        <a:spcBef>
          <a:spcPts val="620"/>
        </a:spcBef>
        <a:buFont typeface="Arial" panose="020B0604020202020204" pitchFamily="34" charset="0"/>
        <a:buChar char="•"/>
        <a:defRPr sz="1736" kern="1200">
          <a:solidFill>
            <a:schemeClr val="tx1"/>
          </a:solidFill>
          <a:latin typeface="+mn-lt"/>
          <a:ea typeface="+mn-ea"/>
          <a:cs typeface="+mn-cs"/>
        </a:defRPr>
      </a:lvl1pPr>
      <a:lvl2pPr marL="425289" indent="-141763" algn="l" defTabSz="567052" rtl="0" eaLnBrk="1" latinLnBrk="0" hangingPunct="1">
        <a:lnSpc>
          <a:spcPct val="90000"/>
        </a:lnSpc>
        <a:spcBef>
          <a:spcPts val="310"/>
        </a:spcBef>
        <a:buFont typeface="Arial" panose="020B0604020202020204" pitchFamily="34" charset="0"/>
        <a:buChar char="•"/>
        <a:defRPr sz="1488" kern="1200">
          <a:solidFill>
            <a:schemeClr val="tx1"/>
          </a:solidFill>
          <a:latin typeface="+mn-lt"/>
          <a:ea typeface="+mn-ea"/>
          <a:cs typeface="+mn-cs"/>
        </a:defRPr>
      </a:lvl2pPr>
      <a:lvl3pPr marL="708816" indent="-141763" algn="l" defTabSz="567052" rtl="0" eaLnBrk="1" latinLnBrk="0" hangingPunct="1">
        <a:lnSpc>
          <a:spcPct val="90000"/>
        </a:lnSpc>
        <a:spcBef>
          <a:spcPts val="310"/>
        </a:spcBef>
        <a:buFont typeface="Arial" panose="020B0604020202020204" pitchFamily="34" charset="0"/>
        <a:buChar char="•"/>
        <a:defRPr sz="1240" kern="1200">
          <a:solidFill>
            <a:schemeClr val="tx1"/>
          </a:solidFill>
          <a:latin typeface="+mn-lt"/>
          <a:ea typeface="+mn-ea"/>
          <a:cs typeface="+mn-cs"/>
        </a:defRPr>
      </a:lvl3pPr>
      <a:lvl4pPr marL="992343"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4pPr>
      <a:lvl5pPr marL="1275868"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5pPr>
      <a:lvl6pPr marL="1559395"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6pPr>
      <a:lvl7pPr marL="1842921"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7pPr>
      <a:lvl8pPr marL="2126447"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8pPr>
      <a:lvl9pPr marL="2409974"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9pPr>
    </p:bodyStyle>
    <p:otherStyle>
      <a:defPPr>
        <a:defRPr lang="en-US"/>
      </a:defPPr>
      <a:lvl1pPr marL="0" algn="l" defTabSz="567052" rtl="0" eaLnBrk="1" latinLnBrk="0" hangingPunct="1">
        <a:defRPr sz="1116" kern="1200">
          <a:solidFill>
            <a:schemeClr val="tx1"/>
          </a:solidFill>
          <a:latin typeface="+mn-lt"/>
          <a:ea typeface="+mn-ea"/>
          <a:cs typeface="+mn-cs"/>
        </a:defRPr>
      </a:lvl1pPr>
      <a:lvl2pPr marL="283527" algn="l" defTabSz="567052" rtl="0" eaLnBrk="1" latinLnBrk="0" hangingPunct="1">
        <a:defRPr sz="1116" kern="1200">
          <a:solidFill>
            <a:schemeClr val="tx1"/>
          </a:solidFill>
          <a:latin typeface="+mn-lt"/>
          <a:ea typeface="+mn-ea"/>
          <a:cs typeface="+mn-cs"/>
        </a:defRPr>
      </a:lvl2pPr>
      <a:lvl3pPr marL="567052" algn="l" defTabSz="567052" rtl="0" eaLnBrk="1" latinLnBrk="0" hangingPunct="1">
        <a:defRPr sz="1116" kern="1200">
          <a:solidFill>
            <a:schemeClr val="tx1"/>
          </a:solidFill>
          <a:latin typeface="+mn-lt"/>
          <a:ea typeface="+mn-ea"/>
          <a:cs typeface="+mn-cs"/>
        </a:defRPr>
      </a:lvl3pPr>
      <a:lvl4pPr marL="850579" algn="l" defTabSz="567052" rtl="0" eaLnBrk="1" latinLnBrk="0" hangingPunct="1">
        <a:defRPr sz="1116" kern="1200">
          <a:solidFill>
            <a:schemeClr val="tx1"/>
          </a:solidFill>
          <a:latin typeface="+mn-lt"/>
          <a:ea typeface="+mn-ea"/>
          <a:cs typeface="+mn-cs"/>
        </a:defRPr>
      </a:lvl4pPr>
      <a:lvl5pPr marL="1134105" algn="l" defTabSz="567052" rtl="0" eaLnBrk="1" latinLnBrk="0" hangingPunct="1">
        <a:defRPr sz="1116" kern="1200">
          <a:solidFill>
            <a:schemeClr val="tx1"/>
          </a:solidFill>
          <a:latin typeface="+mn-lt"/>
          <a:ea typeface="+mn-ea"/>
          <a:cs typeface="+mn-cs"/>
        </a:defRPr>
      </a:lvl5pPr>
      <a:lvl6pPr marL="1417632" algn="l" defTabSz="567052" rtl="0" eaLnBrk="1" latinLnBrk="0" hangingPunct="1">
        <a:defRPr sz="1116" kern="1200">
          <a:solidFill>
            <a:schemeClr val="tx1"/>
          </a:solidFill>
          <a:latin typeface="+mn-lt"/>
          <a:ea typeface="+mn-ea"/>
          <a:cs typeface="+mn-cs"/>
        </a:defRPr>
      </a:lvl6pPr>
      <a:lvl7pPr marL="1701158" algn="l" defTabSz="567052" rtl="0" eaLnBrk="1" latinLnBrk="0" hangingPunct="1">
        <a:defRPr sz="1116" kern="1200">
          <a:solidFill>
            <a:schemeClr val="tx1"/>
          </a:solidFill>
          <a:latin typeface="+mn-lt"/>
          <a:ea typeface="+mn-ea"/>
          <a:cs typeface="+mn-cs"/>
        </a:defRPr>
      </a:lvl7pPr>
      <a:lvl8pPr marL="1984684" algn="l" defTabSz="567052" rtl="0" eaLnBrk="1" latinLnBrk="0" hangingPunct="1">
        <a:defRPr sz="1116" kern="1200">
          <a:solidFill>
            <a:schemeClr val="tx1"/>
          </a:solidFill>
          <a:latin typeface="+mn-lt"/>
          <a:ea typeface="+mn-ea"/>
          <a:cs typeface="+mn-cs"/>
        </a:defRPr>
      </a:lvl8pPr>
      <a:lvl9pPr marL="2268211" algn="l" defTabSz="567052" rtl="0" eaLnBrk="1" latinLnBrk="0" hangingPunct="1">
        <a:defRPr sz="1116"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785">
          <p15:clr>
            <a:srgbClr val="F26B43"/>
          </p15:clr>
        </p15:guide>
        <p15:guide id="2" pos="238">
          <p15:clr>
            <a:srgbClr val="F26B43"/>
          </p15:clr>
        </p15:guide>
        <p15:guide id="3" pos="3322">
          <p15:clr>
            <a:srgbClr val="F26B43"/>
          </p15:clr>
        </p15:guide>
        <p15:guide id="4" orient="horz" pos="249">
          <p15:clr>
            <a:srgbClr val="F26B43"/>
          </p15:clr>
        </p15:guide>
        <p15:guide id="5" orient="horz" pos="6094">
          <p15:clr>
            <a:srgbClr val="F26B43"/>
          </p15:clr>
        </p15:guide>
        <p15:guide id="6" pos="2448">
          <p15:clr>
            <a:srgbClr val="F26B43"/>
          </p15:clr>
        </p15:guide>
        <p15:guide id="7" orient="horz" pos="1059">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svg"/><Relationship Id="rId15" Type="http://schemas.openxmlformats.org/officeDocument/2006/relationships/image" Target="../media/image1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_rels/slide2.xml.rels><?xml version="1.0" encoding="UTF-8" standalone="yes"?>
<Relationships xmlns="http://schemas.openxmlformats.org/package/2006/relationships"><Relationship Id="rId3" Type="http://schemas.openxmlformats.org/officeDocument/2006/relationships/hyperlink" Target="https://support.microsoft.com/en-us/topic/standard-versus-priority-access-to-features-in-microsoft-365-copilot-chat-12c8d9f8-db32-4f99-8ebe-d8d85879137f" TargetMode="External"/><Relationship Id="rId2" Type="http://schemas.openxmlformats.org/officeDocument/2006/relationships/notesSlide" Target="../notesSlides/notesSlide2.xml"/><Relationship Id="rId1" Type="http://schemas.openxmlformats.org/officeDocument/2006/relationships/slideLayout" Target="../slideLayouts/slideLayout13.xml"/><Relationship Id="rId4" Type="http://schemas.openxmlformats.org/officeDocument/2006/relationships/hyperlink" Target="https://adoption.microsoft.com/en-us/copilot/frontier-program/" TargetMode="External"/></Relationships>
</file>

<file path=ppt/slides/_rels/slide3.xml.rels><?xml version="1.0" encoding="UTF-8" standalone="yes"?>
<Relationships xmlns="http://schemas.openxmlformats.org/package/2006/relationships"><Relationship Id="rId8" Type="http://schemas.openxmlformats.org/officeDocument/2006/relationships/image" Target="../media/image16.jpeg"/><Relationship Id="rId3" Type="http://schemas.openxmlformats.org/officeDocument/2006/relationships/image" Target="../media/image1.png"/><Relationship Id="rId7" Type="http://schemas.openxmlformats.org/officeDocument/2006/relationships/image" Target="../media/image15.jpe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4.jpeg"/><Relationship Id="rId5" Type="http://schemas.openxmlformats.org/officeDocument/2006/relationships/image" Target="../media/image3.svg"/><Relationship Id="rId10" Type="http://schemas.openxmlformats.org/officeDocument/2006/relationships/image" Target="../media/image18.jpeg"/><Relationship Id="rId4" Type="http://schemas.openxmlformats.org/officeDocument/2006/relationships/image" Target="../media/image2.png"/><Relationship Id="rId9" Type="http://schemas.openxmlformats.org/officeDocument/2006/relationships/image" Target="../media/image17.jpe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44ADED-D442-E30A-9AB5-E17A4C4596C3}"/>
            </a:ext>
          </a:extLst>
        </p:cNvPr>
        <p:cNvGrpSpPr/>
        <p:nvPr/>
      </p:nvGrpSpPr>
      <p:grpSpPr>
        <a:xfrm>
          <a:off x="0" y="0"/>
          <a:ext cx="0" cy="0"/>
          <a:chOff x="0" y="0"/>
          <a:chExt cx="0" cy="0"/>
        </a:xfrm>
      </p:grpSpPr>
      <p:pic>
        <p:nvPicPr>
          <p:cNvPr id="16" name="Rectangle 3468742" descr="preencoded.png">
            <a:extLst>
              <a:ext uri="{FF2B5EF4-FFF2-40B4-BE49-F238E27FC236}">
                <a16:creationId xmlns:a16="http://schemas.microsoft.com/office/drawing/2014/main" id="{A537F37F-A3F1-D865-5110-03589F8C943E}"/>
              </a:ext>
            </a:extLst>
          </p:cNvPr>
          <p:cNvPicPr>
            <a:picLocks noChangeAspect="1"/>
          </p:cNvPicPr>
          <p:nvPr/>
        </p:nvPicPr>
        <p:blipFill>
          <a:blip r:embed="rId3"/>
          <a:srcRect t="1" b="17144"/>
          <a:stretch>
            <a:fillRect/>
          </a:stretch>
        </p:blipFill>
        <p:spPr>
          <a:xfrm>
            <a:off x="0" y="4"/>
            <a:ext cx="5667374" cy="7334250"/>
          </a:xfrm>
          <a:prstGeom prst="rect">
            <a:avLst/>
          </a:prstGeom>
        </p:spPr>
      </p:pic>
      <p:pic>
        <p:nvPicPr>
          <p:cNvPr id="1106" name="Picture 1105">
            <a:extLst>
              <a:ext uri="{FF2B5EF4-FFF2-40B4-BE49-F238E27FC236}">
                <a16:creationId xmlns:a16="http://schemas.microsoft.com/office/drawing/2014/main" id="{C3DDBFE9-EF63-81ED-A2DA-EA2DABA2F3C2}"/>
              </a:ext>
            </a:extLst>
          </p:cNvPr>
          <p:cNvPicPr>
            <a:picLocks noChangeAspect="1"/>
          </p:cNvPicPr>
          <p:nvPr/>
        </p:nvPicPr>
        <p:blipFill>
          <a:blip r:embed="rId4"/>
          <a:srcRect l="8102" t="56128" r="60860" b="-102"/>
          <a:stretch>
            <a:fillRect/>
          </a:stretch>
        </p:blipFill>
        <p:spPr>
          <a:xfrm flipH="1" flipV="1">
            <a:off x="-4298" y="4338404"/>
            <a:ext cx="5675970" cy="3680460"/>
          </a:xfrm>
          <a:prstGeom prst="rect">
            <a:avLst/>
          </a:prstGeom>
        </p:spPr>
      </p:pic>
      <p:sp>
        <p:nvSpPr>
          <p:cNvPr id="18" name="Rectangle: Rounded Corners 17">
            <a:extLst>
              <a:ext uri="{FF2B5EF4-FFF2-40B4-BE49-F238E27FC236}">
                <a16:creationId xmlns:a16="http://schemas.microsoft.com/office/drawing/2014/main" id="{030A6BD6-54B6-3EAA-E248-9696B13E6F85}"/>
              </a:ext>
            </a:extLst>
          </p:cNvPr>
          <p:cNvSpPr/>
          <p:nvPr/>
        </p:nvSpPr>
        <p:spPr bwMode="auto">
          <a:xfrm>
            <a:off x="2900149" y="5802165"/>
            <a:ext cx="2520000" cy="1907999"/>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0" name="Rectangle: Rounded Corners 19">
            <a:extLst>
              <a:ext uri="{FF2B5EF4-FFF2-40B4-BE49-F238E27FC236}">
                <a16:creationId xmlns:a16="http://schemas.microsoft.com/office/drawing/2014/main" id="{3FEA25A1-F9D5-2B66-7443-C053BCF52F3A}"/>
              </a:ext>
            </a:extLst>
          </p:cNvPr>
          <p:cNvSpPr/>
          <p:nvPr/>
        </p:nvSpPr>
        <p:spPr bwMode="auto">
          <a:xfrm>
            <a:off x="263542" y="5802165"/>
            <a:ext cx="2520000" cy="1907999"/>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3" name="Rectangle: Rounded Corners 12">
            <a:extLst>
              <a:ext uri="{FF2B5EF4-FFF2-40B4-BE49-F238E27FC236}">
                <a16:creationId xmlns:a16="http://schemas.microsoft.com/office/drawing/2014/main" id="{C84F39E5-C9BA-7B18-B2B0-559D4E7E46F1}"/>
              </a:ext>
            </a:extLst>
          </p:cNvPr>
          <p:cNvSpPr/>
          <p:nvPr/>
        </p:nvSpPr>
        <p:spPr bwMode="auto">
          <a:xfrm>
            <a:off x="2901860" y="3995065"/>
            <a:ext cx="2520000" cy="1691999"/>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5" name="Rectangle: Rounded Corners 14">
            <a:extLst>
              <a:ext uri="{FF2B5EF4-FFF2-40B4-BE49-F238E27FC236}">
                <a16:creationId xmlns:a16="http://schemas.microsoft.com/office/drawing/2014/main" id="{9A4C174A-E393-7391-1505-CDBA2EC0A0F2}"/>
              </a:ext>
            </a:extLst>
          </p:cNvPr>
          <p:cNvSpPr/>
          <p:nvPr/>
        </p:nvSpPr>
        <p:spPr bwMode="auto">
          <a:xfrm>
            <a:off x="268623" y="3995065"/>
            <a:ext cx="2520000" cy="1691999"/>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0" name="Rectangle: Rounded Corners 9">
            <a:extLst>
              <a:ext uri="{FF2B5EF4-FFF2-40B4-BE49-F238E27FC236}">
                <a16:creationId xmlns:a16="http://schemas.microsoft.com/office/drawing/2014/main" id="{DE3CD365-9E0E-F0FC-DD61-301CCDE2A851}"/>
              </a:ext>
            </a:extLst>
          </p:cNvPr>
          <p:cNvSpPr/>
          <p:nvPr/>
        </p:nvSpPr>
        <p:spPr bwMode="auto">
          <a:xfrm>
            <a:off x="2900149" y="2200364"/>
            <a:ext cx="2520000" cy="1691999"/>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2" name="Rectangle: Rounded Corners 11">
            <a:extLst>
              <a:ext uri="{FF2B5EF4-FFF2-40B4-BE49-F238E27FC236}">
                <a16:creationId xmlns:a16="http://schemas.microsoft.com/office/drawing/2014/main" id="{4A0AFCD4-3C81-6EA5-77CC-8CE09DF487C3}"/>
              </a:ext>
            </a:extLst>
          </p:cNvPr>
          <p:cNvSpPr/>
          <p:nvPr/>
        </p:nvSpPr>
        <p:spPr bwMode="auto">
          <a:xfrm>
            <a:off x="2925224" y="2227109"/>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3" name="Rectangle: Rounded Corners 2">
            <a:extLst>
              <a:ext uri="{FF2B5EF4-FFF2-40B4-BE49-F238E27FC236}">
                <a16:creationId xmlns:a16="http://schemas.microsoft.com/office/drawing/2014/main" id="{7226644C-E524-22CA-CF5C-7DF51E641AB6}"/>
              </a:ext>
            </a:extLst>
          </p:cNvPr>
          <p:cNvSpPr/>
          <p:nvPr/>
        </p:nvSpPr>
        <p:spPr bwMode="auto">
          <a:xfrm>
            <a:off x="261393" y="2200364"/>
            <a:ext cx="2520000" cy="1691999"/>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Rectangle: Rounded Corners 6">
            <a:extLst>
              <a:ext uri="{FF2B5EF4-FFF2-40B4-BE49-F238E27FC236}">
                <a16:creationId xmlns:a16="http://schemas.microsoft.com/office/drawing/2014/main" id="{E5468804-248C-0CEE-E8C6-94ABA50D108A}"/>
              </a:ext>
            </a:extLst>
          </p:cNvPr>
          <p:cNvSpPr/>
          <p:nvPr/>
        </p:nvSpPr>
        <p:spPr bwMode="auto">
          <a:xfrm>
            <a:off x="288619" y="2227111"/>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2" name="Rectangle 1">
            <a:extLst>
              <a:ext uri="{FF2B5EF4-FFF2-40B4-BE49-F238E27FC236}">
                <a16:creationId xmlns:a16="http://schemas.microsoft.com/office/drawing/2014/main" id="{B647C41A-A88A-03F2-8358-3A820F0619F4}"/>
              </a:ext>
            </a:extLst>
          </p:cNvPr>
          <p:cNvSpPr/>
          <p:nvPr/>
        </p:nvSpPr>
        <p:spPr bwMode="auto">
          <a:xfrm>
            <a:off x="-1" y="2"/>
            <a:ext cx="5667375" cy="1390789"/>
          </a:xfrm>
          <a:prstGeom prst="rect">
            <a:avLst/>
          </a:prstGeom>
          <a:solidFill>
            <a:srgbClr val="F2E5DE">
              <a:alpha val="4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4" name="Picture 3">
            <a:extLst>
              <a:ext uri="{FF2B5EF4-FFF2-40B4-BE49-F238E27FC236}">
                <a16:creationId xmlns:a16="http://schemas.microsoft.com/office/drawing/2014/main" id="{C3DDBFE9-EF63-81ED-A2DA-EA2DABA2F3C2}"/>
              </a:ext>
            </a:extLst>
          </p:cNvPr>
          <p:cNvPicPr>
            <a:picLocks noChangeAspect="1"/>
          </p:cNvPicPr>
          <p:nvPr/>
        </p:nvPicPr>
        <p:blipFill>
          <a:blip r:embed="rId4"/>
          <a:srcRect l="-25877" t="56128" r="60860" b="-102"/>
          <a:stretch>
            <a:fillRect/>
          </a:stretch>
        </p:blipFill>
        <p:spPr>
          <a:xfrm>
            <a:off x="878898" y="-11042"/>
            <a:ext cx="4792775" cy="1483618"/>
          </a:xfrm>
          <a:prstGeom prst="rect">
            <a:avLst/>
          </a:prstGeom>
        </p:spPr>
      </p:pic>
      <p:sp>
        <p:nvSpPr>
          <p:cNvPr id="5" name="Title 31">
            <a:extLst>
              <a:ext uri="{FF2B5EF4-FFF2-40B4-BE49-F238E27FC236}">
                <a16:creationId xmlns:a16="http://schemas.microsoft.com/office/drawing/2014/main" id="{BD54868B-B3E4-A39E-9C5A-6886C4D788B4}"/>
              </a:ext>
            </a:extLst>
          </p:cNvPr>
          <p:cNvSpPr txBox="1">
            <a:spLocks/>
          </p:cNvSpPr>
          <p:nvPr/>
        </p:nvSpPr>
        <p:spPr>
          <a:xfrm>
            <a:off x="270488" y="537529"/>
            <a:ext cx="4107950" cy="628695"/>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66760" rtl="0" eaLnBrk="1" fontAlgn="auto" latinLnBrk="0" hangingPunct="1">
              <a:lnSpc>
                <a:spcPct val="100000"/>
              </a:lnSpc>
              <a:spcBef>
                <a:spcPts val="0"/>
              </a:spcBef>
              <a:spcAft>
                <a:spcPts val="0"/>
              </a:spcAft>
              <a:buClrTx/>
              <a:buSzTx/>
              <a:buFontTx/>
              <a:buNone/>
              <a:tabLst/>
              <a:defRPr/>
            </a:pPr>
            <a:r>
              <a:rPr kumimoji="0" lang="en-US" sz="2043" b="0" i="0" u="none" strike="noStrike" kern="1200" cap="none" spc="-23" normalizeH="0" baseline="0" noProof="0" dirty="0">
                <a:ln>
                  <a:noFill/>
                </a:ln>
                <a:solidFill>
                  <a:prstClr val="black"/>
                </a:solidFill>
                <a:effectLst/>
                <a:uLnTx/>
                <a:uFillTx/>
                <a:latin typeface="Segoe Sans Display Semibold" pitchFamily="2" charset="0"/>
                <a:ea typeface="+mn-ea"/>
                <a:cs typeface="Segoe Sans Display Semibold" pitchFamily="2" charset="0"/>
              </a:rPr>
              <a:t>Upgrade your AI experience from Copilot Chat to Copilot Business</a:t>
            </a:r>
          </a:p>
        </p:txBody>
      </p:sp>
      <p:pic>
        <p:nvPicPr>
          <p:cNvPr id="9" name="Graphic 8" descr="Microsoft Security">
            <a:extLst>
              <a:ext uri="{FF2B5EF4-FFF2-40B4-BE49-F238E27FC236}">
                <a16:creationId xmlns:a16="http://schemas.microsoft.com/office/drawing/2014/main" id="{16A5CE66-B769-C62B-4A5E-9C4A986797F6}"/>
              </a:ext>
            </a:extLst>
          </p:cNvPr>
          <p:cNvPicPr>
            <a:picLocks noChangeAspect="1"/>
          </p:cNvPicPr>
          <p:nvPr/>
        </p:nvPicPr>
        <p:blipFill>
          <a:blip>
            <a:extLst>
              <a:ext uri="{96DAC541-7B7A-43D3-8B79-37D633B846F1}">
                <asvg:svgBlip xmlns:asvg="http://schemas.microsoft.com/office/drawing/2016/SVG/main" r:embed="rId5"/>
              </a:ext>
            </a:extLst>
          </a:blip>
          <a:srcRect r="39635"/>
          <a:stretch>
            <a:fillRect/>
          </a:stretch>
        </p:blipFill>
        <p:spPr bwMode="black">
          <a:xfrm>
            <a:off x="275179" y="259473"/>
            <a:ext cx="796714" cy="167302"/>
          </a:xfrm>
          <a:prstGeom prst="rect">
            <a:avLst/>
          </a:prstGeom>
        </p:spPr>
      </p:pic>
      <p:sp>
        <p:nvSpPr>
          <p:cNvPr id="32" name="TextBox 31">
            <a:extLst>
              <a:ext uri="{FF2B5EF4-FFF2-40B4-BE49-F238E27FC236}">
                <a16:creationId xmlns:a16="http://schemas.microsoft.com/office/drawing/2014/main" id="{838B9FE7-7E34-BC5E-4C6A-AC21450FEE7D}"/>
              </a:ext>
            </a:extLst>
          </p:cNvPr>
          <p:cNvSpPr txBox="1"/>
          <p:nvPr/>
        </p:nvSpPr>
        <p:spPr>
          <a:xfrm>
            <a:off x="270488" y="1235545"/>
            <a:ext cx="5149660" cy="509544"/>
          </a:xfrm>
          <a:prstGeom prst="rect">
            <a:avLst/>
          </a:prstGeom>
          <a:noFill/>
        </p:spPr>
        <p:txBody>
          <a:bodyPr wrap="square" lIns="0" r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418" rtl="0" eaLnBrk="1" fontAlgn="auto" latinLnBrk="0" hangingPunct="1">
              <a:lnSpc>
                <a:spcPct val="100000"/>
              </a:lnSpc>
              <a:spcBef>
                <a:spcPts val="0"/>
              </a:spcBef>
              <a:spcAft>
                <a:spcPts val="0"/>
              </a:spcAft>
              <a:buClrTx/>
              <a:buSzTx/>
              <a:buFontTx/>
              <a:buNone/>
              <a:tabLst/>
              <a:defRPr/>
            </a:pPr>
            <a:r>
              <a:rPr kumimoji="0" lang="en-US" sz="903" b="0" i="0" u="none" strike="noStrike" kern="1200" cap="none" spc="0" normalizeH="0" baseline="0" noProof="0" dirty="0">
                <a:ln>
                  <a:noFill/>
                </a:ln>
                <a:solidFill>
                  <a:srgbClr val="000000">
                    <a:lumMod val="85000"/>
                    <a:lumOff val="15000"/>
                  </a:srgbClr>
                </a:solidFill>
                <a:effectLst/>
                <a:uLnTx/>
                <a:uFillTx/>
                <a:latin typeface="Segoe UI" panose="020B0502040204020203" pitchFamily="34" charset="0"/>
                <a:ea typeface="+mn-ea"/>
                <a:cs typeface="Segoe UI" panose="020B0502040204020203" pitchFamily="34" charset="0"/>
              </a:rPr>
              <a:t>Your employees are already using Copilot Chat, for drafting, brainstorming, summarizing, and getting fast answers from the web. It's now time to level up their AI experience by moving them to Copilot Business - the same Copilot you trust, now grounded in work data, and with advanced AI capabilities.</a:t>
            </a:r>
          </a:p>
        </p:txBody>
      </p:sp>
      <p:sp>
        <p:nvSpPr>
          <p:cNvPr id="34" name="TextBox 33">
            <a:extLst>
              <a:ext uri="{FF2B5EF4-FFF2-40B4-BE49-F238E27FC236}">
                <a16:creationId xmlns:a16="http://schemas.microsoft.com/office/drawing/2014/main" id="{15AFBDD5-E345-8BE7-9EBC-42DAC836805C}"/>
              </a:ext>
            </a:extLst>
          </p:cNvPr>
          <p:cNvSpPr txBox="1"/>
          <p:nvPr/>
        </p:nvSpPr>
        <p:spPr>
          <a:xfrm>
            <a:off x="457734" y="2235330"/>
            <a:ext cx="2131600" cy="24981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Access to Work IQ</a:t>
            </a:r>
          </a:p>
        </p:txBody>
      </p:sp>
      <p:sp>
        <p:nvSpPr>
          <p:cNvPr id="44" name="TextBox 43">
            <a:extLst>
              <a:ext uri="{FF2B5EF4-FFF2-40B4-BE49-F238E27FC236}">
                <a16:creationId xmlns:a16="http://schemas.microsoft.com/office/drawing/2014/main" id="{952D3AB5-9E88-5A39-0102-55A67C3D0ADA}"/>
              </a:ext>
            </a:extLst>
          </p:cNvPr>
          <p:cNvSpPr txBox="1"/>
          <p:nvPr/>
        </p:nvSpPr>
        <p:spPr>
          <a:xfrm>
            <a:off x="2985793" y="2235329"/>
            <a:ext cx="2348689" cy="249819"/>
          </a:xfrm>
          <a:prstGeom prst="rect">
            <a:avLst/>
          </a:prstGeom>
          <a:noFill/>
        </p:spPr>
        <p:txBody>
          <a:bodyPr wrap="square" lIns="0" r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Advanced Office and Chat capabilities</a:t>
            </a:r>
            <a:endParaRPr kumimoji="0" lang="en-US" sz="1003" b="0" i="0" u="none" strike="noStrike" kern="1200" cap="none" spc="0" normalizeH="0" baseline="0" noProof="0" dirty="0">
              <a:ln>
                <a:noFill/>
              </a:ln>
              <a:solidFill>
                <a:srgbClr val="FFFFFF"/>
              </a:solidFill>
              <a:effectLst/>
              <a:uLnTx/>
              <a:uFillTx/>
              <a:latin typeface="Segoe UI"/>
              <a:ea typeface="+mn-ea"/>
              <a:cs typeface="+mn-cs"/>
            </a:endParaRPr>
          </a:p>
        </p:txBody>
      </p:sp>
      <p:sp>
        <p:nvSpPr>
          <p:cNvPr id="51" name="TextBox 50">
            <a:extLst>
              <a:ext uri="{FF2B5EF4-FFF2-40B4-BE49-F238E27FC236}">
                <a16:creationId xmlns:a16="http://schemas.microsoft.com/office/drawing/2014/main" id="{4FA72D8D-D486-FB0D-61D6-3E2B1BE707CB}"/>
              </a:ext>
            </a:extLst>
          </p:cNvPr>
          <p:cNvSpPr txBox="1"/>
          <p:nvPr/>
        </p:nvSpPr>
        <p:spPr>
          <a:xfrm>
            <a:off x="565409" y="7142288"/>
            <a:ext cx="1911965" cy="463222"/>
          </a:xfrm>
          <a:prstGeom prst="rect">
            <a:avLst/>
          </a:prstGeom>
          <a:noFill/>
        </p:spPr>
        <p:txBody>
          <a:bodyPr wrap="square" lIns="36121" rIns="36121">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803" b="0" i="0" u="none" strike="noStrike" kern="1200" cap="none" spc="0" normalizeH="0" baseline="0" noProof="0" dirty="0">
                <a:ln>
                  <a:noFill/>
                </a:ln>
                <a:solidFill>
                  <a:srgbClr val="000000"/>
                </a:solidFill>
                <a:effectLst/>
                <a:uLnTx/>
                <a:uFillTx/>
                <a:latin typeface="Segoe UI"/>
                <a:ea typeface="+mn-ea"/>
                <a:cs typeface="+mn-cs"/>
              </a:rPr>
              <a:t>Copilot for Sales, Service, and Finance directly available in the Copilot Chat interface</a:t>
            </a:r>
          </a:p>
        </p:txBody>
      </p:sp>
      <p:sp>
        <p:nvSpPr>
          <p:cNvPr id="52" name="TextBox 51">
            <a:extLst>
              <a:ext uri="{FF2B5EF4-FFF2-40B4-BE49-F238E27FC236}">
                <a16:creationId xmlns:a16="http://schemas.microsoft.com/office/drawing/2014/main" id="{E27CCE3A-4CA9-6725-47FE-1DA975F68CAC}"/>
              </a:ext>
            </a:extLst>
          </p:cNvPr>
          <p:cNvSpPr txBox="1"/>
          <p:nvPr/>
        </p:nvSpPr>
        <p:spPr>
          <a:xfrm>
            <a:off x="3112609" y="7142288"/>
            <a:ext cx="2095079" cy="463222"/>
          </a:xfrm>
          <a:prstGeom prst="rect">
            <a:avLst/>
          </a:prstGeom>
          <a:noFill/>
        </p:spPr>
        <p:txBody>
          <a:bodyPr wrap="square" lIns="36121" rIns="36121">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803" b="0" i="0" u="none" strike="noStrike" kern="1200" cap="none" spc="0" normalizeH="0" baseline="0" noProof="0" dirty="0">
                <a:ln>
                  <a:noFill/>
                </a:ln>
                <a:solidFill>
                  <a:srgbClr val="000000"/>
                </a:solidFill>
                <a:effectLst/>
                <a:uLnTx/>
                <a:uFillTx/>
                <a:latin typeface="Segoe UI"/>
                <a:ea typeface="+mn-ea"/>
                <a:cs typeface="+mn-cs"/>
              </a:rPr>
              <a:t>Deep measurement and reporting capabilities designed to help you measure the impact of AI</a:t>
            </a:r>
          </a:p>
        </p:txBody>
      </p:sp>
      <p:sp>
        <p:nvSpPr>
          <p:cNvPr id="53" name="TextBox 52">
            <a:extLst>
              <a:ext uri="{FF2B5EF4-FFF2-40B4-BE49-F238E27FC236}">
                <a16:creationId xmlns:a16="http://schemas.microsoft.com/office/drawing/2014/main" id="{46FA38A9-5B56-060E-8BF7-9A1ED5ABAEA6}"/>
              </a:ext>
            </a:extLst>
          </p:cNvPr>
          <p:cNvSpPr txBox="1"/>
          <p:nvPr/>
        </p:nvSpPr>
        <p:spPr>
          <a:xfrm>
            <a:off x="356242" y="5128700"/>
            <a:ext cx="2344760" cy="463222"/>
          </a:xfrm>
          <a:prstGeom prst="rect">
            <a:avLst/>
          </a:prstGeom>
          <a:noFill/>
        </p:spPr>
        <p:txBody>
          <a:bodyPr wrap="square" lIns="36121" rIns="36121">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803" b="0" i="0" u="none" strike="noStrike" kern="1200" cap="none" spc="0" normalizeH="0" baseline="0" noProof="0" dirty="0">
                <a:ln>
                  <a:noFill/>
                </a:ln>
                <a:solidFill>
                  <a:srgbClr val="000000"/>
                </a:solidFill>
                <a:effectLst/>
                <a:uLnTx/>
                <a:uFillTx/>
                <a:latin typeface="Segoe UI"/>
                <a:ea typeface="+mn-ea"/>
                <a:cs typeface="+mn-cs"/>
              </a:rPr>
              <a:t>Access to Researcher and Analyst to tackle complex, multi-step tasks, earlier reserved for highly-skilled experts</a:t>
            </a:r>
          </a:p>
        </p:txBody>
      </p:sp>
      <p:sp>
        <p:nvSpPr>
          <p:cNvPr id="54" name="TextBox 53">
            <a:extLst>
              <a:ext uri="{FF2B5EF4-FFF2-40B4-BE49-F238E27FC236}">
                <a16:creationId xmlns:a16="http://schemas.microsoft.com/office/drawing/2014/main" id="{809BFB3F-91B8-40D4-7FAB-D332D03CAC4E}"/>
              </a:ext>
            </a:extLst>
          </p:cNvPr>
          <p:cNvSpPr txBox="1"/>
          <p:nvPr/>
        </p:nvSpPr>
        <p:spPr>
          <a:xfrm>
            <a:off x="2992848" y="5128700"/>
            <a:ext cx="2344760" cy="463222"/>
          </a:xfrm>
          <a:prstGeom prst="rect">
            <a:avLst/>
          </a:prstGeom>
          <a:noFill/>
        </p:spPr>
        <p:txBody>
          <a:bodyPr wrap="square" lIns="36121" rIns="36121">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803" b="0" i="0" u="none" strike="noStrike" kern="1200" cap="none" spc="0" normalizeH="0" baseline="0" noProof="0" dirty="0">
                <a:ln>
                  <a:noFill/>
                </a:ln>
                <a:solidFill>
                  <a:srgbClr val="000000"/>
                </a:solidFill>
                <a:effectLst/>
                <a:uLnTx/>
                <a:uFillTx/>
                <a:latin typeface="Segoe UI"/>
                <a:ea typeface="+mn-ea"/>
                <a:cs typeface="+mn-cs"/>
              </a:rPr>
              <a:t>Flexibility to choose between OpenAI and Anthropic models starting in Researcher, Agent Mode in Excel</a:t>
            </a:r>
          </a:p>
        </p:txBody>
      </p:sp>
      <p:pic>
        <p:nvPicPr>
          <p:cNvPr id="58" name="Picture 57" descr="A screenshot of a computer&#10;&#10;Description automatically generated">
            <a:extLst>
              <a:ext uri="{FF2B5EF4-FFF2-40B4-BE49-F238E27FC236}">
                <a16:creationId xmlns:a16="http://schemas.microsoft.com/office/drawing/2014/main" id="{97D66227-B066-7382-CA0B-FCDCBE0B9015}"/>
              </a:ext>
            </a:extLst>
          </p:cNvPr>
          <p:cNvPicPr>
            <a:picLocks noChangeAspect="1"/>
          </p:cNvPicPr>
          <p:nvPr/>
        </p:nvPicPr>
        <p:blipFill rotWithShape="1">
          <a:blip r:embed="rId6" cstate="hqprint">
            <a:extLst>
              <a:ext uri="{28A0092B-C50C-407E-A947-70E740481C1C}">
                <a14:useLocalDpi xmlns:a14="http://schemas.microsoft.com/office/drawing/2010/main"/>
              </a:ext>
            </a:extLst>
          </a:blip>
          <a:srcRect l="15521" t="49370" r="2204" b="9188"/>
          <a:stretch>
            <a:fillRect/>
          </a:stretch>
        </p:blipFill>
        <p:spPr bwMode="auto">
          <a:xfrm>
            <a:off x="2923190" y="6230389"/>
            <a:ext cx="2469828" cy="827630"/>
          </a:xfrm>
          <a:prstGeom prst="roundRect">
            <a:avLst>
              <a:gd name="adj" fmla="val 4427"/>
            </a:avLst>
          </a:prstGeom>
          <a:solidFill>
            <a:schemeClr val="bg1"/>
          </a:solidFill>
          <a:extLst>
            <a:ext uri="{53640926-AAD7-44D8-BBD7-CCE9431645EC}">
              <a14:shadowObscured xmlns:a14="http://schemas.microsoft.com/office/drawing/2010/main"/>
            </a:ext>
          </a:extLst>
        </p:spPr>
      </p:pic>
      <p:sp>
        <p:nvSpPr>
          <p:cNvPr id="14" name="Rectangle: Rounded Corners 13">
            <a:extLst>
              <a:ext uri="{FF2B5EF4-FFF2-40B4-BE49-F238E27FC236}">
                <a16:creationId xmlns:a16="http://schemas.microsoft.com/office/drawing/2014/main" id="{DDE7F84B-2D42-C394-19D2-B0222D46666C}"/>
              </a:ext>
            </a:extLst>
          </p:cNvPr>
          <p:cNvSpPr/>
          <p:nvPr/>
        </p:nvSpPr>
        <p:spPr bwMode="auto">
          <a:xfrm>
            <a:off x="2930304" y="4022552"/>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7" name="TextBox 46">
            <a:extLst>
              <a:ext uri="{FF2B5EF4-FFF2-40B4-BE49-F238E27FC236}">
                <a16:creationId xmlns:a16="http://schemas.microsoft.com/office/drawing/2014/main" id="{2419CD55-7D65-7197-B591-E132E83766C4}"/>
              </a:ext>
            </a:extLst>
          </p:cNvPr>
          <p:cNvSpPr txBox="1"/>
          <p:nvPr/>
        </p:nvSpPr>
        <p:spPr>
          <a:xfrm>
            <a:off x="3099419" y="4030771"/>
            <a:ext cx="2131600" cy="24981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Model choice</a:t>
            </a:r>
          </a:p>
        </p:txBody>
      </p:sp>
      <p:sp>
        <p:nvSpPr>
          <p:cNvPr id="21" name="Rectangle: Rounded Corners 20">
            <a:extLst>
              <a:ext uri="{FF2B5EF4-FFF2-40B4-BE49-F238E27FC236}">
                <a16:creationId xmlns:a16="http://schemas.microsoft.com/office/drawing/2014/main" id="{139EA6E6-5707-56E0-C864-78DDCDAAE854}"/>
              </a:ext>
            </a:extLst>
          </p:cNvPr>
          <p:cNvSpPr/>
          <p:nvPr/>
        </p:nvSpPr>
        <p:spPr bwMode="auto">
          <a:xfrm>
            <a:off x="288619" y="5829653"/>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8" name="TextBox 47">
            <a:extLst>
              <a:ext uri="{FF2B5EF4-FFF2-40B4-BE49-F238E27FC236}">
                <a16:creationId xmlns:a16="http://schemas.microsoft.com/office/drawing/2014/main" id="{CB5A2F6B-39D4-38AE-295B-E9F65EF71E7D}"/>
              </a:ext>
            </a:extLst>
          </p:cNvPr>
          <p:cNvSpPr txBox="1"/>
          <p:nvPr/>
        </p:nvSpPr>
        <p:spPr>
          <a:xfrm>
            <a:off x="457734" y="5837872"/>
            <a:ext cx="2131600" cy="24981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Role-based AI solutions</a:t>
            </a:r>
          </a:p>
        </p:txBody>
      </p:sp>
      <p:sp>
        <p:nvSpPr>
          <p:cNvPr id="19" name="Rectangle: Rounded Corners 18">
            <a:extLst>
              <a:ext uri="{FF2B5EF4-FFF2-40B4-BE49-F238E27FC236}">
                <a16:creationId xmlns:a16="http://schemas.microsoft.com/office/drawing/2014/main" id="{ED25C44C-B435-AC30-9476-323229FBB6F1}"/>
              </a:ext>
            </a:extLst>
          </p:cNvPr>
          <p:cNvSpPr/>
          <p:nvPr/>
        </p:nvSpPr>
        <p:spPr bwMode="auto">
          <a:xfrm>
            <a:off x="2925224" y="5829653"/>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9" name="TextBox 48">
            <a:extLst>
              <a:ext uri="{FF2B5EF4-FFF2-40B4-BE49-F238E27FC236}">
                <a16:creationId xmlns:a16="http://schemas.microsoft.com/office/drawing/2014/main" id="{829DA8E1-2C1F-B671-6F3C-96744BC4923C}"/>
              </a:ext>
            </a:extLst>
          </p:cNvPr>
          <p:cNvSpPr txBox="1"/>
          <p:nvPr/>
        </p:nvSpPr>
        <p:spPr>
          <a:xfrm>
            <a:off x="2987758" y="5837872"/>
            <a:ext cx="2344760" cy="24981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Deep analytics</a:t>
            </a:r>
          </a:p>
        </p:txBody>
      </p:sp>
      <p:sp>
        <p:nvSpPr>
          <p:cNvPr id="17" name="Rectangle: Rounded Corners 16">
            <a:extLst>
              <a:ext uri="{FF2B5EF4-FFF2-40B4-BE49-F238E27FC236}">
                <a16:creationId xmlns:a16="http://schemas.microsoft.com/office/drawing/2014/main" id="{A7CEF533-0DD4-D7A3-24B1-72BDF1A9FA36}"/>
              </a:ext>
            </a:extLst>
          </p:cNvPr>
          <p:cNvSpPr/>
          <p:nvPr/>
        </p:nvSpPr>
        <p:spPr bwMode="auto">
          <a:xfrm>
            <a:off x="293698" y="4022552"/>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6" name="TextBox 45">
            <a:extLst>
              <a:ext uri="{FF2B5EF4-FFF2-40B4-BE49-F238E27FC236}">
                <a16:creationId xmlns:a16="http://schemas.microsoft.com/office/drawing/2014/main" id="{4169FACE-5745-529E-369A-99582803E132}"/>
              </a:ext>
            </a:extLst>
          </p:cNvPr>
          <p:cNvSpPr txBox="1"/>
          <p:nvPr/>
        </p:nvSpPr>
        <p:spPr>
          <a:xfrm>
            <a:off x="462813" y="4030771"/>
            <a:ext cx="2131600" cy="24981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Advanced reasoning agents</a:t>
            </a:r>
          </a:p>
        </p:txBody>
      </p:sp>
      <p:sp>
        <p:nvSpPr>
          <p:cNvPr id="1086" name="AutoShape 22">
            <a:extLst>
              <a:ext uri="{FF2B5EF4-FFF2-40B4-BE49-F238E27FC236}">
                <a16:creationId xmlns:a16="http://schemas.microsoft.com/office/drawing/2014/main" id="{6991701A-69FC-C536-2005-7B24A9924467}"/>
              </a:ext>
            </a:extLst>
          </p:cNvPr>
          <p:cNvSpPr>
            <a:spLocks noChangeAspect="1" noChangeArrowheads="1"/>
          </p:cNvSpPr>
          <p:nvPr/>
        </p:nvSpPr>
        <p:spPr bwMode="auto">
          <a:xfrm>
            <a:off x="2722563" y="3972379"/>
            <a:ext cx="222250" cy="2222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6675" tIns="33338" rIns="66675" bIns="33338" numCol="1" anchor="t" anchorCtr="0" compatLnSpc="1">
            <a:prstTxWarp prst="textNoShape">
              <a:avLst/>
            </a:prstTxWarp>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418" rtl="0" eaLnBrk="1" fontAlgn="auto" latinLnBrk="0" hangingPunct="1">
              <a:lnSpc>
                <a:spcPct val="100000"/>
              </a:lnSpc>
              <a:spcBef>
                <a:spcPts val="0"/>
              </a:spcBef>
              <a:spcAft>
                <a:spcPts val="0"/>
              </a:spcAft>
              <a:buClrTx/>
              <a:buSzTx/>
              <a:buFontTx/>
              <a:buNone/>
              <a:tabLst/>
              <a:defRPr/>
            </a:pPr>
            <a:endParaRPr kumimoji="0" lang="en-US" sz="1313" b="0" i="0" u="none" strike="noStrike" kern="1200" cap="none" spc="0" normalizeH="0" baseline="0" noProof="0">
              <a:ln>
                <a:noFill/>
              </a:ln>
              <a:solidFill>
                <a:srgbClr val="000000"/>
              </a:solidFill>
              <a:effectLst/>
              <a:uLnTx/>
              <a:uFillTx/>
              <a:latin typeface="Segoe UI"/>
              <a:ea typeface="+mn-ea"/>
              <a:cs typeface="+mn-cs"/>
            </a:endParaRPr>
          </a:p>
        </p:txBody>
      </p:sp>
      <p:sp>
        <p:nvSpPr>
          <p:cNvPr id="1088" name="AutoShape 26">
            <a:extLst>
              <a:ext uri="{FF2B5EF4-FFF2-40B4-BE49-F238E27FC236}">
                <a16:creationId xmlns:a16="http://schemas.microsoft.com/office/drawing/2014/main" id="{9D0AB35B-54D5-7128-9B9E-DD4BEC90CBFA}"/>
              </a:ext>
            </a:extLst>
          </p:cNvPr>
          <p:cNvSpPr>
            <a:spLocks noChangeAspect="1" noChangeArrowheads="1"/>
          </p:cNvSpPr>
          <p:nvPr/>
        </p:nvSpPr>
        <p:spPr bwMode="auto">
          <a:xfrm>
            <a:off x="-525824" y="3278549"/>
            <a:ext cx="222250" cy="2222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6675" tIns="33338" rIns="66675" bIns="33338" numCol="1" anchor="t" anchorCtr="0" compatLnSpc="1">
            <a:prstTxWarp prst="textNoShape">
              <a:avLst/>
            </a:prstTxWarp>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418" rtl="0" eaLnBrk="1" fontAlgn="auto" latinLnBrk="0" hangingPunct="1">
              <a:lnSpc>
                <a:spcPct val="100000"/>
              </a:lnSpc>
              <a:spcBef>
                <a:spcPts val="0"/>
              </a:spcBef>
              <a:spcAft>
                <a:spcPts val="0"/>
              </a:spcAft>
              <a:buClrTx/>
              <a:buSzTx/>
              <a:buFontTx/>
              <a:buNone/>
              <a:tabLst/>
              <a:defRPr/>
            </a:pPr>
            <a:endParaRPr kumimoji="0" lang="en-US" sz="1313" b="0" i="0" u="none" strike="noStrike" kern="1200" cap="none" spc="0" normalizeH="0" baseline="0" noProof="0">
              <a:ln>
                <a:noFill/>
              </a:ln>
              <a:solidFill>
                <a:srgbClr val="000000"/>
              </a:solidFill>
              <a:effectLst/>
              <a:uLnTx/>
              <a:uFillTx/>
              <a:latin typeface="Segoe UI"/>
              <a:ea typeface="+mn-ea"/>
              <a:cs typeface="+mn-cs"/>
            </a:endParaRPr>
          </a:p>
        </p:txBody>
      </p:sp>
      <p:sp>
        <p:nvSpPr>
          <p:cNvPr id="6" name="TextBox 5">
            <a:extLst>
              <a:ext uri="{FF2B5EF4-FFF2-40B4-BE49-F238E27FC236}">
                <a16:creationId xmlns:a16="http://schemas.microsoft.com/office/drawing/2014/main" id="{56EE80D7-F4C0-067F-FBC8-6211170533BB}"/>
              </a:ext>
            </a:extLst>
          </p:cNvPr>
          <p:cNvSpPr txBox="1"/>
          <p:nvPr/>
        </p:nvSpPr>
        <p:spPr>
          <a:xfrm>
            <a:off x="258856" y="1862669"/>
            <a:ext cx="5149660" cy="277933"/>
          </a:xfrm>
          <a:prstGeom prst="rect">
            <a:avLst/>
          </a:prstGeom>
          <a:noFill/>
        </p:spPr>
        <p:txBody>
          <a:bodyPr wrap="square" lIns="0" r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418" rtl="0" eaLnBrk="1" fontAlgn="auto" latinLnBrk="0" hangingPunct="1">
              <a:lnSpc>
                <a:spcPct val="100000"/>
              </a:lnSpc>
              <a:spcBef>
                <a:spcPts val="0"/>
              </a:spcBef>
              <a:spcAft>
                <a:spcPts val="0"/>
              </a:spcAft>
              <a:buClrTx/>
              <a:buSzTx/>
              <a:buFontTx/>
              <a:buNone/>
              <a:tabLst/>
              <a:defRPr/>
            </a:pPr>
            <a:r>
              <a:rPr kumimoji="0" lang="en-US" sz="1204" b="0" i="0" u="none" strike="noStrike" kern="1200" cap="none" spc="0" normalizeH="0" baseline="0" noProof="0" dirty="0">
                <a:ln>
                  <a:noFill/>
                </a:ln>
                <a:solidFill>
                  <a:srgbClr val="A02B93"/>
                </a:solidFill>
                <a:effectLst/>
                <a:uLnTx/>
                <a:uFillTx/>
                <a:latin typeface="Segoe UI Semibold" panose="020B0702040204020203" pitchFamily="34" charset="0"/>
                <a:ea typeface="+mn-ea"/>
                <a:cs typeface="Segoe UI Semibold" panose="020B0702040204020203" pitchFamily="34" charset="0"/>
              </a:rPr>
              <a:t>Six reasons to make the move</a:t>
            </a:r>
          </a:p>
        </p:txBody>
      </p:sp>
      <p:sp>
        <p:nvSpPr>
          <p:cNvPr id="8" name="TextBox 7">
            <a:extLst>
              <a:ext uri="{FF2B5EF4-FFF2-40B4-BE49-F238E27FC236}">
                <a16:creationId xmlns:a16="http://schemas.microsoft.com/office/drawing/2014/main" id="{601FF6E1-F677-B0AD-B5CE-2713575B2F64}"/>
              </a:ext>
            </a:extLst>
          </p:cNvPr>
          <p:cNvSpPr txBox="1"/>
          <p:nvPr/>
        </p:nvSpPr>
        <p:spPr>
          <a:xfrm>
            <a:off x="365497" y="3338808"/>
            <a:ext cx="2311789" cy="463222"/>
          </a:xfrm>
          <a:prstGeom prst="rect">
            <a:avLst/>
          </a:prstGeom>
          <a:noFill/>
        </p:spPr>
        <p:txBody>
          <a:bodyPr wrap="square" lIns="36121" rIns="36121">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803" b="0" i="0" u="none" strike="noStrike" kern="1200" cap="none" spc="0" normalizeH="0" baseline="0" noProof="0" dirty="0">
                <a:ln>
                  <a:noFill/>
                </a:ln>
                <a:solidFill>
                  <a:srgbClr val="000000"/>
                </a:solidFill>
                <a:effectLst/>
                <a:uLnTx/>
                <a:uFillTx/>
                <a:latin typeface="Segoe UI"/>
                <a:ea typeface="+mn-ea"/>
                <a:cs typeface="+mn-cs"/>
              </a:rPr>
              <a:t>Intelligence from Microsoft Graph data - files, email, chat, meetings, people, etc. to tune Copilot to your organizational and role context</a:t>
            </a:r>
          </a:p>
        </p:txBody>
      </p:sp>
      <p:pic>
        <p:nvPicPr>
          <p:cNvPr id="11" name="Picture 2" descr="The Researcher agent in Microsoft 365 Copilot with an option to try Claude">
            <a:extLst>
              <a:ext uri="{FF2B5EF4-FFF2-40B4-BE49-F238E27FC236}">
                <a16:creationId xmlns:a16="http://schemas.microsoft.com/office/drawing/2014/main" id="{12B6BA85-63D9-453F-BC90-FCEAC94A9335}"/>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8534" t="18346" r="11032" b="36645"/>
          <a:stretch>
            <a:fillRect/>
          </a:stretch>
        </p:blipFill>
        <p:spPr bwMode="auto">
          <a:xfrm>
            <a:off x="2925493" y="4336164"/>
            <a:ext cx="2472735" cy="778323"/>
          </a:xfrm>
          <a:prstGeom prst="rect">
            <a:avLst/>
          </a:prstGeom>
          <a:noFill/>
          <a:extLst>
            <a:ext uri="{909E8E84-426E-40DD-AFC4-6F175D3DCCD1}">
              <a14:hiddenFill xmlns:a14="http://schemas.microsoft.com/office/drawing/2010/main">
                <a:solidFill>
                  <a:srgbClr val="FFFFFF"/>
                </a:solidFill>
              </a14:hiddenFill>
            </a:ext>
          </a:extLst>
        </p:spPr>
      </p:pic>
      <p:grpSp>
        <p:nvGrpSpPr>
          <p:cNvPr id="22" name="Group 21">
            <a:extLst>
              <a:ext uri="{FF2B5EF4-FFF2-40B4-BE49-F238E27FC236}">
                <a16:creationId xmlns:a16="http://schemas.microsoft.com/office/drawing/2014/main" id="{D7632BAB-898C-83C9-F667-A36F84928837}"/>
              </a:ext>
            </a:extLst>
          </p:cNvPr>
          <p:cNvGrpSpPr/>
          <p:nvPr/>
        </p:nvGrpSpPr>
        <p:grpSpPr>
          <a:xfrm>
            <a:off x="679074" y="2632120"/>
            <a:ext cx="1702830" cy="656424"/>
            <a:chOff x="740180" y="5452436"/>
            <a:chExt cx="2335309" cy="900239"/>
          </a:xfrm>
        </p:grpSpPr>
        <p:grpSp>
          <p:nvGrpSpPr>
            <p:cNvPr id="23" name="Group 22">
              <a:extLst>
                <a:ext uri="{FF2B5EF4-FFF2-40B4-BE49-F238E27FC236}">
                  <a16:creationId xmlns:a16="http://schemas.microsoft.com/office/drawing/2014/main" id="{1001A125-F400-9F30-B6CD-245AE0680D47}"/>
                </a:ext>
              </a:extLst>
            </p:cNvPr>
            <p:cNvGrpSpPr/>
            <p:nvPr/>
          </p:nvGrpSpPr>
          <p:grpSpPr>
            <a:xfrm>
              <a:off x="740180" y="5452436"/>
              <a:ext cx="864342" cy="900239"/>
              <a:chOff x="939058" y="4083045"/>
              <a:chExt cx="2354831" cy="2452628"/>
            </a:xfrm>
          </p:grpSpPr>
          <p:sp>
            <p:nvSpPr>
              <p:cNvPr id="42" name="Rectangle: Rounded Corners 41">
                <a:extLst>
                  <a:ext uri="{FF2B5EF4-FFF2-40B4-BE49-F238E27FC236}">
                    <a16:creationId xmlns:a16="http://schemas.microsoft.com/office/drawing/2014/main" id="{BA8A16B4-C881-249F-5869-858CFF95C769}"/>
                  </a:ext>
                </a:extLst>
              </p:cNvPr>
              <p:cNvSpPr/>
              <p:nvPr/>
            </p:nvSpPr>
            <p:spPr bwMode="auto">
              <a:xfrm>
                <a:off x="939058" y="4083045"/>
                <a:ext cx="2354831" cy="2354829"/>
              </a:xfrm>
              <a:prstGeom prst="roundRect">
                <a:avLst>
                  <a:gd name="adj" fmla="val 5387"/>
                </a:avLst>
              </a:prstGeom>
              <a:solidFill>
                <a:sysClr val="window" lastClr="FFFFFF">
                  <a:alpha val="11000"/>
                </a:sysClr>
              </a:solidFill>
              <a:ln w="12700">
                <a:gradFill flip="none" rotWithShape="1">
                  <a:gsLst>
                    <a:gs pos="15000">
                      <a:srgbClr val="62D2C1"/>
                    </a:gs>
                    <a:gs pos="31000">
                      <a:srgbClr val="89C1FC"/>
                    </a:gs>
                    <a:gs pos="100000">
                      <a:srgbClr val="F8A64C"/>
                    </a:gs>
                    <a:gs pos="76000">
                      <a:srgbClr val="EB83D6"/>
                    </a:gs>
                  </a:gsLst>
                  <a:lin ang="13500000" scaled="1"/>
                  <a:tileRect/>
                </a:gradFill>
                <a:headEnd type="none" w="med" len="med"/>
                <a:tailEnd type="none" w="med" len="med"/>
              </a:ln>
              <a:effectLst>
                <a:outerShdw blurRad="152400" dist="50800" dir="5400000" algn="ctr" rotWithShape="0">
                  <a:srgbClr val="000000">
                    <a:alpha val="25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90500" tIns="152400" rIns="190500" bIns="15240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971475" rtl="0" eaLnBrk="1" fontAlgn="base" latinLnBrk="0" hangingPunct="1">
                  <a:lnSpc>
                    <a:spcPct val="100000"/>
                  </a:lnSpc>
                  <a:spcBef>
                    <a:spcPct val="0"/>
                  </a:spcBef>
                  <a:spcAft>
                    <a:spcPct val="0"/>
                  </a:spcAft>
                  <a:buClrTx/>
                  <a:buSzTx/>
                  <a:buFontTx/>
                  <a:buNone/>
                  <a:tabLst/>
                  <a:defRPr/>
                </a:pPr>
                <a:endParaRPr kumimoji="0" lang="en-US" sz="2083" b="0" i="0" u="none" strike="noStrike" kern="1200" cap="none" spc="0" normalizeH="0" baseline="0" noProof="0">
                  <a:ln>
                    <a:noFill/>
                  </a:ln>
                  <a:noFill/>
                  <a:effectLst/>
                  <a:uLnTx/>
                  <a:uFillTx/>
                  <a:latin typeface="Segoe UI Variable Display Semib" pitchFamily="2" charset="0"/>
                  <a:ea typeface="+mn-ea"/>
                  <a:cs typeface="Segoe UI" pitchFamily="34" charset="0"/>
                </a:endParaRPr>
              </a:p>
            </p:txBody>
          </p:sp>
          <p:pic>
            <p:nvPicPr>
              <p:cNvPr id="43" name="Picture 10">
                <a:extLst>
                  <a:ext uri="{FF2B5EF4-FFF2-40B4-BE49-F238E27FC236}">
                    <a16:creationId xmlns:a16="http://schemas.microsoft.com/office/drawing/2014/main" id="{EB5A0F39-27D2-6292-0B99-07DC0821A75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44911" y="4091911"/>
                <a:ext cx="2143125" cy="2143125"/>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8" descr="Microsoft 365 Copilot UI Icon">
                <a:extLst>
                  <a:ext uri="{FF2B5EF4-FFF2-40B4-BE49-F238E27FC236}">
                    <a16:creationId xmlns:a16="http://schemas.microsoft.com/office/drawing/2014/main" id="{F58020F8-1C61-EA21-8E2E-0E6981BA84B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527755" y="4257874"/>
                <a:ext cx="614960" cy="583288"/>
              </a:xfrm>
              <a:prstGeom prst="rect">
                <a:avLst/>
              </a:prstGeom>
              <a:noFill/>
              <a:extLst>
                <a:ext uri="{909E8E84-426E-40DD-AFC4-6F175D3DCCD1}">
                  <a14:hiddenFill xmlns:a14="http://schemas.microsoft.com/office/drawing/2010/main">
                    <a:solidFill>
                      <a:srgbClr val="FFFFFF"/>
                    </a:solidFill>
                  </a14:hiddenFill>
                </a:ext>
              </a:extLst>
            </p:spPr>
          </p:pic>
          <p:sp>
            <p:nvSpPr>
              <p:cNvPr id="50" name="TextBox 49">
                <a:extLst>
                  <a:ext uri="{FF2B5EF4-FFF2-40B4-BE49-F238E27FC236}">
                    <a16:creationId xmlns:a16="http://schemas.microsoft.com/office/drawing/2014/main" id="{B3D2D29E-49AC-D300-37AF-55A1B68A3FED}"/>
                  </a:ext>
                </a:extLst>
              </p:cNvPr>
              <p:cNvSpPr txBox="1"/>
              <p:nvPr/>
            </p:nvSpPr>
            <p:spPr>
              <a:xfrm>
                <a:off x="1219899" y="5979427"/>
                <a:ext cx="1793148" cy="556246"/>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365" b="1" i="0" u="none" strike="noStrike" kern="1200" cap="none" spc="0" normalizeH="0" baseline="0" noProof="0" dirty="0">
                    <a:ln>
                      <a:noFill/>
                    </a:ln>
                    <a:solidFill>
                      <a:srgbClr val="000000"/>
                    </a:solidFill>
                    <a:effectLst/>
                    <a:uLnTx/>
                    <a:uFillTx/>
                    <a:latin typeface="Segoe UI"/>
                    <a:ea typeface="+mn-ea"/>
                    <a:cs typeface="+mn-cs"/>
                  </a:rPr>
                  <a:t>You at work</a:t>
                </a:r>
              </a:p>
            </p:txBody>
          </p:sp>
        </p:grpSp>
        <p:grpSp>
          <p:nvGrpSpPr>
            <p:cNvPr id="24" name="Group 23">
              <a:extLst>
                <a:ext uri="{FF2B5EF4-FFF2-40B4-BE49-F238E27FC236}">
                  <a16:creationId xmlns:a16="http://schemas.microsoft.com/office/drawing/2014/main" id="{5D737107-FDBB-0860-6E3D-6EF35FBB6AE2}"/>
                </a:ext>
              </a:extLst>
            </p:cNvPr>
            <p:cNvGrpSpPr/>
            <p:nvPr/>
          </p:nvGrpSpPr>
          <p:grpSpPr>
            <a:xfrm>
              <a:off x="1604522" y="5574713"/>
              <a:ext cx="907112" cy="624417"/>
              <a:chOff x="1604522" y="5574713"/>
              <a:chExt cx="655735" cy="624417"/>
            </a:xfrm>
          </p:grpSpPr>
          <p:cxnSp>
            <p:nvCxnSpPr>
              <p:cNvPr id="40" name="Straight Connector 39">
                <a:extLst>
                  <a:ext uri="{FF2B5EF4-FFF2-40B4-BE49-F238E27FC236}">
                    <a16:creationId xmlns:a16="http://schemas.microsoft.com/office/drawing/2014/main" id="{0605321B-7907-FA47-F2B4-4B4B2F2643A9}"/>
                  </a:ext>
                </a:extLst>
              </p:cNvPr>
              <p:cNvCxnSpPr>
                <a:cxnSpLocks/>
              </p:cNvCxnSpPr>
              <p:nvPr/>
            </p:nvCxnSpPr>
            <p:spPr>
              <a:xfrm flipH="1">
                <a:off x="1604522" y="6199130"/>
                <a:ext cx="655735" cy="0"/>
              </a:xfrm>
              <a:prstGeom prst="line">
                <a:avLst/>
              </a:prstGeom>
              <a:ln w="9525">
                <a:solidFill>
                  <a:srgbClr val="61D0BF"/>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5CA69B8-3FE4-9FAA-BDA2-56F29DE7547F}"/>
                  </a:ext>
                </a:extLst>
              </p:cNvPr>
              <p:cNvCxnSpPr>
                <a:cxnSpLocks/>
              </p:cNvCxnSpPr>
              <p:nvPr/>
            </p:nvCxnSpPr>
            <p:spPr>
              <a:xfrm flipH="1">
                <a:off x="1604522" y="5574713"/>
                <a:ext cx="655735" cy="0"/>
              </a:xfrm>
              <a:prstGeom prst="line">
                <a:avLst/>
              </a:prstGeom>
              <a:ln w="9525">
                <a:solidFill>
                  <a:srgbClr val="A6ADEF"/>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grpSp>
        <p:cxnSp>
          <p:nvCxnSpPr>
            <p:cNvPr id="25" name="Straight Connector 24">
              <a:extLst>
                <a:ext uri="{FF2B5EF4-FFF2-40B4-BE49-F238E27FC236}">
                  <a16:creationId xmlns:a16="http://schemas.microsoft.com/office/drawing/2014/main" id="{1494CCCB-C2B2-6968-582B-25A3988D7842}"/>
                </a:ext>
              </a:extLst>
            </p:cNvPr>
            <p:cNvCxnSpPr>
              <a:cxnSpLocks/>
            </p:cNvCxnSpPr>
            <p:nvPr/>
          </p:nvCxnSpPr>
          <p:spPr>
            <a:xfrm flipH="1">
              <a:off x="1604522" y="5894330"/>
              <a:ext cx="446528" cy="0"/>
            </a:xfrm>
            <a:prstGeom prst="line">
              <a:avLst/>
            </a:prstGeom>
            <a:ln w="9525">
              <a:solidFill>
                <a:srgbClr val="82C4F1"/>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grpSp>
          <p:nvGrpSpPr>
            <p:cNvPr id="26" name="Group 25">
              <a:extLst>
                <a:ext uri="{FF2B5EF4-FFF2-40B4-BE49-F238E27FC236}">
                  <a16:creationId xmlns:a16="http://schemas.microsoft.com/office/drawing/2014/main" id="{51DFB0DA-ACF5-D5C7-0108-72726B49C86D}"/>
                </a:ext>
              </a:extLst>
            </p:cNvPr>
            <p:cNvGrpSpPr/>
            <p:nvPr/>
          </p:nvGrpSpPr>
          <p:grpSpPr>
            <a:xfrm>
              <a:off x="2346143" y="5458784"/>
              <a:ext cx="729346" cy="244409"/>
              <a:chOff x="2229303" y="5458784"/>
              <a:chExt cx="729346" cy="244409"/>
            </a:xfrm>
          </p:grpSpPr>
          <p:sp>
            <p:nvSpPr>
              <p:cNvPr id="37" name="Rectangle: Rounded Corners 36">
                <a:extLst>
                  <a:ext uri="{FF2B5EF4-FFF2-40B4-BE49-F238E27FC236}">
                    <a16:creationId xmlns:a16="http://schemas.microsoft.com/office/drawing/2014/main" id="{1A71A842-9509-19CE-F0D3-1E72E63FA998}"/>
                  </a:ext>
                </a:extLst>
              </p:cNvPr>
              <p:cNvSpPr/>
              <p:nvPr/>
            </p:nvSpPr>
            <p:spPr bwMode="auto">
              <a:xfrm>
                <a:off x="2229303" y="5458784"/>
                <a:ext cx="704397" cy="244409"/>
              </a:xfrm>
              <a:prstGeom prst="roundRect">
                <a:avLst>
                  <a:gd name="adj" fmla="val 17596"/>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38" name="Picture 18" descr="A blue and purple clock with a black background&#10;&#10;AI-generated content may be incorrect.">
                <a:extLst>
                  <a:ext uri="{FF2B5EF4-FFF2-40B4-BE49-F238E27FC236}">
                    <a16:creationId xmlns:a16="http://schemas.microsoft.com/office/drawing/2014/main" id="{165FF879-8A1F-AFA8-95EA-0E2565017859}"/>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284845" y="5496005"/>
                <a:ext cx="166255" cy="166255"/>
              </a:xfrm>
              <a:prstGeom prst="rect">
                <a:avLst/>
              </a:prstGeom>
              <a:noFill/>
              <a:extLst>
                <a:ext uri="{909E8E84-426E-40DD-AFC4-6F175D3DCCD1}">
                  <a14:hiddenFill xmlns:a14="http://schemas.microsoft.com/office/drawing/2010/main">
                    <a:solidFill>
                      <a:srgbClr val="FFFFFF"/>
                    </a:solidFill>
                  </a14:hiddenFill>
                </a:ext>
              </a:extLst>
            </p:spPr>
          </p:pic>
          <p:sp>
            <p:nvSpPr>
              <p:cNvPr id="39" name="TextBox 38">
                <a:extLst>
                  <a:ext uri="{FF2B5EF4-FFF2-40B4-BE49-F238E27FC236}">
                    <a16:creationId xmlns:a16="http://schemas.microsoft.com/office/drawing/2014/main" id="{D313A686-0094-F175-04CC-760BDE64DB6C}"/>
                  </a:ext>
                </a:extLst>
              </p:cNvPr>
              <p:cNvSpPr txBox="1"/>
              <p:nvPr/>
            </p:nvSpPr>
            <p:spPr>
              <a:xfrm>
                <a:off x="2397169" y="5481150"/>
                <a:ext cx="561480" cy="219611"/>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418" rtl="0" eaLnBrk="1" fontAlgn="auto" latinLnBrk="0" hangingPunct="1">
                  <a:lnSpc>
                    <a:spcPct val="100000"/>
                  </a:lnSpc>
                  <a:spcBef>
                    <a:spcPts val="0"/>
                  </a:spcBef>
                  <a:spcAft>
                    <a:spcPts val="0"/>
                  </a:spcAft>
                  <a:buClrTx/>
                  <a:buSzTx/>
                  <a:buFontTx/>
                  <a:buNone/>
                  <a:tabLst/>
                  <a:defRPr/>
                </a:pPr>
                <a:r>
                  <a:rPr kumimoji="0" lang="en-US" sz="438" b="0" i="0" u="none" strike="noStrike" kern="1200" cap="none" spc="0" normalizeH="0" baseline="0" noProof="0" dirty="0">
                    <a:ln>
                      <a:noFill/>
                    </a:ln>
                    <a:solidFill>
                      <a:srgbClr val="000000"/>
                    </a:solidFill>
                    <a:effectLst/>
                    <a:uLnTx/>
                    <a:uFillTx/>
                    <a:latin typeface="Segoe UI Semibold"/>
                    <a:ea typeface="+mn-ea"/>
                    <a:cs typeface="+mn-cs"/>
                  </a:rPr>
                  <a:t>Memory​</a:t>
                </a:r>
              </a:p>
            </p:txBody>
          </p:sp>
        </p:grpSp>
        <p:grpSp>
          <p:nvGrpSpPr>
            <p:cNvPr id="27" name="Group 26">
              <a:extLst>
                <a:ext uri="{FF2B5EF4-FFF2-40B4-BE49-F238E27FC236}">
                  <a16:creationId xmlns:a16="http://schemas.microsoft.com/office/drawing/2014/main" id="{CA87A3CF-C88C-5E0E-10B5-FC47946CBD88}"/>
                </a:ext>
              </a:extLst>
            </p:cNvPr>
            <p:cNvGrpSpPr/>
            <p:nvPr/>
          </p:nvGrpSpPr>
          <p:grpSpPr>
            <a:xfrm>
              <a:off x="1830270" y="5767854"/>
              <a:ext cx="788352" cy="246357"/>
              <a:chOff x="1713430" y="5767854"/>
              <a:chExt cx="788352" cy="246357"/>
            </a:xfrm>
          </p:grpSpPr>
          <p:sp>
            <p:nvSpPr>
              <p:cNvPr id="33" name="Rectangle: Rounded Corners 32">
                <a:extLst>
                  <a:ext uri="{FF2B5EF4-FFF2-40B4-BE49-F238E27FC236}">
                    <a16:creationId xmlns:a16="http://schemas.microsoft.com/office/drawing/2014/main" id="{1298C92B-F165-E1E9-B8D1-3DACB6DFD5F6}"/>
                  </a:ext>
                </a:extLst>
              </p:cNvPr>
              <p:cNvSpPr/>
              <p:nvPr/>
            </p:nvSpPr>
            <p:spPr bwMode="auto">
              <a:xfrm>
                <a:off x="1713430" y="5767854"/>
                <a:ext cx="704397" cy="244409"/>
              </a:xfrm>
              <a:prstGeom prst="roundRect">
                <a:avLst>
                  <a:gd name="adj" fmla="val 1846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35" name="Picture 16">
                <a:extLst>
                  <a:ext uri="{FF2B5EF4-FFF2-40B4-BE49-F238E27FC236}">
                    <a16:creationId xmlns:a16="http://schemas.microsoft.com/office/drawing/2014/main" id="{D5E3F14A-85B7-024E-91BA-4A0C5DAF452F}"/>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785919" y="5814001"/>
                <a:ext cx="160845" cy="160845"/>
              </a:xfrm>
              <a:prstGeom prst="rect">
                <a:avLst/>
              </a:prstGeom>
              <a:noFill/>
              <a:extLst>
                <a:ext uri="{909E8E84-426E-40DD-AFC4-6F175D3DCCD1}">
                  <a14:hiddenFill xmlns:a14="http://schemas.microsoft.com/office/drawing/2010/main">
                    <a:solidFill>
                      <a:srgbClr val="FFFFFF"/>
                    </a:solidFill>
                  </a14:hiddenFill>
                </a:ext>
              </a:extLst>
            </p:spPr>
          </p:pic>
          <p:sp>
            <p:nvSpPr>
              <p:cNvPr id="36" name="TextBox 35">
                <a:extLst>
                  <a:ext uri="{FF2B5EF4-FFF2-40B4-BE49-F238E27FC236}">
                    <a16:creationId xmlns:a16="http://schemas.microsoft.com/office/drawing/2014/main" id="{100A0C17-F14E-3277-7772-0DE2DC7BDACA}"/>
                  </a:ext>
                </a:extLst>
              </p:cNvPr>
              <p:cNvSpPr txBox="1"/>
              <p:nvPr/>
            </p:nvSpPr>
            <p:spPr>
              <a:xfrm>
                <a:off x="1909267" y="5794600"/>
                <a:ext cx="592515" cy="219611"/>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418" rtl="0" eaLnBrk="1" fontAlgn="auto" latinLnBrk="0" hangingPunct="1">
                  <a:lnSpc>
                    <a:spcPct val="100000"/>
                  </a:lnSpc>
                  <a:spcBef>
                    <a:spcPts val="0"/>
                  </a:spcBef>
                  <a:spcAft>
                    <a:spcPts val="0"/>
                  </a:spcAft>
                  <a:buClrTx/>
                  <a:buSzTx/>
                  <a:buFontTx/>
                  <a:buNone/>
                  <a:tabLst/>
                  <a:defRPr/>
                </a:pPr>
                <a:r>
                  <a:rPr kumimoji="0" lang="en-US" sz="438" b="0" i="0" u="none" strike="noStrike" kern="1200" cap="none" spc="0" normalizeH="0" baseline="0" noProof="0" dirty="0">
                    <a:ln>
                      <a:noFill/>
                    </a:ln>
                    <a:solidFill>
                      <a:srgbClr val="000000"/>
                    </a:solidFill>
                    <a:effectLst/>
                    <a:uLnTx/>
                    <a:uFillTx/>
                    <a:latin typeface="Segoe UI Semibold"/>
                    <a:ea typeface="+mn-ea"/>
                    <a:cs typeface="+mn-cs"/>
                  </a:rPr>
                  <a:t>Inference</a:t>
                </a:r>
              </a:p>
            </p:txBody>
          </p:sp>
        </p:grpSp>
        <p:grpSp>
          <p:nvGrpSpPr>
            <p:cNvPr id="28" name="Group 27">
              <a:extLst>
                <a:ext uri="{FF2B5EF4-FFF2-40B4-BE49-F238E27FC236}">
                  <a16:creationId xmlns:a16="http://schemas.microsoft.com/office/drawing/2014/main" id="{98CC4A67-330F-1576-DF83-614A129EB6D6}"/>
                </a:ext>
              </a:extLst>
            </p:cNvPr>
            <p:cNvGrpSpPr/>
            <p:nvPr/>
          </p:nvGrpSpPr>
          <p:grpSpPr>
            <a:xfrm>
              <a:off x="2420356" y="6076925"/>
              <a:ext cx="629238" cy="245504"/>
              <a:chOff x="2303516" y="6076925"/>
              <a:chExt cx="629238" cy="245504"/>
            </a:xfrm>
          </p:grpSpPr>
          <p:sp>
            <p:nvSpPr>
              <p:cNvPr id="29" name="Rectangle: Rounded Corners 28">
                <a:extLst>
                  <a:ext uri="{FF2B5EF4-FFF2-40B4-BE49-F238E27FC236}">
                    <a16:creationId xmlns:a16="http://schemas.microsoft.com/office/drawing/2014/main" id="{367BFF53-095C-8B29-9A84-8237FE70AE63}"/>
                  </a:ext>
                </a:extLst>
              </p:cNvPr>
              <p:cNvSpPr/>
              <p:nvPr/>
            </p:nvSpPr>
            <p:spPr bwMode="auto">
              <a:xfrm>
                <a:off x="2303516" y="6076925"/>
                <a:ext cx="629238" cy="244409"/>
              </a:xfrm>
              <a:prstGeom prst="roundRect">
                <a:avLst>
                  <a:gd name="adj" fmla="val 19328"/>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30" name="Picture 14">
                <a:extLst>
                  <a:ext uri="{FF2B5EF4-FFF2-40B4-BE49-F238E27FC236}">
                    <a16:creationId xmlns:a16="http://schemas.microsoft.com/office/drawing/2014/main" id="{8FE87FC6-312F-3301-AA2E-DFDE3039865D}"/>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372784" y="6121893"/>
                <a:ext cx="154473" cy="154473"/>
              </a:xfrm>
              <a:prstGeom prst="rect">
                <a:avLst/>
              </a:prstGeom>
              <a:noFill/>
              <a:extLst>
                <a:ext uri="{909E8E84-426E-40DD-AFC4-6F175D3DCCD1}">
                  <a14:hiddenFill xmlns:a14="http://schemas.microsoft.com/office/drawing/2010/main">
                    <a:solidFill>
                      <a:srgbClr val="FFFFFF"/>
                    </a:solidFill>
                  </a14:hiddenFill>
                </a:ext>
              </a:extLst>
            </p:spPr>
          </p:pic>
          <p:sp>
            <p:nvSpPr>
              <p:cNvPr id="31" name="TextBox 30">
                <a:extLst>
                  <a:ext uri="{FF2B5EF4-FFF2-40B4-BE49-F238E27FC236}">
                    <a16:creationId xmlns:a16="http://schemas.microsoft.com/office/drawing/2014/main" id="{DA8A9252-340C-9E1B-93E2-4B5949CB47B5}"/>
                  </a:ext>
                </a:extLst>
              </p:cNvPr>
              <p:cNvSpPr txBox="1"/>
              <p:nvPr/>
            </p:nvSpPr>
            <p:spPr>
              <a:xfrm>
                <a:off x="2475886" y="6102818"/>
                <a:ext cx="437832" cy="219611"/>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418" rtl="0" eaLnBrk="1" fontAlgn="auto" latinLnBrk="0" hangingPunct="1">
                  <a:lnSpc>
                    <a:spcPct val="100000"/>
                  </a:lnSpc>
                  <a:spcBef>
                    <a:spcPts val="0"/>
                  </a:spcBef>
                  <a:spcAft>
                    <a:spcPts val="0"/>
                  </a:spcAft>
                  <a:buClrTx/>
                  <a:buSzTx/>
                  <a:buFontTx/>
                  <a:buNone/>
                  <a:tabLst/>
                  <a:defRPr/>
                </a:pPr>
                <a:r>
                  <a:rPr kumimoji="0" lang="en-US" sz="438" b="0" i="0" u="none" strike="noStrike" kern="1200" cap="none" spc="0" normalizeH="0" baseline="0" noProof="0" dirty="0">
                    <a:ln>
                      <a:noFill/>
                    </a:ln>
                    <a:solidFill>
                      <a:srgbClr val="000000"/>
                    </a:solidFill>
                    <a:effectLst/>
                    <a:uLnTx/>
                    <a:uFillTx/>
                    <a:latin typeface="Segoe UI Semibold"/>
                    <a:ea typeface="+mn-ea"/>
                    <a:cs typeface="+mn-cs"/>
                  </a:rPr>
                  <a:t>Data</a:t>
                </a:r>
              </a:p>
            </p:txBody>
          </p:sp>
        </p:grpSp>
      </p:grpSp>
      <p:pic>
        <p:nvPicPr>
          <p:cNvPr id="55" name="Picture 54">
            <a:extLst>
              <a:ext uri="{FF2B5EF4-FFF2-40B4-BE49-F238E27FC236}">
                <a16:creationId xmlns:a16="http://schemas.microsoft.com/office/drawing/2014/main" id="{837ABC3E-2BEE-C186-F758-4074C5913C4A}"/>
              </a:ext>
            </a:extLst>
          </p:cNvPr>
          <p:cNvPicPr>
            <a:picLocks noChangeAspect="1"/>
          </p:cNvPicPr>
          <p:nvPr/>
        </p:nvPicPr>
        <p:blipFill rotWithShape="1">
          <a:blip r:embed="rId13" cstate="hqprint">
            <a:extLst>
              <a:ext uri="{28A0092B-C50C-407E-A947-70E740481C1C}">
                <a14:useLocalDpi xmlns:a14="http://schemas.microsoft.com/office/drawing/2010/main"/>
              </a:ext>
            </a:extLst>
          </a:blip>
          <a:srcRect l="-8102" t="-130" r="-8102" b="-130"/>
          <a:stretch>
            <a:fillRect/>
          </a:stretch>
        </p:blipFill>
        <p:spPr>
          <a:xfrm>
            <a:off x="3315600" y="2568150"/>
            <a:ext cx="1689096" cy="771850"/>
          </a:xfrm>
          <a:prstGeom prst="roundRect">
            <a:avLst>
              <a:gd name="adj" fmla="val 5527"/>
            </a:avLst>
          </a:prstGeom>
          <a:solidFill>
            <a:srgbClr val="FFFFFF"/>
          </a:solidFill>
          <a:ln>
            <a:solidFill>
              <a:schemeClr val="bg1">
                <a:lumMod val="85000"/>
              </a:schemeClr>
            </a:solidFill>
          </a:ln>
          <a:effectLst/>
        </p:spPr>
      </p:pic>
      <p:sp>
        <p:nvSpPr>
          <p:cNvPr id="56" name="TextBox 55">
            <a:extLst>
              <a:ext uri="{FF2B5EF4-FFF2-40B4-BE49-F238E27FC236}">
                <a16:creationId xmlns:a16="http://schemas.microsoft.com/office/drawing/2014/main" id="{1847825C-B731-7DCF-E4D7-2331BF81B1B0}"/>
              </a:ext>
            </a:extLst>
          </p:cNvPr>
          <p:cNvSpPr txBox="1"/>
          <p:nvPr/>
        </p:nvSpPr>
        <p:spPr>
          <a:xfrm>
            <a:off x="2999640" y="3338808"/>
            <a:ext cx="2321017" cy="463222"/>
          </a:xfrm>
          <a:prstGeom prst="rect">
            <a:avLst/>
          </a:prstGeom>
          <a:noFill/>
        </p:spPr>
        <p:txBody>
          <a:bodyPr wrap="square" lIns="36121" rIns="36121">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803" b="0" i="0" u="none" strike="noStrike" kern="1200" cap="none" spc="0" normalizeH="0" baseline="0" noProof="0" dirty="0">
                <a:ln>
                  <a:noFill/>
                </a:ln>
                <a:solidFill>
                  <a:srgbClr val="000000"/>
                </a:solidFill>
                <a:effectLst/>
                <a:uLnTx/>
                <a:uFillTx/>
                <a:latin typeface="Segoe UI"/>
                <a:ea typeface="+mn-ea"/>
                <a:cs typeface="+mn-cs"/>
              </a:rPr>
              <a:t>Additional functionalities such as Copilot Search, Copilot Notebooks, inbox prioritization, rewriting, PowerPoint narrative builder, etc.</a:t>
            </a:r>
          </a:p>
        </p:txBody>
      </p:sp>
      <p:pic>
        <p:nvPicPr>
          <p:cNvPr id="1025" name="Picture 1024">
            <a:extLst>
              <a:ext uri="{FF2B5EF4-FFF2-40B4-BE49-F238E27FC236}">
                <a16:creationId xmlns:a16="http://schemas.microsoft.com/office/drawing/2014/main" id="{74827F92-2927-96BC-D722-73532613E9B2}"/>
              </a:ext>
            </a:extLst>
          </p:cNvPr>
          <p:cNvPicPr>
            <a:picLocks noChangeAspect="1"/>
          </p:cNvPicPr>
          <p:nvPr/>
        </p:nvPicPr>
        <p:blipFill>
          <a:blip r:embed="rId14"/>
          <a:srcRect t="2996" b="12951"/>
          <a:stretch>
            <a:fillRect/>
          </a:stretch>
        </p:blipFill>
        <p:spPr>
          <a:xfrm>
            <a:off x="527238" y="6170022"/>
            <a:ext cx="1992609" cy="936553"/>
          </a:xfrm>
          <a:prstGeom prst="rect">
            <a:avLst/>
          </a:prstGeom>
          <a:ln>
            <a:solidFill>
              <a:schemeClr val="bg1">
                <a:lumMod val="85000"/>
              </a:schemeClr>
            </a:solidFill>
          </a:ln>
          <a:effectLst>
            <a:outerShdw blurRad="50800" dist="38100" algn="l" rotWithShape="0">
              <a:prstClr val="black">
                <a:alpha val="10000"/>
              </a:prstClr>
            </a:outerShdw>
          </a:effectLst>
        </p:spPr>
      </p:pic>
      <p:pic>
        <p:nvPicPr>
          <p:cNvPr id="1028" name="Picture 1027">
            <a:extLst>
              <a:ext uri="{FF2B5EF4-FFF2-40B4-BE49-F238E27FC236}">
                <a16:creationId xmlns:a16="http://schemas.microsoft.com/office/drawing/2014/main" id="{B5F7891B-4BD4-0460-C0B2-BCEF58C9C10D}"/>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437730" y="4336211"/>
            <a:ext cx="2181784" cy="808831"/>
          </a:xfrm>
          <a:prstGeom prst="rect">
            <a:avLst/>
          </a:prstGeom>
        </p:spPr>
      </p:pic>
    </p:spTree>
    <p:extLst>
      <p:ext uri="{BB962C8B-B14F-4D97-AF65-F5344CB8AC3E}">
        <p14:creationId xmlns:p14="http://schemas.microsoft.com/office/powerpoint/2010/main" val="5027571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2E5DE"/>
        </a:solidFill>
        <a:effectLst/>
      </p:bgPr>
    </p:bg>
    <p:spTree>
      <p:nvGrpSpPr>
        <p:cNvPr id="1" name="">
          <a:extLst>
            <a:ext uri="{FF2B5EF4-FFF2-40B4-BE49-F238E27FC236}">
              <a16:creationId xmlns:a16="http://schemas.microsoft.com/office/drawing/2014/main" id="{47F250A4-1DFA-ABF6-6D80-80612A54E7EB}"/>
            </a:ext>
          </a:extLst>
        </p:cNvPr>
        <p:cNvGrpSpPr/>
        <p:nvPr/>
      </p:nvGrpSpPr>
      <p:grpSpPr>
        <a:xfrm>
          <a:off x="0" y="0"/>
          <a:ext cx="0" cy="0"/>
          <a:chOff x="0" y="0"/>
          <a:chExt cx="0" cy="0"/>
        </a:xfrm>
      </p:grpSpPr>
      <p:sp>
        <p:nvSpPr>
          <p:cNvPr id="4" name="Rounded Rectangle 53">
            <a:extLst>
              <a:ext uri="{FF2B5EF4-FFF2-40B4-BE49-F238E27FC236}">
                <a16:creationId xmlns:a16="http://schemas.microsoft.com/office/drawing/2014/main" id="{C238211C-1CD5-37EA-A812-C16F6FFAC710}"/>
              </a:ext>
            </a:extLst>
          </p:cNvPr>
          <p:cNvSpPr>
            <a:spLocks/>
          </p:cNvSpPr>
          <p:nvPr/>
        </p:nvSpPr>
        <p:spPr bwMode="auto">
          <a:xfrm>
            <a:off x="379099" y="974127"/>
            <a:ext cx="4912362" cy="6042380"/>
          </a:xfrm>
          <a:prstGeom prst="roundRect">
            <a:avLst>
              <a:gd name="adj" fmla="val 1963"/>
            </a:avLst>
          </a:prstGeom>
          <a:solidFill>
            <a:srgbClr val="FFFFFF">
              <a:alpha val="80000"/>
            </a:srgbClr>
          </a:solidFill>
          <a:effectLst>
            <a:outerShdw blurRad="127000" dist="38100" dir="2700000" algn="tl" rotWithShape="0">
              <a:prstClr val="black">
                <a:alpha val="11000"/>
              </a:prstClr>
            </a:outerShdw>
          </a:effectLst>
        </p:spPr>
        <p:txBody>
          <a:bodyPr rot="0" spcFirstLastPara="0" vert="horz" wrap="square" lIns="133323" tIns="106659" rIns="133323" bIns="106659" numCol="1" spcCol="0" rtlCol="0" fromWordArt="0" anchor="t" anchorCtr="0" forceAA="0" compatLnSpc="1">
            <a:prstTxWarp prst="textNoShape">
              <a:avLst/>
            </a:prstTxWarp>
            <a:noAutofit/>
          </a:bodyPr>
          <a:lstStyle/>
          <a:p>
            <a:pPr marL="0" marR="0" lvl="0" indent="0" algn="l" defTabSz="679815" rtl="0" eaLnBrk="1" fontAlgn="base" latinLnBrk="0" hangingPunct="1">
              <a:lnSpc>
                <a:spcPct val="100000"/>
              </a:lnSpc>
              <a:spcBef>
                <a:spcPct val="0"/>
              </a:spcBef>
              <a:spcAft>
                <a:spcPct val="0"/>
              </a:spcAft>
              <a:buClrTx/>
              <a:buSzTx/>
              <a:buFontTx/>
              <a:buNone/>
              <a:tabLst/>
              <a:defRPr/>
            </a:pPr>
            <a:endParaRPr kumimoji="0" lang="en-US" sz="1458"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5" name="Rectangle: Top Corners Rounded 4">
            <a:extLst>
              <a:ext uri="{FF2B5EF4-FFF2-40B4-BE49-F238E27FC236}">
                <a16:creationId xmlns:a16="http://schemas.microsoft.com/office/drawing/2014/main" id="{99720CF6-7FD5-4F76-4F07-CFC44843AA6D}"/>
              </a:ext>
            </a:extLst>
          </p:cNvPr>
          <p:cNvSpPr/>
          <p:nvPr/>
        </p:nvSpPr>
        <p:spPr bwMode="auto">
          <a:xfrm flipH="1">
            <a:off x="379094" y="974125"/>
            <a:ext cx="4912363" cy="370419"/>
          </a:xfrm>
          <a:prstGeom prst="round2SameRect">
            <a:avLst>
              <a:gd name="adj1" fmla="val 27828"/>
              <a:gd name="adj2" fmla="val 0"/>
            </a:avLst>
          </a:prstGeom>
          <a:solidFill>
            <a:srgbClr val="8A226F"/>
          </a:solidFill>
          <a:effectLst/>
        </p:spPr>
        <p:txBody>
          <a:bodyPr vert="horz" wrap="square" lIns="0" tIns="0" rIns="0" bIns="0" rtlCol="0" anchor="ctr" anchorCtr="0">
            <a:normAutofit/>
          </a:bodyPr>
          <a:lstStyle/>
          <a:p>
            <a:pPr marL="0" marR="0" lvl="0" indent="0" algn="ctr" defTabSz="932544" rtl="0" eaLnBrk="1" fontAlgn="auto" latinLnBrk="0" hangingPunct="1">
              <a:lnSpc>
                <a:spcPct val="100000"/>
              </a:lnSpc>
              <a:spcBef>
                <a:spcPct val="20000"/>
              </a:spcBef>
              <a:spcAft>
                <a:spcPts val="0"/>
              </a:spcAft>
              <a:buClrTx/>
              <a:buSzPct val="90000"/>
              <a:buFontTx/>
              <a:buNone/>
              <a:tabLst/>
              <a:defRPr/>
            </a:pPr>
            <a:endParaRPr kumimoji="0" lang="en-US" sz="1200" b="1" i="0" u="none" strike="noStrike" kern="1200" cap="none" spc="0" normalizeH="0" baseline="0" noProof="0">
              <a:ln>
                <a:noFill/>
              </a:ln>
              <a:solidFill>
                <a:srgbClr val="FFFFFF"/>
              </a:solidFill>
              <a:effectLst/>
              <a:uLnTx/>
              <a:uFillTx/>
              <a:latin typeface="Segoe UI Semibold" panose="020B0502040204020203" pitchFamily="34" charset="0"/>
              <a:ea typeface="+mn-ea"/>
              <a:cs typeface="Segoe UI Semibold" panose="020B0502040204020203" pitchFamily="34" charset="0"/>
            </a:endParaRPr>
          </a:p>
        </p:txBody>
      </p:sp>
      <p:graphicFrame>
        <p:nvGraphicFramePr>
          <p:cNvPr id="3" name="Table 0">
            <a:extLst>
              <a:ext uri="{FF2B5EF4-FFF2-40B4-BE49-F238E27FC236}">
                <a16:creationId xmlns:a16="http://schemas.microsoft.com/office/drawing/2014/main" id="{0FEC6609-74A0-98E3-AB41-F1F68091B391}"/>
              </a:ext>
            </a:extLst>
          </p:cNvPr>
          <p:cNvGraphicFramePr>
            <a:graphicFrameLocks noGrp="1"/>
          </p:cNvGraphicFramePr>
          <p:nvPr/>
        </p:nvGraphicFramePr>
        <p:xfrm>
          <a:off x="379101" y="974134"/>
          <a:ext cx="4912363" cy="6042366"/>
        </p:xfrm>
        <a:graphic>
          <a:graphicData uri="http://schemas.openxmlformats.org/drawingml/2006/table">
            <a:tbl>
              <a:tblPr firstRow="1" bandRow="1">
                <a:effectLst/>
                <a:tableStyleId>{2D5ABB26-0587-4C30-8999-92F81FD0307C}</a:tableStyleId>
              </a:tblPr>
              <a:tblGrid>
                <a:gridCol w="3703167">
                  <a:extLst>
                    <a:ext uri="{9D8B030D-6E8A-4147-A177-3AD203B41FA5}">
                      <a16:colId xmlns:a16="http://schemas.microsoft.com/office/drawing/2014/main" val="20000"/>
                    </a:ext>
                  </a:extLst>
                </a:gridCol>
                <a:gridCol w="604598">
                  <a:extLst>
                    <a:ext uri="{9D8B030D-6E8A-4147-A177-3AD203B41FA5}">
                      <a16:colId xmlns:a16="http://schemas.microsoft.com/office/drawing/2014/main" val="20001"/>
                    </a:ext>
                  </a:extLst>
                </a:gridCol>
                <a:gridCol w="604598">
                  <a:extLst>
                    <a:ext uri="{9D8B030D-6E8A-4147-A177-3AD203B41FA5}">
                      <a16:colId xmlns:a16="http://schemas.microsoft.com/office/drawing/2014/main" val="20002"/>
                    </a:ext>
                  </a:extLst>
                </a:gridCol>
              </a:tblGrid>
              <a:tr h="374082">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endParaRPr lang="en-US" sz="800" b="1" i="0" u="none" strike="noStrike" kern="1200" cap="none" spc="0" normalizeH="0" baseline="0">
                        <a:solidFill>
                          <a:schemeClr val="bg1">
                            <a:lumMod val="100000"/>
                          </a:schemeClr>
                        </a:solidFill>
                        <a:latin typeface="Segoe UI Semibold" panose="020B0702040204020203" pitchFamily="34" charset="0"/>
                        <a:ea typeface="+mn-ea"/>
                        <a:cs typeface="Segoe UI Semibold" panose="020B0702040204020203" pitchFamily="34" charset="0"/>
                        <a:sym typeface=""/>
                      </a:endParaRPr>
                    </a:p>
                  </a:txBody>
                  <a:tcPr marL="89981" marR="35993" marT="7619" marB="0" anchor="ctr">
                    <a:lnB w="6350" cap="flat" cmpd="sng" algn="ctr">
                      <a:solidFill>
                        <a:schemeClr val="bg1">
                          <a:lumMod val="85000"/>
                        </a:schemeClr>
                      </a:solidFill>
                      <a:prstDash val="solid"/>
                      <a:round/>
                      <a:headEnd type="none" w="med" len="med"/>
                      <a:tailEnd type="none" w="med" len="med"/>
                    </a:lnB>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800" b="1" i="0" u="none" strike="noStrike" kern="1200" cap="none" spc="0" normalizeH="0" baseline="0">
                          <a:solidFill>
                            <a:schemeClr val="bg1">
                              <a:lumMod val="100000"/>
                            </a:schemeClr>
                          </a:solidFill>
                          <a:latin typeface="Segoe UI Semibold" panose="020B0702040204020203" pitchFamily="34" charset="0"/>
                          <a:ea typeface="+mn-ea"/>
                          <a:cs typeface="Segoe UI Semibold" panose="020B0702040204020203" pitchFamily="34" charset="0"/>
                          <a:sym typeface=""/>
                        </a:rPr>
                        <a:t>w/o Copilot license</a:t>
                      </a:r>
                    </a:p>
                  </a:txBody>
                  <a:tcPr marL="7619" marR="7619" marT="7619" marB="0" anchor="ctr">
                    <a:lnB w="6350" cap="flat" cmpd="sng" algn="ctr">
                      <a:solidFill>
                        <a:schemeClr val="bg1">
                          <a:lumMod val="85000"/>
                        </a:schemeClr>
                      </a:solidFill>
                      <a:prstDash val="solid"/>
                      <a:round/>
                      <a:headEnd type="none" w="med" len="med"/>
                      <a:tailEnd type="none" w="med" len="med"/>
                    </a:lnB>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auto" hangingPunct="1">
                        <a:lnSpc>
                          <a:spcPct val="100000"/>
                        </a:lnSpc>
                        <a:spcBef>
                          <a:spcPts val="0"/>
                        </a:spcBef>
                        <a:spcAft>
                          <a:spcPts val="0"/>
                        </a:spcAft>
                        <a:buFontTx/>
                        <a:buNone/>
                      </a:pPr>
                      <a:r>
                        <a:rPr lang="en-US" sz="800" b="0" i="0" u="none" strike="noStrike" kern="1200" cap="none" spc="0" normalizeH="0" baseline="0">
                          <a:solidFill>
                            <a:schemeClr val="bg1">
                              <a:lumMod val="100000"/>
                            </a:schemeClr>
                          </a:solidFill>
                          <a:latin typeface="Segoe UI Semibold" panose="020B0702040204020203" pitchFamily="34" charset="0"/>
                          <a:ea typeface="Calibri" panose="020F0502020204030204" pitchFamily="34" charset="0"/>
                          <a:cs typeface="Segoe UI Semibold" panose="020B0702040204020203" pitchFamily="34" charset="0"/>
                          <a:sym typeface=""/>
                        </a:rPr>
                        <a:t>$30 </a:t>
                      </a:r>
                      <a:br>
                        <a:rPr lang="en-US" sz="800" b="0" i="0" u="none" strike="noStrike" kern="1200" cap="none" spc="0" normalizeH="0" baseline="0">
                          <a:solidFill>
                            <a:schemeClr val="bg1">
                              <a:lumMod val="100000"/>
                            </a:schemeClr>
                          </a:solidFill>
                          <a:latin typeface="Segoe UI Semibold" panose="020B0702040204020203" pitchFamily="34" charset="0"/>
                          <a:ea typeface="Calibri" panose="020F0502020204030204" pitchFamily="34" charset="0"/>
                          <a:cs typeface="Segoe UI Semibold" panose="020B0702040204020203" pitchFamily="34" charset="0"/>
                          <a:sym typeface=""/>
                        </a:rPr>
                      </a:br>
                      <a:r>
                        <a:rPr lang="en-US" sz="800" b="0" i="0" u="none" strike="noStrike" kern="1200" cap="none" spc="0" normalizeH="0" baseline="0" err="1">
                          <a:solidFill>
                            <a:schemeClr val="bg1">
                              <a:lumMod val="100000"/>
                            </a:schemeClr>
                          </a:solidFill>
                          <a:latin typeface="Segoe UI Semibold" panose="020B0702040204020203" pitchFamily="34" charset="0"/>
                          <a:ea typeface="Calibri" panose="020F0502020204030204" pitchFamily="34" charset="0"/>
                          <a:cs typeface="Segoe UI Semibold" panose="020B0702040204020203" pitchFamily="34" charset="0"/>
                          <a:sym typeface=""/>
                        </a:rPr>
                        <a:t>pu</a:t>
                      </a:r>
                      <a:r>
                        <a:rPr lang="en-US" sz="800" b="0" i="0" u="none" strike="noStrike" kern="1200" cap="none" spc="0" normalizeH="0" baseline="0">
                          <a:solidFill>
                            <a:schemeClr val="bg1">
                              <a:lumMod val="100000"/>
                            </a:schemeClr>
                          </a:solidFill>
                          <a:latin typeface="Segoe UI Semibold" panose="020B0702040204020203" pitchFamily="34" charset="0"/>
                          <a:ea typeface="Calibri" panose="020F0502020204030204" pitchFamily="34" charset="0"/>
                          <a:cs typeface="Segoe UI Semibold" panose="020B0702040204020203" pitchFamily="34" charset="0"/>
                          <a:sym typeface=""/>
                        </a:rPr>
                        <a:t>/pm</a:t>
                      </a:r>
                    </a:p>
                  </a:txBody>
                  <a:tcPr marL="7619" marR="7619" marT="7619" marB="0" anchor="ctr">
                    <a:lnB w="635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0000"/>
                  </a:ext>
                </a:extLst>
              </a:tr>
              <a:tr h="170014">
                <a:tc gridSpan="3">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Grounding </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lumMod val="100000"/>
                        <a:alpha val="21000"/>
                      </a:srgbClr>
                    </a:solidFill>
                  </a:tcPr>
                </a:tc>
                <a:tc hMerge="1">
                  <a:txBody>
                    <a:bodyPr/>
                    <a:lstStyle/>
                    <a:p>
                      <a:pPr marL="0" indent="0">
                        <a:buNone/>
                      </a:pPr>
                      <a:endParaRPr lang="en-US" sz="1200"/>
                    </a:p>
                  </a:txBody>
                  <a:tcPr>
                    <a:lnR w="3810" cap="flat" cmpd="sng" algn="ctr">
                      <a:solidFill>
                        <a:srgbClr val="D5D8DC"/>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2E5090"/>
                    </a:solidFill>
                  </a:tcPr>
                </a:tc>
                <a:tc hMerge="1">
                  <a:txBody>
                    <a:bodyPr/>
                    <a:lstStyle/>
                    <a:p>
                      <a:pPr marL="0" indent="0">
                        <a:buNone/>
                      </a:pPr>
                      <a:endParaRPr lang="en-US" sz="1200"/>
                    </a:p>
                  </a:txBody>
                  <a:tcPr>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2E5090"/>
                    </a:solidFill>
                  </a:tcPr>
                </a:tc>
                <a:extLst>
                  <a:ext uri="{0D108BD9-81ED-4DB2-BD59-A6C34878D82A}">
                    <a16:rowId xmlns:a16="http://schemas.microsoft.com/office/drawing/2014/main" val="10001"/>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Web data, referenced files, uploaded files</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3810" cap="flat" cmpd="sng" algn="ctr">
                      <a:solidFill>
                        <a:srgbClr val="D5D8DC"/>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2"/>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Work IQ</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5"/>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Use Copilot connectors to access external data sources</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rgbClr val="C03BC4"/>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C03BC4"/>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6"/>
                  </a:ext>
                </a:extLst>
              </a:tr>
              <a:tr h="17001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Models</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13"/>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Latest OpenAI  models: GPT-5.X</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Standard</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Priority</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14"/>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a:solidFill>
                            <a:schemeClr val="tx2"/>
                          </a:solidFill>
                          <a:latin typeface="Segoe UI" panose="020B0502040204020203" pitchFamily="34" charset="0"/>
                          <a:ea typeface="+mn-ea"/>
                          <a:cs typeface="Segoe UI" panose="020B0502040204020203" pitchFamily="34" charset="0"/>
                        </a:rPr>
                        <a:t>Model choice</a:t>
                      </a:r>
                      <a:endParaRPr lang="en-US" sz="700" b="0" kern="1200">
                        <a:solidFill>
                          <a:schemeClr val="tx2"/>
                        </a:solidFill>
                        <a:highlight>
                          <a:srgbClr val="FFFF00"/>
                        </a:highlight>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15"/>
                  </a:ext>
                </a:extLst>
              </a:tr>
              <a:tr h="17001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Microsoft 365 Copilot App</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l"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22"/>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Chat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3"/>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Search</a:t>
                      </a:r>
                      <a:r>
                        <a:rPr lang="en-US" sz="700" b="0" baseline="30000">
                          <a:solidFill>
                            <a:schemeClr val="tx2"/>
                          </a:solidFill>
                          <a:latin typeface="Segoe UI" panose="020B0502040204020203" pitchFamily="34" charset="0"/>
                          <a:ea typeface="+mn-ea"/>
                          <a:cs typeface="Segoe UI" panose="020B0502040204020203" pitchFamily="34" charset="0"/>
                        </a:rPr>
                        <a:t>2</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rPr>
                        <a:t>ο</a:t>
                      </a:r>
                      <a:endParaRPr kumimoji="0" lang="en-US"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631851502"/>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Notebooks</a:t>
                      </a:r>
                      <a:endParaRPr lang="en-US" sz="700" b="0" kern="120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229389412"/>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Create</a:t>
                      </a:r>
                      <a:r>
                        <a:rPr lang="en-US" sz="700" b="0" baseline="30000">
                          <a:solidFill>
                            <a:schemeClr val="tx2"/>
                          </a:solidFill>
                          <a:latin typeface="Segoe UI" panose="020B0502040204020203" pitchFamily="34" charset="0"/>
                          <a:ea typeface="+mn-ea"/>
                          <a:cs typeface="Segoe UI" panose="020B0502040204020203" pitchFamily="34" charset="0"/>
                        </a:rPr>
                        <a:t>3</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Standard</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Priority</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148607376"/>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Memory and personalization</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934177110"/>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Voice on mobile, desktop, web</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684862812"/>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Sora 2</a:t>
                      </a:r>
                      <a:r>
                        <a:rPr lang="en-US" sz="700" b="0" baseline="30000">
                          <a:solidFill>
                            <a:schemeClr val="tx2"/>
                          </a:solidFill>
                          <a:latin typeface="Segoe UI" panose="020B0502040204020203" pitchFamily="34" charset="0"/>
                          <a:ea typeface="+mn-ea"/>
                          <a:cs typeface="Segoe UI" panose="020B0502040204020203" pitchFamily="34" charset="0"/>
                        </a:rPr>
                        <a:t>4</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4"/>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Copilot Mode in Edge</a:t>
                      </a:r>
                      <a:r>
                        <a:rPr lang="en-US" sz="700" b="0" baseline="30000">
                          <a:solidFill>
                            <a:schemeClr val="tx2"/>
                          </a:solidFill>
                          <a:latin typeface="Segoe UI" panose="020B0502040204020203" pitchFamily="34" charset="0"/>
                          <a:ea typeface="+mn-ea"/>
                          <a:cs typeface="Segoe UI" panose="020B0502040204020203" pitchFamily="34" charset="0"/>
                        </a:rPr>
                        <a:t>5</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rPr>
                        <a:t>ο</a:t>
                      </a:r>
                      <a:r>
                        <a:rPr kumimoji="0" lang="en-US" sz="700" b="0" i="0" u="none" strike="noStrike" kern="1200" cap="none" spc="0" normalizeH="0" baseline="0">
                          <a:ln>
                            <a:noFill/>
                          </a:ln>
                          <a:solidFill>
                            <a:srgbClr val="C03BC4"/>
                          </a:solidFill>
                          <a:effectLst/>
                          <a:uLnTx/>
                          <a:uFillTx/>
                          <a:latin typeface="Segoe UI Semibold" panose="020B0702040204020203" pitchFamily="34" charset="0"/>
                          <a:ea typeface="+mn-ea"/>
                          <a:cs typeface="Segoe UI Semibold" panose="020B0702040204020203" pitchFamily="34" charset="0"/>
                        </a:rPr>
                        <a:t> </a:t>
                      </a:r>
                      <a:endParaRPr kumimoji="0" lang="en-US"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5"/>
                  </a:ext>
                </a:extLst>
              </a:tr>
              <a:tr h="17001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M365 Apps</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l"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29"/>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Copilot in Outlook</a:t>
                      </a:r>
                      <a:r>
                        <a:rPr lang="en-US" sz="700" b="0" baseline="30000">
                          <a:solidFill>
                            <a:schemeClr val="tx2"/>
                          </a:solidFill>
                          <a:latin typeface="Segoe UI" panose="020B0502040204020203" pitchFamily="34" charset="0"/>
                          <a:ea typeface="+mn-ea"/>
                          <a:cs typeface="Segoe UI" panose="020B0502040204020203" pitchFamily="34" charset="0"/>
                        </a:rPr>
                        <a:t>6</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Standard</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Priority</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0"/>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a:solidFill>
                            <a:schemeClr val="tx2"/>
                          </a:solidFill>
                          <a:latin typeface="Segoe UI" panose="020B0502040204020203" pitchFamily="34" charset="0"/>
                          <a:ea typeface="+mn-ea"/>
                          <a:cs typeface="Segoe UI" panose="020B0502040204020203" pitchFamily="34" charset="0"/>
                        </a:rPr>
                        <a:t>Word, Excel, and PowerPoint agents accessed via Chat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Standard</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Priority</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1"/>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baseline="0">
                          <a:solidFill>
                            <a:schemeClr val="tx2"/>
                          </a:solidFill>
                          <a:latin typeface="Segoe UI" panose="020B0502040204020203" pitchFamily="34" charset="0"/>
                          <a:ea typeface="+mn-ea"/>
                          <a:cs typeface="Segoe UI" panose="020B0502040204020203" pitchFamily="34" charset="0"/>
                        </a:rPr>
                        <a:t>Copilot in Word, Excel, PowerPoint, and OneNote</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29232050"/>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baseline="0">
                          <a:solidFill>
                            <a:schemeClr val="tx2"/>
                          </a:solidFill>
                          <a:latin typeface="Segoe UI" panose="020B0502040204020203" pitchFamily="34" charset="0"/>
                          <a:ea typeface="+mn-ea"/>
                          <a:cs typeface="Segoe UI" panose="020B0502040204020203" pitchFamily="34" charset="0"/>
                        </a:rPr>
                        <a:t>Copilot in Teams</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2"/>
                  </a:ext>
                </a:extLst>
              </a:tr>
              <a:tr h="17001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Agents &amp; tools</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33"/>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a:solidFill>
                            <a:schemeClr val="tx2"/>
                          </a:solidFill>
                          <a:latin typeface="Segoe UI" panose="020B0502040204020203" pitchFamily="34" charset="0"/>
                          <a:ea typeface="+mn-ea"/>
                          <a:cs typeface="Segoe UI" panose="020B0502040204020203" pitchFamily="34" charset="0"/>
                        </a:rPr>
                        <a:t>Pre-built Microsoft agents, including Researcher, Analyst, and Facilitator</a:t>
                      </a:r>
                      <a:r>
                        <a:rPr lang="en-US" sz="700" b="0" kern="1200" baseline="30000" noProof="0">
                          <a:solidFill>
                            <a:schemeClr val="tx2"/>
                          </a:solidFill>
                          <a:latin typeface="Segoe UI" panose="020B0502040204020203" pitchFamily="34" charset="0"/>
                          <a:ea typeface="+mn-ea"/>
                          <a:cs typeface="Segoe UI" panose="020B0502040204020203" pitchFamily="34" charset="0"/>
                        </a:rPr>
                        <a:t>7</a:t>
                      </a:r>
                      <a:endParaRPr lang="en-US" sz="700" b="0" kern="120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4"/>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a:solidFill>
                            <a:schemeClr val="tx2"/>
                          </a:solidFill>
                          <a:latin typeface="Segoe UI" panose="020B0502040204020203" pitchFamily="34" charset="0"/>
                          <a:ea typeface="+mn-ea"/>
                          <a:cs typeface="Segoe UI" panose="020B0502040204020203" pitchFamily="34" charset="0"/>
                        </a:rPr>
                        <a:t>Sales, Service, and Finance agents</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064244451"/>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noProof="0">
                          <a:solidFill>
                            <a:schemeClr val="tx2"/>
                          </a:solidFill>
                          <a:latin typeface="Segoe UI" panose="020B0502040204020203" pitchFamily="34" charset="0"/>
                          <a:ea typeface="+mn-ea"/>
                          <a:cs typeface="Segoe UI" panose="020B0502040204020203" pitchFamily="34" charset="0"/>
                        </a:rPr>
                        <a:t>Agent creation</a:t>
                      </a:r>
                      <a:r>
                        <a:rPr lang="en-US" sz="700" b="0">
                          <a:solidFill>
                            <a:schemeClr val="tx2"/>
                          </a:solidFill>
                          <a:latin typeface="Segoe UI" panose="020B0502040204020203" pitchFamily="34" charset="0"/>
                          <a:ea typeface="+mn-ea"/>
                          <a:cs typeface="Segoe UI" panose="020B0502040204020203" pitchFamily="34" charset="0"/>
                        </a:rPr>
                        <a:t> </a:t>
                      </a:r>
                      <a:r>
                        <a:rPr lang="en-US" sz="700" b="0" kern="1200" noProof="0">
                          <a:solidFill>
                            <a:schemeClr val="tx2"/>
                          </a:solidFill>
                          <a:latin typeface="Segoe UI" panose="020B0502040204020203" pitchFamily="34" charset="0"/>
                          <a:ea typeface="+mn-ea"/>
                          <a:cs typeface="Segoe UI" panose="020B0502040204020203" pitchFamily="34" charset="0"/>
                        </a:rPr>
                        <a:t>using Agent Builder and Copilot Studio</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178201745"/>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a:solidFill>
                            <a:schemeClr val="tx2"/>
                          </a:solidFill>
                          <a:latin typeface="Segoe UI" panose="020B0502040204020203" pitchFamily="34" charset="0"/>
                          <a:ea typeface="+mn-ea"/>
                          <a:cs typeface="Segoe UI" panose="020B0502040204020203" pitchFamily="34" charset="0"/>
                        </a:rPr>
                        <a:t>App Builder and Workflows agents</a:t>
                      </a:r>
                      <a:r>
                        <a:rPr lang="en-US" sz="700" b="0" kern="1200" baseline="30000">
                          <a:solidFill>
                            <a:schemeClr val="tx2"/>
                          </a:solidFill>
                          <a:latin typeface="Segoe UI" panose="020B0502040204020203" pitchFamily="34" charset="0"/>
                          <a:ea typeface="+mn-ea"/>
                          <a:cs typeface="Segoe UI" panose="020B0502040204020203" pitchFamily="34" charset="0"/>
                        </a:rPr>
                        <a:t>4</a:t>
                      </a:r>
                      <a:endParaRPr lang="en-US" sz="700" b="0" kern="120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5"/>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noProof="0">
                          <a:solidFill>
                            <a:schemeClr val="tx2"/>
                          </a:solidFill>
                          <a:latin typeface="Segoe UI" panose="020B0502040204020203" pitchFamily="34" charset="0"/>
                          <a:ea typeface="+mn-ea"/>
                          <a:cs typeface="Segoe UI" panose="020B0502040204020203" pitchFamily="34" charset="0"/>
                        </a:rPr>
                        <a:t>Agent usage </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rgbClr val="C03BC4"/>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C03BC4"/>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6"/>
                  </a:ext>
                </a:extLst>
              </a:tr>
              <a:tr h="170014">
                <a:tc gridSpan="3">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IN"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Security and management</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hMerge="1">
                  <a:txBody>
                    <a:bodyPr/>
                    <a:lstStyle/>
                    <a:p>
                      <a:pPr marL="0" indent="0" algn="ctr">
                        <a:buNone/>
                      </a:pPr>
                      <a:endParaRPr lang="en-US" sz="600">
                        <a:latin typeface="Segoe UI" panose="020B0502040204020203" pitchFamily="34" charset="0"/>
                        <a:ea typeface="Calibri" charset="0"/>
                        <a:cs typeface="Segoe UI" panose="020B0502040204020203" pitchFamily="34" charset="0"/>
                      </a:endParaRPr>
                    </a:p>
                  </a:txBody>
                  <a:tcPr marL="45720" marR="45720" anchor="ctr">
                    <a:lnR w="3810" cap="flat" cmpd="sng" algn="ctr">
                      <a:solidFill>
                        <a:srgbClr val="D5D8DC"/>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FFF3E0"/>
                    </a:solidFill>
                  </a:tcPr>
                </a:tc>
                <a:tc hMerge="1">
                  <a:txBody>
                    <a:bodyPr/>
                    <a:lstStyle/>
                    <a:p>
                      <a:pPr marL="0" indent="0" algn="ctr">
                        <a:buNone/>
                      </a:pPr>
                      <a:endParaRPr lang="en-US" sz="600">
                        <a:latin typeface="Segoe UI" panose="020B0502040204020203" pitchFamily="34" charset="0"/>
                        <a:ea typeface="Calibri" charset="0"/>
                        <a:cs typeface="Segoe UI" panose="020B0502040204020203" pitchFamily="34" charset="0"/>
                      </a:endParaRPr>
                    </a:p>
                  </a:txBody>
                  <a:tcPr marL="45720" marR="45720" anchor="ctr">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FFF3E0"/>
                    </a:solidFill>
                  </a:tcPr>
                </a:tc>
                <a:extLst>
                  <a:ext uri="{0D108BD9-81ED-4DB2-BD59-A6C34878D82A}">
                    <a16:rowId xmlns:a16="http://schemas.microsoft.com/office/drawing/2014/main" val="555911222"/>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Enterprise Data Protection (EDP), management, compliance, and controls</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3810" cap="flat" cmpd="sng" algn="ctr">
                      <a:solidFill>
                        <a:srgbClr val="D5D8DC"/>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227013098"/>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Analytics to measure adoption, usage, and business impact</a:t>
                      </a:r>
                      <a:r>
                        <a:rPr lang="en-US" sz="700" b="0" baseline="30000">
                          <a:solidFill>
                            <a:schemeClr val="tx2"/>
                          </a:solidFill>
                          <a:latin typeface="Segoe UI" panose="020B0502040204020203" pitchFamily="34" charset="0"/>
                          <a:ea typeface="+mn-ea"/>
                          <a:cs typeface="Segoe UI" panose="020B0502040204020203" pitchFamily="34" charset="0"/>
                        </a:rPr>
                        <a:t>8</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rPr>
                        <a:t>ο</a:t>
                      </a:r>
                      <a:endParaRPr kumimoji="0" lang="en-US"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26990570"/>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SharePoint Advanced Management </a:t>
                      </a:r>
                    </a:p>
                  </a:txBody>
                  <a:tcPr marL="91748" marR="91748" marT="9175" marB="9175" anchor="ctr">
                    <a:lnT w="6350" cap="flat" cmpd="sng" algn="ctr">
                      <a:solidFill>
                        <a:schemeClr val="bg1">
                          <a:lumMod val="85000"/>
                        </a:schemeClr>
                      </a:solidFill>
                      <a:prstDash val="solid"/>
                      <a:round/>
                      <a:headEnd type="none" w="med" len="med"/>
                      <a:tailEnd type="none" w="med" len="med"/>
                    </a:lnT>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noFill/>
                  </a:tcPr>
                </a:tc>
                <a:extLst>
                  <a:ext uri="{0D108BD9-81ED-4DB2-BD59-A6C34878D82A}">
                    <a16:rowId xmlns:a16="http://schemas.microsoft.com/office/drawing/2014/main" val="2881175670"/>
                  </a:ext>
                </a:extLst>
              </a:tr>
            </a:tbl>
          </a:graphicData>
        </a:graphic>
      </p:graphicFrame>
      <p:sp>
        <p:nvSpPr>
          <p:cNvPr id="7" name="Incremental capabilities from Current SKU to Target SKU">
            <a:extLst>
              <a:ext uri="{FF2B5EF4-FFF2-40B4-BE49-F238E27FC236}">
                <a16:creationId xmlns:a16="http://schemas.microsoft.com/office/drawing/2014/main" id="{62DBE37D-DAAD-7A64-9FA1-9E966FAF09BC}"/>
              </a:ext>
            </a:extLst>
          </p:cNvPr>
          <p:cNvSpPr/>
          <p:nvPr/>
        </p:nvSpPr>
        <p:spPr>
          <a:xfrm>
            <a:off x="379100" y="353708"/>
            <a:ext cx="4912362" cy="276840"/>
          </a:xfrm>
          <a:prstGeom prst="rect">
            <a:avLst/>
          </a:prstGeom>
          <a:noFill/>
          <a:ln/>
        </p:spPr>
        <p:txBody>
          <a:bodyPr wrap="square" lIns="0" tIns="0" rIns="0" bIns="0" rtlCol="0" anchor="t" anchorCtr="0">
            <a:spAutoFit/>
          </a:bodyPr>
          <a:lstStyle/>
          <a:p>
            <a:pPr marL="0" marR="0" lvl="0" indent="0" algn="l" defTabSz="914065" rtl="0" eaLnBrk="1" fontAlgn="auto" latinLnBrk="0" hangingPunct="1">
              <a:lnSpc>
                <a:spcPct val="100000"/>
              </a:lnSpc>
              <a:spcBef>
                <a:spcPts val="0"/>
              </a:spcBef>
              <a:spcAft>
                <a:spcPts val="0"/>
              </a:spcAft>
              <a:buClrTx/>
              <a:buSzTx/>
              <a:buFontTx/>
              <a:buNone/>
              <a:tabLst/>
              <a:defRPr/>
            </a:pPr>
            <a:r>
              <a:rPr kumimoji="0" lang="en-US" sz="1799" b="0" i="0" u="none" strike="noStrike" kern="1200" cap="none" spc="0" normalizeH="0" baseline="0" noProof="0" dirty="0">
                <a:ln>
                  <a:noFill/>
                </a:ln>
                <a:solidFill>
                  <a:srgbClr val="B740C5"/>
                </a:solidFill>
                <a:effectLst/>
                <a:uLnTx/>
                <a:uFillTx/>
                <a:latin typeface="Segoe UI Semibold"/>
                <a:ea typeface="+mn-ea"/>
                <a:cs typeface="Segoe UI Semibold"/>
              </a:rPr>
              <a:t>Detailed capability comparison</a:t>
            </a:r>
          </a:p>
        </p:txBody>
      </p:sp>
      <p:sp>
        <p:nvSpPr>
          <p:cNvPr id="2" name="TextBox 1">
            <a:extLst>
              <a:ext uri="{FF2B5EF4-FFF2-40B4-BE49-F238E27FC236}">
                <a16:creationId xmlns:a16="http://schemas.microsoft.com/office/drawing/2014/main" id="{8D001685-9800-0576-F448-7F12C57D9C18}"/>
              </a:ext>
            </a:extLst>
          </p:cNvPr>
          <p:cNvSpPr txBox="1"/>
          <p:nvPr/>
        </p:nvSpPr>
        <p:spPr>
          <a:xfrm>
            <a:off x="606528" y="754474"/>
            <a:ext cx="2837733" cy="149740"/>
          </a:xfrm>
          <a:prstGeom prst="rect">
            <a:avLst/>
          </a:prstGeom>
          <a:noFill/>
        </p:spPr>
        <p:txBody>
          <a:bodyPr wrap="square" lIns="0" tIns="0" rIns="0" bIns="0" anchor="ctr">
            <a:noAutofit/>
          </a:bodyPr>
          <a:lstStyle/>
          <a:p>
            <a:pPr marL="0" marR="0" lvl="0" indent="0" algn="r" defTabSz="935913" rtl="0" eaLnBrk="1" fontAlgn="auto" latinLnBrk="0" hangingPunct="1">
              <a:lnSpc>
                <a:spcPct val="100000"/>
              </a:lnSpc>
              <a:spcBef>
                <a:spcPts val="0"/>
              </a:spcBef>
              <a:spcAft>
                <a:spcPts val="0"/>
              </a:spcAft>
              <a:buClrTx/>
              <a:buSzTx/>
              <a:buFontTx/>
              <a:buNone/>
              <a:tabLst/>
              <a:defRPr/>
            </a:pPr>
            <a:r>
              <a:rPr kumimoji="0" lang="en-US" sz="702"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r>
              <a:rPr kumimoji="0" lang="en-US" sz="702" b="0" i="0" u="none" strike="noStrike" kern="1200" cap="none" spc="0" normalizeH="0" baseline="0" noProof="0">
                <a:ln>
                  <a:noFill/>
                </a:ln>
                <a:solidFill>
                  <a:srgbClr val="000000"/>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 Included </a:t>
            </a:r>
            <a:r>
              <a:rPr kumimoji="0" lang="en-US" sz="903" b="0" i="0" u="none" strike="noStrike" kern="1200" cap="none" spc="0" normalizeH="0" baseline="0" noProof="0">
                <a:ln>
                  <a:noFill/>
                </a:ln>
                <a:solidFill>
                  <a:srgbClr val="000000"/>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 </a:t>
            </a:r>
            <a:r>
              <a:rPr kumimoji="0" lang="el-GR" sz="903"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rPr>
              <a:t>ο</a:t>
            </a:r>
            <a:r>
              <a:rPr kumimoji="0" lang="en-US" sz="903" b="0" i="0" u="none" strike="noStrike" kern="1200" cap="none" spc="0" normalizeH="0" baseline="0" noProof="0">
                <a:ln>
                  <a:noFill/>
                </a:ln>
                <a:solidFill>
                  <a:srgbClr val="8661C5"/>
                </a:solidFill>
                <a:effectLst/>
                <a:uLnTx/>
                <a:uFillTx/>
                <a:latin typeface="Segoe UI Semibold" panose="020B0702040204020203" pitchFamily="34" charset="0"/>
                <a:ea typeface="+mn-ea"/>
                <a:cs typeface="Segoe UI Semibold" panose="020B0702040204020203" pitchFamily="34" charset="0"/>
              </a:rPr>
              <a:t> </a:t>
            </a:r>
            <a:r>
              <a:rPr kumimoji="0" lang="en-US" sz="702" b="0" i="0" u="none" strike="noStrike" kern="1200" cap="none" spc="0" normalizeH="0" baseline="0" noProof="0">
                <a:ln>
                  <a:noFill/>
                </a:ln>
                <a:solidFill>
                  <a:srgbClr val="000000"/>
                </a:solidFill>
                <a:effectLst/>
                <a:uLnTx/>
                <a:uFillTx/>
                <a:latin typeface="Segoe UI Semibold" panose="020B0702040204020203" pitchFamily="34" charset="0"/>
                <a:ea typeface="+mn-ea"/>
                <a:cs typeface="Segoe UI Semibold" panose="020B0702040204020203" pitchFamily="34" charset="0"/>
              </a:rPr>
              <a:t>Limited</a:t>
            </a:r>
            <a:r>
              <a:rPr kumimoji="0" lang="en-US" sz="702" b="0" i="0" u="none" strike="noStrike" kern="1200" cap="none" spc="0" normalizeH="0" baseline="0" noProof="0">
                <a:ln>
                  <a:noFill/>
                </a:ln>
                <a:solidFill>
                  <a:srgbClr val="000000"/>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  </a:t>
            </a:r>
            <a:r>
              <a:rPr kumimoji="0" lang="en-US" sz="702" b="0" i="0" u="none" strike="noStrike" kern="1200" cap="none" spc="0" normalizeH="0" baseline="0" noProof="0">
                <a:ln>
                  <a:noFill/>
                </a:ln>
                <a:solidFill>
                  <a:srgbClr val="0078D4"/>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 </a:t>
            </a:r>
            <a:r>
              <a:rPr kumimoji="0" lang="en-US" sz="803"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r>
              <a:rPr kumimoji="0" lang="en-US" sz="803" b="0" i="0" u="none" strike="noStrike" kern="1200" cap="none" spc="0" normalizeH="0" baseline="58000" noProof="0">
                <a:ln>
                  <a:noFill/>
                </a:ln>
                <a:solidFill>
                  <a:srgbClr val="C03BC4">
                    <a:lumMod val="75000"/>
                  </a:srgbClr>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 </a:t>
            </a:r>
            <a:r>
              <a:rPr kumimoji="0" lang="en-US" sz="702" b="0" i="0" u="none" strike="noStrike" kern="1200" cap="none" spc="0" normalizeH="0" baseline="0" noProof="0">
                <a:ln>
                  <a:noFill/>
                </a:ln>
                <a:solidFill>
                  <a:srgbClr val="000000"/>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Metered</a:t>
            </a:r>
          </a:p>
        </p:txBody>
      </p:sp>
      <p:sp>
        <p:nvSpPr>
          <p:cNvPr id="6" name="TextBox 5">
            <a:extLst>
              <a:ext uri="{FF2B5EF4-FFF2-40B4-BE49-F238E27FC236}">
                <a16:creationId xmlns:a16="http://schemas.microsoft.com/office/drawing/2014/main" id="{6061A24F-FEE0-6B59-2928-1E0F26FFEC4D}"/>
              </a:ext>
            </a:extLst>
          </p:cNvPr>
          <p:cNvSpPr txBox="1"/>
          <p:nvPr/>
        </p:nvSpPr>
        <p:spPr>
          <a:xfrm>
            <a:off x="4079586" y="796128"/>
            <a:ext cx="533992" cy="108085"/>
          </a:xfrm>
          <a:prstGeom prst="rect">
            <a:avLst/>
          </a:prstGeom>
          <a:noFill/>
        </p:spPr>
        <p:txBody>
          <a:bodyPr wrap="none" lIns="0" tIns="0" rIns="0" bIns="0" rtlCol="0">
            <a:spAutoFit/>
          </a:bodyPr>
          <a:lstStyle/>
          <a:p>
            <a:pPr marL="0" marR="0" lvl="0" indent="0" algn="ctr" defTabSz="917509" rtl="0" eaLnBrk="1" fontAlgn="auto" latinLnBrk="0" hangingPunct="1">
              <a:lnSpc>
                <a:spcPct val="100000"/>
              </a:lnSpc>
              <a:spcBef>
                <a:spcPts val="0"/>
              </a:spcBef>
              <a:spcAft>
                <a:spcPts val="0"/>
              </a:spcAft>
              <a:buClrTx/>
              <a:buSzTx/>
              <a:buFontTx/>
              <a:buNone/>
              <a:tabLst/>
              <a:defRPr/>
            </a:pPr>
            <a:r>
              <a:rPr kumimoji="0" lang="en-US" sz="702" b="0" i="0" u="none" strike="noStrike" kern="1200" cap="none" spc="0" normalizeH="0" baseline="0" noProof="0">
                <a:ln w="3175">
                  <a:noFill/>
                </a:ln>
                <a:solidFill>
                  <a:prstClr val="black"/>
                </a:solidFill>
                <a:effectLst/>
                <a:uLnTx/>
                <a:uFillTx/>
                <a:latin typeface="Segoe UI Semibold" panose="020B0702040204020203" pitchFamily="34" charset="0"/>
                <a:ea typeface="+mn-ea"/>
                <a:cs typeface="Segoe UI Semibold" panose="020B0702040204020203" pitchFamily="34" charset="0"/>
              </a:rPr>
              <a:t>Copilot Chat</a:t>
            </a:r>
            <a:r>
              <a:rPr kumimoji="0" lang="en-US" sz="702" b="0" i="0" u="none" strike="noStrike" kern="1200" cap="none" spc="0" normalizeH="0" baseline="30000" noProof="0">
                <a:ln w="3175">
                  <a:noFill/>
                </a:ln>
                <a:solidFill>
                  <a:prstClr val="black"/>
                </a:solidFill>
                <a:effectLst/>
                <a:uLnTx/>
                <a:uFillTx/>
                <a:latin typeface="Segoe UI Semibold" panose="020B0702040204020203" pitchFamily="34" charset="0"/>
                <a:ea typeface="+mn-ea"/>
                <a:cs typeface="Segoe UI Semibold" panose="020B0702040204020203" pitchFamily="34" charset="0"/>
              </a:rPr>
              <a:t>1</a:t>
            </a:r>
            <a:endParaRPr kumimoji="0" lang="en-US" sz="702" b="0" i="0" u="none" strike="noStrike" kern="1200" cap="none" spc="0" normalizeH="0" baseline="0" noProof="0">
              <a:ln w="3175">
                <a:noFill/>
              </a:ln>
              <a:solidFill>
                <a:prstClr val="black"/>
              </a:solidFill>
              <a:effectLst/>
              <a:uLnTx/>
              <a:uFillTx/>
              <a:latin typeface="Segoe UI Semibold" panose="020B0702040204020203" pitchFamily="34" charset="0"/>
              <a:ea typeface="+mn-ea"/>
              <a:cs typeface="Segoe UI Semibold" panose="020B0702040204020203" pitchFamily="34" charset="0"/>
            </a:endParaRPr>
          </a:p>
        </p:txBody>
      </p:sp>
      <p:sp>
        <p:nvSpPr>
          <p:cNvPr id="8" name="TextBox 7">
            <a:extLst>
              <a:ext uri="{FF2B5EF4-FFF2-40B4-BE49-F238E27FC236}">
                <a16:creationId xmlns:a16="http://schemas.microsoft.com/office/drawing/2014/main" id="{769CCE92-401A-BA80-4EFF-1574EA0715D1}"/>
              </a:ext>
            </a:extLst>
          </p:cNvPr>
          <p:cNvSpPr txBox="1"/>
          <p:nvPr/>
        </p:nvSpPr>
        <p:spPr>
          <a:xfrm>
            <a:off x="4710221" y="798677"/>
            <a:ext cx="554010" cy="108085"/>
          </a:xfrm>
          <a:prstGeom prst="rect">
            <a:avLst/>
          </a:prstGeom>
          <a:noFill/>
        </p:spPr>
        <p:txBody>
          <a:bodyPr wrap="square" lIns="0" tIns="0" rIns="0" bIns="0" rtlCol="0">
            <a:spAutoFit/>
          </a:bodyPr>
          <a:lstStyle/>
          <a:p>
            <a:pPr marL="0" marR="0" lvl="0" indent="0" algn="ctr" defTabSz="917509" rtl="0" eaLnBrk="1" fontAlgn="auto" latinLnBrk="0" hangingPunct="1">
              <a:lnSpc>
                <a:spcPct val="100000"/>
              </a:lnSpc>
              <a:spcBef>
                <a:spcPts val="0"/>
              </a:spcBef>
              <a:spcAft>
                <a:spcPts val="0"/>
              </a:spcAft>
              <a:buClrTx/>
              <a:buSzTx/>
              <a:buFontTx/>
              <a:buNone/>
              <a:tabLst/>
              <a:defRPr/>
            </a:pPr>
            <a:r>
              <a:rPr kumimoji="0" lang="en-US" sz="702" b="0" i="0" u="none" strike="noStrike" kern="1200" cap="none" spc="0" normalizeH="0" baseline="0" noProof="0">
                <a:ln w="3175">
                  <a:noFill/>
                </a:ln>
                <a:solidFill>
                  <a:prstClr val="black"/>
                </a:solidFill>
                <a:effectLst/>
                <a:uLnTx/>
                <a:uFillTx/>
                <a:latin typeface="Segoe UI Semibold" panose="020B0702040204020203" pitchFamily="34" charset="0"/>
                <a:ea typeface="+mn-ea"/>
                <a:cs typeface="Segoe UI Semibold" panose="020B0702040204020203" pitchFamily="34" charset="0"/>
              </a:rPr>
              <a:t>M365 Copilot</a:t>
            </a:r>
          </a:p>
        </p:txBody>
      </p:sp>
      <p:sp>
        <p:nvSpPr>
          <p:cNvPr id="11" name="TextBox 12">
            <a:extLst>
              <a:ext uri="{FF2B5EF4-FFF2-40B4-BE49-F238E27FC236}">
                <a16:creationId xmlns:a16="http://schemas.microsoft.com/office/drawing/2014/main" id="{038CE97F-D0F9-CAE7-5D2D-441E3000C3B4}"/>
              </a:ext>
            </a:extLst>
          </p:cNvPr>
          <p:cNvSpPr txBox="1"/>
          <p:nvPr/>
        </p:nvSpPr>
        <p:spPr>
          <a:xfrm>
            <a:off x="259954" y="7195745"/>
            <a:ext cx="5031508" cy="514809"/>
          </a:xfrm>
          <a:prstGeom prst="rect">
            <a:avLst/>
          </a:prstGeom>
          <a:noFill/>
        </p:spPr>
        <p:txBody>
          <a:bodyPr wrap="square" lIns="0" tIns="0" rIns="0" bIns="0" numCol="3" spcCol="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52857" marR="0" lvl="0" indent="-114689" algn="l" defTabSz="899261" rtl="0" eaLnBrk="1" fontAlgn="base" latinLnBrk="0" hangingPunct="1">
              <a:lnSpc>
                <a:spcPct val="100000"/>
              </a:lnSpc>
              <a:spcBef>
                <a:spcPts val="0"/>
              </a:spcBef>
              <a:spcAft>
                <a:spcPts val="100"/>
              </a:spcAft>
              <a:buClrTx/>
              <a:buSzTx/>
              <a:buFontTx/>
              <a:buAutoNum type="arabicParenR"/>
              <a:tabLst/>
              <a:defRPr/>
            </a:pP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Applies to  customers with 2K or more M365 seats</a:t>
            </a:r>
          </a:p>
          <a:p>
            <a:pPr marL="252857" marR="0" lvl="0" indent="-114689" algn="l" defTabSz="899261" rtl="0" eaLnBrk="1" fontAlgn="base" latinLnBrk="0" hangingPunct="1">
              <a:lnSpc>
                <a:spcPct val="100000"/>
              </a:lnSpc>
              <a:spcBef>
                <a:spcPts val="0"/>
              </a:spcBef>
              <a:spcAft>
                <a:spcPts val="100"/>
              </a:spcAft>
              <a:buClrTx/>
              <a:buSzTx/>
              <a:buFontTx/>
              <a:buAutoNum type="arabicParenR"/>
              <a:tabLst/>
              <a:defRPr/>
            </a:pP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Lexical search included for Copilot Chat users</a:t>
            </a:r>
          </a:p>
          <a:p>
            <a:pPr marL="252857" marR="0" lvl="0" indent="-114689" algn="l" defTabSz="899261" rtl="0" eaLnBrk="1" fontAlgn="base" latinLnBrk="0" hangingPunct="1">
              <a:lnSpc>
                <a:spcPct val="100000"/>
              </a:lnSpc>
              <a:spcBef>
                <a:spcPts val="0"/>
              </a:spcBef>
              <a:spcAft>
                <a:spcPts val="100"/>
              </a:spcAft>
              <a:buClrTx/>
              <a:buSzTx/>
              <a:buFontTx/>
              <a:buAutoNum type="arabicParenR"/>
              <a:tabLst/>
              <a:defRPr/>
            </a:pP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Access to brand kits and surveys requires M365 Copilot license </a:t>
            </a:r>
          </a:p>
          <a:p>
            <a:pPr marL="252857" marR="0" lvl="0" indent="-114689" algn="l" defTabSz="899261" rtl="0" eaLnBrk="1" fontAlgn="base" latinLnBrk="0" hangingPunct="1">
              <a:lnSpc>
                <a:spcPct val="100000"/>
              </a:lnSpc>
              <a:spcBef>
                <a:spcPts val="0"/>
              </a:spcBef>
              <a:spcAft>
                <a:spcPts val="100"/>
              </a:spcAft>
              <a:buClrTx/>
              <a:buSzTx/>
              <a:buFontTx/>
              <a:buAutoNum type="arabicParenR"/>
              <a:tabLst/>
              <a:defRPr/>
            </a:pP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Available via </a:t>
            </a: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hlinkClick r:id="rId4"/>
              </a:rPr>
              <a:t>Frontier </a:t>
            </a: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program, pricing final upon GA</a:t>
            </a:r>
          </a:p>
          <a:p>
            <a:pPr marL="252857" marR="0" lvl="0" indent="-114689" algn="l" defTabSz="899261" rtl="0" eaLnBrk="1" fontAlgn="base" latinLnBrk="0" hangingPunct="1">
              <a:lnSpc>
                <a:spcPct val="100000"/>
              </a:lnSpc>
              <a:spcBef>
                <a:spcPts val="0"/>
              </a:spcBef>
              <a:spcAft>
                <a:spcPts val="100"/>
              </a:spcAft>
              <a:buClrTx/>
              <a:buSzTx/>
              <a:buFontTx/>
              <a:buAutoNum type="arabicParenR"/>
              <a:tabLst/>
              <a:defRPr/>
            </a:pP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Copilot Chat users access Copilot Mode w/web data and open documents only</a:t>
            </a:r>
          </a:p>
          <a:p>
            <a:pPr marL="252857" marR="0" lvl="0" indent="-114689" algn="l" defTabSz="899261" rtl="0" eaLnBrk="1" fontAlgn="base" latinLnBrk="0" hangingPunct="1">
              <a:lnSpc>
                <a:spcPct val="100000"/>
              </a:lnSpc>
              <a:spcBef>
                <a:spcPts val="0"/>
              </a:spcBef>
              <a:spcAft>
                <a:spcPts val="100"/>
              </a:spcAft>
              <a:buClrTx/>
              <a:buSzTx/>
              <a:buFontTx/>
              <a:buAutoNum type="arabicParenR"/>
              <a:tabLst/>
              <a:defRPr/>
            </a:pP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For unlicensed users, Copilot Chat in Outlook reasons over organizational data in Outlook, Teams, OneDrive, and SharePoint (limited). </a:t>
            </a:r>
          </a:p>
          <a:p>
            <a:pPr marL="252857" marR="0" lvl="0" indent="-114689" algn="l" defTabSz="899261" rtl="0" eaLnBrk="1" fontAlgn="base" latinLnBrk="0" hangingPunct="1">
              <a:lnSpc>
                <a:spcPct val="100000"/>
              </a:lnSpc>
              <a:spcBef>
                <a:spcPts val="0"/>
              </a:spcBef>
              <a:spcAft>
                <a:spcPts val="100"/>
              </a:spcAft>
              <a:buClrTx/>
              <a:buSzTx/>
              <a:buFontTx/>
              <a:buAutoNum type="arabicParenR"/>
              <a:tabLst/>
              <a:defRPr/>
            </a:pP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Researcher and Analyst, have combined limit of 25 interactions </a:t>
            </a:r>
            <a:r>
              <a:rPr kumimoji="0" lang="en-US" sz="552" b="0" i="0" u="none" strike="noStrike" kern="1200" cap="none" spc="0" normalizeH="0" baseline="0" noProof="0" err="1">
                <a:ln>
                  <a:noFill/>
                </a:ln>
                <a:solidFill>
                  <a:srgbClr val="091F2C"/>
                </a:solidFill>
                <a:effectLst/>
                <a:uLnTx/>
                <a:uFillTx/>
                <a:latin typeface="Segoe UI" panose="020B0502040204020203" pitchFamily="34" charset="0"/>
                <a:ea typeface="+mn-ea"/>
                <a:cs typeface="Segoe UI" panose="020B0502040204020203" pitchFamily="34" charset="0"/>
              </a:rPr>
              <a:t>pu</a:t>
            </a: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/pm</a:t>
            </a:r>
          </a:p>
          <a:p>
            <a:pPr marL="252857" marR="0" lvl="0" indent="-114689" algn="l" defTabSz="899261" rtl="0" eaLnBrk="1" fontAlgn="base" latinLnBrk="0" hangingPunct="1">
              <a:lnSpc>
                <a:spcPct val="100000"/>
              </a:lnSpc>
              <a:spcBef>
                <a:spcPts val="0"/>
              </a:spcBef>
              <a:spcAft>
                <a:spcPts val="100"/>
              </a:spcAft>
              <a:buClrTx/>
              <a:buSzTx/>
              <a:buFontTx/>
              <a:buAutoNum type="arabicParenR"/>
              <a:tabLst/>
              <a:defRPr/>
            </a:pP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Basic reporting available with Copilot Chat</a:t>
            </a:r>
          </a:p>
        </p:txBody>
      </p:sp>
    </p:spTree>
    <p:extLst>
      <p:ext uri="{BB962C8B-B14F-4D97-AF65-F5344CB8AC3E}">
        <p14:creationId xmlns:p14="http://schemas.microsoft.com/office/powerpoint/2010/main" val="11448138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D014C1-6A3E-C8B6-238F-CA6109DF8E67}"/>
            </a:ext>
          </a:extLst>
        </p:cNvPr>
        <p:cNvGrpSpPr/>
        <p:nvPr/>
      </p:nvGrpSpPr>
      <p:grpSpPr>
        <a:xfrm>
          <a:off x="0" y="0"/>
          <a:ext cx="0" cy="0"/>
          <a:chOff x="0" y="0"/>
          <a:chExt cx="0" cy="0"/>
        </a:xfrm>
      </p:grpSpPr>
      <p:pic>
        <p:nvPicPr>
          <p:cNvPr id="16" name="Rectangle 3468742" descr="preencoded.png">
            <a:extLst>
              <a:ext uri="{FF2B5EF4-FFF2-40B4-BE49-F238E27FC236}">
                <a16:creationId xmlns:a16="http://schemas.microsoft.com/office/drawing/2014/main" id="{811781A5-3B8D-8801-9498-F6DD74C0E210}"/>
              </a:ext>
            </a:extLst>
          </p:cNvPr>
          <p:cNvPicPr>
            <a:picLocks noChangeAspect="1"/>
          </p:cNvPicPr>
          <p:nvPr/>
        </p:nvPicPr>
        <p:blipFill>
          <a:blip r:embed="rId3"/>
          <a:srcRect t="1" b="17144"/>
          <a:stretch>
            <a:fillRect/>
          </a:stretch>
        </p:blipFill>
        <p:spPr>
          <a:xfrm>
            <a:off x="1593" y="-8783"/>
            <a:ext cx="5664190" cy="6840784"/>
          </a:xfrm>
          <a:prstGeom prst="rect">
            <a:avLst/>
          </a:prstGeom>
        </p:spPr>
      </p:pic>
      <p:pic>
        <p:nvPicPr>
          <p:cNvPr id="1106" name="Picture 1105">
            <a:extLst>
              <a:ext uri="{FF2B5EF4-FFF2-40B4-BE49-F238E27FC236}">
                <a16:creationId xmlns:a16="http://schemas.microsoft.com/office/drawing/2014/main" id="{F5F64C2B-21EA-C031-DC01-E29061740BE5}"/>
              </a:ext>
            </a:extLst>
          </p:cNvPr>
          <p:cNvPicPr>
            <a:picLocks noChangeAspect="1"/>
          </p:cNvPicPr>
          <p:nvPr/>
        </p:nvPicPr>
        <p:blipFill>
          <a:blip r:embed="rId4"/>
          <a:srcRect l="8102" t="56128" r="60860" b="-102"/>
          <a:stretch>
            <a:fillRect/>
          </a:stretch>
        </p:blipFill>
        <p:spPr>
          <a:xfrm flipH="1" flipV="1">
            <a:off x="-2704" y="4338221"/>
            <a:ext cx="5672781" cy="3678392"/>
          </a:xfrm>
          <a:prstGeom prst="rect">
            <a:avLst/>
          </a:prstGeom>
        </p:spPr>
      </p:pic>
      <p:sp>
        <p:nvSpPr>
          <p:cNvPr id="2" name="Rectangle 1">
            <a:extLst>
              <a:ext uri="{FF2B5EF4-FFF2-40B4-BE49-F238E27FC236}">
                <a16:creationId xmlns:a16="http://schemas.microsoft.com/office/drawing/2014/main" id="{693C7EB6-AE67-B8A3-76C1-AD14AC60ADC6}"/>
              </a:ext>
            </a:extLst>
          </p:cNvPr>
          <p:cNvSpPr/>
          <p:nvPr/>
        </p:nvSpPr>
        <p:spPr bwMode="auto">
          <a:xfrm>
            <a:off x="1593" y="2255"/>
            <a:ext cx="5664191" cy="1390007"/>
          </a:xfrm>
          <a:prstGeom prst="rect">
            <a:avLst/>
          </a:prstGeom>
          <a:solidFill>
            <a:srgbClr val="F2E5DE">
              <a:alpha val="4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US" sz="1457"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4" name="Picture 3">
            <a:extLst>
              <a:ext uri="{FF2B5EF4-FFF2-40B4-BE49-F238E27FC236}">
                <a16:creationId xmlns:a16="http://schemas.microsoft.com/office/drawing/2014/main" id="{4AF6459C-86A0-0F90-7BE3-BC723C535424}"/>
              </a:ext>
            </a:extLst>
          </p:cNvPr>
          <p:cNvPicPr>
            <a:picLocks noChangeAspect="1"/>
          </p:cNvPicPr>
          <p:nvPr/>
        </p:nvPicPr>
        <p:blipFill>
          <a:blip r:embed="rId4"/>
          <a:srcRect l="-25877" t="56128" r="60860" b="-102"/>
          <a:stretch>
            <a:fillRect/>
          </a:stretch>
        </p:blipFill>
        <p:spPr>
          <a:xfrm>
            <a:off x="879998" y="-8783"/>
            <a:ext cx="4790082" cy="1482784"/>
          </a:xfrm>
          <a:prstGeom prst="rect">
            <a:avLst/>
          </a:prstGeom>
        </p:spPr>
      </p:pic>
      <p:sp>
        <p:nvSpPr>
          <p:cNvPr id="5" name="Title 31">
            <a:extLst>
              <a:ext uri="{FF2B5EF4-FFF2-40B4-BE49-F238E27FC236}">
                <a16:creationId xmlns:a16="http://schemas.microsoft.com/office/drawing/2014/main" id="{50EB93B7-E4EB-7496-5A35-100F216E6E75}"/>
              </a:ext>
            </a:extLst>
          </p:cNvPr>
          <p:cNvSpPr txBox="1">
            <a:spLocks/>
          </p:cNvSpPr>
          <p:nvPr/>
        </p:nvSpPr>
        <p:spPr>
          <a:xfrm>
            <a:off x="271927" y="636695"/>
            <a:ext cx="5146766" cy="308815"/>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66540" rtl="0" eaLnBrk="1" fontAlgn="auto" latinLnBrk="0" hangingPunct="1">
              <a:lnSpc>
                <a:spcPct val="100000"/>
              </a:lnSpc>
              <a:spcBef>
                <a:spcPts val="0"/>
              </a:spcBef>
              <a:spcAft>
                <a:spcPts val="0"/>
              </a:spcAft>
              <a:buClrTx/>
              <a:buSzTx/>
              <a:buFontTx/>
              <a:buNone/>
              <a:tabLst/>
              <a:defRPr/>
            </a:pPr>
            <a:r>
              <a:rPr kumimoji="0" lang="en-US" sz="2007" b="0" i="0" u="none" strike="noStrike" kern="1200" cap="none" spc="-23" normalizeH="0" baseline="0" noProof="0">
                <a:ln>
                  <a:noFill/>
                </a:ln>
                <a:solidFill>
                  <a:prstClr val="black"/>
                </a:solidFill>
                <a:effectLst/>
                <a:uLnTx/>
                <a:uFillTx/>
                <a:latin typeface="Segoe Sans Display Semibold"/>
                <a:ea typeface="+mn-ea"/>
                <a:cs typeface="Segoe Sans Display Semibold"/>
              </a:rPr>
              <a:t>Move from Quick Wins to Transformation</a:t>
            </a:r>
          </a:p>
        </p:txBody>
      </p:sp>
      <p:pic>
        <p:nvPicPr>
          <p:cNvPr id="9" name="Graphic 8" descr="Microsoft Security">
            <a:extLst>
              <a:ext uri="{FF2B5EF4-FFF2-40B4-BE49-F238E27FC236}">
                <a16:creationId xmlns:a16="http://schemas.microsoft.com/office/drawing/2014/main" id="{81BA8AD1-EEC8-068C-F449-4FD72943DC19}"/>
              </a:ext>
            </a:extLst>
          </p:cNvPr>
          <p:cNvPicPr>
            <a:picLocks noChangeAspect="1"/>
          </p:cNvPicPr>
          <p:nvPr/>
        </p:nvPicPr>
        <p:blipFill>
          <a:blip>
            <a:extLst>
              <a:ext uri="{96DAC541-7B7A-43D3-8B79-37D633B846F1}">
                <asvg:svgBlip xmlns:asvg="http://schemas.microsoft.com/office/drawing/2016/SVG/main" r:embed="rId5"/>
              </a:ext>
            </a:extLst>
          </a:blip>
          <a:srcRect r="39635"/>
          <a:stretch>
            <a:fillRect/>
          </a:stretch>
        </p:blipFill>
        <p:spPr bwMode="black">
          <a:xfrm>
            <a:off x="276616" y="261580"/>
            <a:ext cx="796267" cy="167208"/>
          </a:xfrm>
          <a:prstGeom prst="rect">
            <a:avLst/>
          </a:prstGeom>
        </p:spPr>
      </p:pic>
      <p:sp>
        <p:nvSpPr>
          <p:cNvPr id="32" name="TextBox 31">
            <a:extLst>
              <a:ext uri="{FF2B5EF4-FFF2-40B4-BE49-F238E27FC236}">
                <a16:creationId xmlns:a16="http://schemas.microsoft.com/office/drawing/2014/main" id="{659680F0-7334-E71A-93D2-720B98650481}"/>
              </a:ext>
            </a:extLst>
          </p:cNvPr>
          <p:cNvSpPr txBox="1"/>
          <p:nvPr/>
        </p:nvSpPr>
        <p:spPr>
          <a:xfrm>
            <a:off x="271930" y="1051714"/>
            <a:ext cx="5146767" cy="185184"/>
          </a:xfrm>
          <a:prstGeom prst="rect">
            <a:avLst/>
          </a:prstGeom>
          <a:noFill/>
        </p:spPr>
        <p:txBody>
          <a:bodyPr wrap="squar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218" rtl="0" eaLnBrk="1" fontAlgn="auto" latinLnBrk="0" hangingPunct="1">
              <a:lnSpc>
                <a:spcPct val="100000"/>
              </a:lnSpc>
              <a:spcBef>
                <a:spcPts val="0"/>
              </a:spcBef>
              <a:spcAft>
                <a:spcPts val="0"/>
              </a:spcAft>
              <a:buClrTx/>
              <a:buSzTx/>
              <a:buFontTx/>
              <a:buNone/>
              <a:tabLst/>
              <a:defRPr/>
            </a:pPr>
            <a:r>
              <a:rPr kumimoji="0" lang="en-US" sz="1203" b="0" i="0" u="none" strike="noStrike" kern="1200" cap="none" spc="0" normalizeH="0" baseline="0" noProof="0">
                <a:ln>
                  <a:noFill/>
                </a:ln>
                <a:solidFill>
                  <a:srgbClr val="000000">
                    <a:lumMod val="85000"/>
                    <a:lumOff val="15000"/>
                  </a:srgbClr>
                </a:solidFill>
                <a:effectLst/>
                <a:uLnTx/>
                <a:uFillTx/>
                <a:latin typeface="Segoe UI" panose="020B0502040204020203" pitchFamily="34" charset="0"/>
                <a:ea typeface="+mn-ea"/>
                <a:cs typeface="Segoe UI" panose="020B0502040204020203" pitchFamily="34" charset="0"/>
              </a:rPr>
              <a:t>Empower every user across every role with a Copilot + Agent</a:t>
            </a:r>
          </a:p>
        </p:txBody>
      </p:sp>
      <p:grpSp>
        <p:nvGrpSpPr>
          <p:cNvPr id="27" name="Group 26">
            <a:extLst>
              <a:ext uri="{FF2B5EF4-FFF2-40B4-BE49-F238E27FC236}">
                <a16:creationId xmlns:a16="http://schemas.microsoft.com/office/drawing/2014/main" id="{17E3A93C-0E07-6F79-22FC-74E4F65D8107}"/>
              </a:ext>
            </a:extLst>
          </p:cNvPr>
          <p:cNvGrpSpPr/>
          <p:nvPr/>
        </p:nvGrpSpPr>
        <p:grpSpPr>
          <a:xfrm>
            <a:off x="1878331" y="1500662"/>
            <a:ext cx="1636657" cy="266108"/>
            <a:chOff x="3247079" y="1446692"/>
            <a:chExt cx="918108" cy="265363"/>
          </a:xfrm>
          <a:solidFill>
            <a:srgbClr val="8A226F"/>
          </a:solidFill>
        </p:grpSpPr>
        <p:sp>
          <p:nvSpPr>
            <p:cNvPr id="7" name="Rectangle: Rounded Corners 6">
              <a:extLst>
                <a:ext uri="{FF2B5EF4-FFF2-40B4-BE49-F238E27FC236}">
                  <a16:creationId xmlns:a16="http://schemas.microsoft.com/office/drawing/2014/main" id="{245C6074-B613-8136-22DB-865DA73B2F0F}"/>
                </a:ext>
              </a:extLst>
            </p:cNvPr>
            <p:cNvSpPr/>
            <p:nvPr/>
          </p:nvSpPr>
          <p:spPr bwMode="auto">
            <a:xfrm>
              <a:off x="3247079" y="1446692"/>
              <a:ext cx="918108" cy="265363"/>
            </a:xfrm>
            <a:prstGeom prst="roundRect">
              <a:avLst>
                <a:gd name="adj" fmla="val 15516"/>
              </a:avLst>
            </a:prstGeom>
            <a:grp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34" name="TextBox 33">
              <a:extLst>
                <a:ext uri="{FF2B5EF4-FFF2-40B4-BE49-F238E27FC236}">
                  <a16:creationId xmlns:a16="http://schemas.microsoft.com/office/drawing/2014/main" id="{AAC621D8-A3E4-DEB9-FA24-9E823079B667}"/>
                </a:ext>
              </a:extLst>
            </p:cNvPr>
            <p:cNvSpPr txBox="1"/>
            <p:nvPr/>
          </p:nvSpPr>
          <p:spPr>
            <a:xfrm>
              <a:off x="3389773" y="1454884"/>
              <a:ext cx="632720" cy="248979"/>
            </a:xfrm>
            <a:prstGeom prst="rect">
              <a:avLst/>
            </a:prstGeom>
            <a:grpFill/>
          </p:spPr>
          <p:txBody>
            <a:bodyPr wrap="square" lIns="91748" tIns="45874" rIns="91748" bIns="45874" anchor="t">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a:ln>
                    <a:noFill/>
                  </a:ln>
                  <a:solidFill>
                    <a:srgbClr val="FFFFFF"/>
                  </a:solidFill>
                  <a:effectLst/>
                  <a:uLnTx/>
                  <a:uFillTx/>
                  <a:latin typeface="Segoe UI Semibold"/>
                  <a:ea typeface="+mn-ea"/>
                  <a:cs typeface="Segoe UI Semibold"/>
                </a:rPr>
                <a:t>Copilot Chat</a:t>
              </a:r>
              <a:endParaRPr kumimoji="0" lang="en-US" sz="1020"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endParaRPr>
            </a:p>
          </p:txBody>
        </p:sp>
      </p:grpSp>
      <p:grpSp>
        <p:nvGrpSpPr>
          <p:cNvPr id="28" name="Group 27">
            <a:extLst>
              <a:ext uri="{FF2B5EF4-FFF2-40B4-BE49-F238E27FC236}">
                <a16:creationId xmlns:a16="http://schemas.microsoft.com/office/drawing/2014/main" id="{5E2D6329-F569-9FDC-9E90-65620D066D83}"/>
              </a:ext>
            </a:extLst>
          </p:cNvPr>
          <p:cNvGrpSpPr/>
          <p:nvPr/>
        </p:nvGrpSpPr>
        <p:grpSpPr>
          <a:xfrm>
            <a:off x="3607516" y="1500662"/>
            <a:ext cx="1636657" cy="266108"/>
            <a:chOff x="4267277" y="1442227"/>
            <a:chExt cx="918108" cy="265363"/>
          </a:xfrm>
        </p:grpSpPr>
        <p:sp>
          <p:nvSpPr>
            <p:cNvPr id="11" name="Rectangle: Rounded Corners 10">
              <a:extLst>
                <a:ext uri="{FF2B5EF4-FFF2-40B4-BE49-F238E27FC236}">
                  <a16:creationId xmlns:a16="http://schemas.microsoft.com/office/drawing/2014/main" id="{E5BAC15C-AB21-35D8-7D03-EC2CC6BA0AD5}"/>
                </a:ext>
              </a:extLst>
            </p:cNvPr>
            <p:cNvSpPr/>
            <p:nvPr/>
          </p:nvSpPr>
          <p:spPr bwMode="auto">
            <a:xfrm>
              <a:off x="4267277" y="1442227"/>
              <a:ext cx="918108" cy="265363"/>
            </a:xfrm>
            <a:prstGeom prst="roundRect">
              <a:avLst>
                <a:gd name="adj" fmla="val 15516"/>
              </a:avLst>
            </a:prstGeom>
            <a:solidFill>
              <a:srgbClr val="C03BC4"/>
            </a:soli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22" name="TextBox 21">
              <a:extLst>
                <a:ext uri="{FF2B5EF4-FFF2-40B4-BE49-F238E27FC236}">
                  <a16:creationId xmlns:a16="http://schemas.microsoft.com/office/drawing/2014/main" id="{57E391B3-BC50-8EAE-5A97-F78050728A2E}"/>
                </a:ext>
              </a:extLst>
            </p:cNvPr>
            <p:cNvSpPr txBox="1"/>
            <p:nvPr/>
          </p:nvSpPr>
          <p:spPr>
            <a:xfrm>
              <a:off x="4393111" y="1450419"/>
              <a:ext cx="666440" cy="248979"/>
            </a:xfrm>
            <a:prstGeom prst="rect">
              <a:avLst/>
            </a:prstGeom>
            <a:noFill/>
          </p:spPr>
          <p:txBody>
            <a:bodyPr wrap="square" lIns="91748" tIns="45874" rIns="91748" bIns="45874" anchor="t">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a:ln>
                    <a:noFill/>
                  </a:ln>
                  <a:solidFill>
                    <a:srgbClr val="FFFFFF"/>
                  </a:solidFill>
                  <a:effectLst/>
                  <a:uLnTx/>
                  <a:uFillTx/>
                  <a:latin typeface="Segoe UI Semibold"/>
                  <a:ea typeface="+mn-ea"/>
                  <a:cs typeface="Segoe UI Semibold"/>
                </a:rPr>
                <a:t>Copilot Business</a:t>
              </a:r>
              <a:endParaRPr kumimoji="0" lang="en-US" sz="1020"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endParaRPr>
            </a:p>
          </p:txBody>
        </p:sp>
      </p:grpSp>
      <p:sp>
        <p:nvSpPr>
          <p:cNvPr id="3" name="Rectangle: Rounded Corners 2">
            <a:extLst>
              <a:ext uri="{FF2B5EF4-FFF2-40B4-BE49-F238E27FC236}">
                <a16:creationId xmlns:a16="http://schemas.microsoft.com/office/drawing/2014/main" id="{80CEAF57-DC52-B86C-F4F6-E89B7499DC71}"/>
              </a:ext>
            </a:extLst>
          </p:cNvPr>
          <p:cNvSpPr/>
          <p:nvPr/>
        </p:nvSpPr>
        <p:spPr bwMode="auto">
          <a:xfrm>
            <a:off x="262839" y="1733327"/>
            <a:ext cx="5114487" cy="5931647"/>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aphicFrame>
        <p:nvGraphicFramePr>
          <p:cNvPr id="60" name="Table 59">
            <a:extLst>
              <a:ext uri="{FF2B5EF4-FFF2-40B4-BE49-F238E27FC236}">
                <a16:creationId xmlns:a16="http://schemas.microsoft.com/office/drawing/2014/main" id="{0EEAD99C-384F-A7AF-E694-6555163A273A}"/>
              </a:ext>
            </a:extLst>
          </p:cNvPr>
          <p:cNvGraphicFramePr>
            <a:graphicFrameLocks noGrp="1"/>
          </p:cNvGraphicFramePr>
          <p:nvPr/>
        </p:nvGraphicFramePr>
        <p:xfrm>
          <a:off x="395993" y="1838051"/>
          <a:ext cx="4848181" cy="5722050"/>
        </p:xfrm>
        <a:graphic>
          <a:graphicData uri="http://schemas.openxmlformats.org/drawingml/2006/table">
            <a:tbl>
              <a:tblPr firstRow="1" bandRow="1">
                <a:tableStyleId>{5940675A-B579-460E-94D1-54222C63F5DA}</a:tableStyleId>
              </a:tblPr>
              <a:tblGrid>
                <a:gridCol w="1439535">
                  <a:extLst>
                    <a:ext uri="{9D8B030D-6E8A-4147-A177-3AD203B41FA5}">
                      <a16:colId xmlns:a16="http://schemas.microsoft.com/office/drawing/2014/main" val="2609573218"/>
                    </a:ext>
                  </a:extLst>
                </a:gridCol>
                <a:gridCol w="1699120">
                  <a:extLst>
                    <a:ext uri="{9D8B030D-6E8A-4147-A177-3AD203B41FA5}">
                      <a16:colId xmlns:a16="http://schemas.microsoft.com/office/drawing/2014/main" val="2021809884"/>
                    </a:ext>
                  </a:extLst>
                </a:gridCol>
                <a:gridCol w="1709526">
                  <a:extLst>
                    <a:ext uri="{9D8B030D-6E8A-4147-A177-3AD203B41FA5}">
                      <a16:colId xmlns:a16="http://schemas.microsoft.com/office/drawing/2014/main" val="230707671"/>
                    </a:ext>
                  </a:extLst>
                </a:gridCol>
              </a:tblGrid>
              <a:tr h="842561">
                <a:tc>
                  <a:txBody>
                    <a:bodyPr/>
                    <a:lstStyle/>
                    <a:p>
                      <a:endParaRPr lang="en-IN" sz="800"/>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mn-cs"/>
                        </a:rPr>
                        <a:t>Summarize issues &amp; suggest resolutions</a:t>
                      </a:r>
                    </a:p>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mn-cs"/>
                        </a:rPr>
                        <a:t>Draft empathetic replies</a:t>
                      </a:r>
                    </a:p>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mn-cs"/>
                        </a:rPr>
                        <a:t>Create FAQ &amp; help docs</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mn-cs"/>
                        </a:rPr>
                        <a:t>Summarizes long e-mail threads into next steps</a:t>
                      </a:r>
                    </a:p>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mn-cs"/>
                        </a:rPr>
                        <a:t>Update service documentation from historical inquiries</a:t>
                      </a:r>
                    </a:p>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mn-cs"/>
                        </a:rPr>
                        <a:t>Draft responses in context to e-mail thread with customer</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14339338"/>
                  </a:ext>
                </a:extLst>
              </a:tr>
              <a:tr h="1178621">
                <a:tc>
                  <a:txBody>
                    <a:bodyPr/>
                    <a:lstStyle/>
                    <a:p>
                      <a:endParaRPr lang="en-IN" sz="800"/>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Draft outreach emails &amp; proposals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Help brainstorm best ways to deal with customer objections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Gain insight into potential customers based on publicly available data</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Draft a personalized follow-up email referencing client’s last meeting</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Turn meeting notes into a formal proposal with pricing tables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Build a branded pitch deck from a single-page summary</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40130595"/>
                  </a:ext>
                </a:extLst>
              </a:tr>
              <a:tr h="1178621">
                <a:tc>
                  <a:txBody>
                    <a:bodyPr/>
                    <a:lstStyle/>
                    <a:p>
                      <a:endParaRPr lang="en-IN" sz="800"/>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Generate campaign ideas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Create social media calendar </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Generate content and provide SEO optimized keywords</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Drafts compelling copy aligned to brand voice</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Create campaign briefs using pre-created template</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1" i="0" u="none" strike="noStrike" kern="1200" cap="none" spc="0" normalizeH="0" baseline="0" noProof="0" dirty="0">
                          <a:ln>
                            <a:noFill/>
                          </a:ln>
                          <a:solidFill>
                            <a:srgbClr val="000000"/>
                          </a:solidFill>
                          <a:effectLst/>
                          <a:uLnTx/>
                          <a:uFillTx/>
                          <a:latin typeface="Segoe UI"/>
                          <a:ea typeface="+mn-ea"/>
                          <a:cs typeface="Segoe UI"/>
                        </a:rPr>
                        <a:t>Researcher</a:t>
                      </a:r>
                      <a:r>
                        <a:rPr kumimoji="0" lang="en-US" sz="800" b="0" i="0" u="none" strike="noStrike" kern="1200" cap="none" spc="0" normalizeH="0" baseline="0" noProof="0" dirty="0">
                          <a:ln>
                            <a:noFill/>
                          </a:ln>
                          <a:solidFill>
                            <a:srgbClr val="000000"/>
                          </a:solidFill>
                          <a:effectLst/>
                          <a:uLnTx/>
                          <a:uFillTx/>
                          <a:latin typeface="Segoe UI"/>
                          <a:ea typeface="+mn-ea"/>
                          <a:cs typeface="Segoe UI"/>
                        </a:rPr>
                        <a:t> – Run competitive research, extract customer insights, and develop go-to-market strategies</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94461080"/>
                  </a:ext>
                </a:extLst>
              </a:tr>
              <a:tr h="1304339">
                <a:tc>
                  <a:txBody>
                    <a:bodyPr/>
                    <a:lstStyle/>
                    <a:p>
                      <a:endParaRPr lang="en-IN" sz="800"/>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Draft job descriptions or interview questions  </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Create onboarding materials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Provide neutral phrasing for sensitive communication</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Summarizes candidate resumes or interview notes from stored files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Auto-updates and reformats policy documents in Word</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1" i="0" u="none" strike="noStrike" kern="1200" cap="none" spc="0" normalizeH="0" baseline="0" noProof="0" dirty="0">
                          <a:ln>
                            <a:noFill/>
                          </a:ln>
                          <a:solidFill>
                            <a:srgbClr val="000000"/>
                          </a:solidFill>
                          <a:effectLst/>
                          <a:uLnTx/>
                          <a:uFillTx/>
                          <a:latin typeface="Segoe UI"/>
                          <a:ea typeface="+mn-ea"/>
                          <a:cs typeface="Segoe UI"/>
                        </a:rPr>
                        <a:t>Researcher</a:t>
                      </a:r>
                      <a:r>
                        <a:rPr kumimoji="0" lang="en-US" sz="800" b="0" i="0" u="none" strike="noStrike" kern="1200" cap="none" spc="0" normalizeH="0" baseline="0" noProof="0" dirty="0">
                          <a:ln>
                            <a:noFill/>
                          </a:ln>
                          <a:solidFill>
                            <a:srgbClr val="000000"/>
                          </a:solidFill>
                          <a:effectLst/>
                          <a:uLnTx/>
                          <a:uFillTx/>
                          <a:latin typeface="Segoe UI"/>
                          <a:ea typeface="+mn-ea"/>
                          <a:cs typeface="Segoe UI"/>
                        </a:rPr>
                        <a:t> - Analyzes hiring funnel trends, turnover data, compensation benchmarks vs market, DEI metrics</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85061322"/>
                  </a:ext>
                </a:extLst>
              </a:tr>
              <a:tr h="1217908">
                <a:tc>
                  <a:txBody>
                    <a:bodyPr/>
                    <a:lstStyle/>
                    <a:p>
                      <a:endParaRPr lang="en-IN" sz="800"/>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Create charts and visuals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Gather competitor information and compare product capabilities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Understand contract terms and suggest updates</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92075" lvl="0" indent="-92075" defTabSz="914367">
                        <a:spcAft>
                          <a:spcPts val="300"/>
                        </a:spcAft>
                        <a:buFont typeface="Arial" panose="020B0604020202020204" pitchFamily="34" charset="0"/>
                        <a:buChar char="•"/>
                        <a:defRPr/>
                      </a:pPr>
                      <a:r>
                        <a:rPr lang="en-US" sz="800" dirty="0">
                          <a:solidFill>
                            <a:srgbClr val="000000"/>
                          </a:solidFill>
                          <a:latin typeface="Segoe UI"/>
                          <a:cs typeface="Segoe UI"/>
                        </a:rPr>
                        <a:t>Translates raw numbers into executive-friendly narratives</a:t>
                      </a:r>
                    </a:p>
                    <a:p>
                      <a:pPr marL="92075" lvl="0" indent="-92075" defTabSz="914367">
                        <a:spcAft>
                          <a:spcPts val="300"/>
                        </a:spcAft>
                        <a:buFont typeface="Arial" panose="020B0604020202020204" pitchFamily="34" charset="0"/>
                        <a:buChar char="•"/>
                        <a:defRPr/>
                      </a:pPr>
                      <a:r>
                        <a:rPr lang="en-US" sz="800" dirty="0">
                          <a:solidFill>
                            <a:srgbClr val="000000"/>
                          </a:solidFill>
                          <a:latin typeface="Segoe UI"/>
                          <a:cs typeface="Segoe UI"/>
                        </a:rPr>
                        <a:t>Builds forecasts and financial models quickly</a:t>
                      </a:r>
                    </a:p>
                    <a:p>
                      <a:pPr marL="92075" lvl="0" indent="-92075" defTabSz="914367">
                        <a:spcAft>
                          <a:spcPts val="300"/>
                        </a:spcAft>
                        <a:buFont typeface="Arial" panose="020B0604020202020204" pitchFamily="34" charset="0"/>
                        <a:buChar char="•"/>
                        <a:defRPr/>
                      </a:pPr>
                      <a:r>
                        <a:rPr lang="en-US" sz="800" dirty="0">
                          <a:solidFill>
                            <a:srgbClr val="000000"/>
                          </a:solidFill>
                          <a:latin typeface="Segoe UI"/>
                          <a:cs typeface="Segoe UI"/>
                        </a:rPr>
                        <a:t>Creates clear reports and presentations from complex data</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23500260"/>
                  </a:ext>
                </a:extLst>
              </a:tr>
            </a:tbl>
          </a:graphicData>
        </a:graphic>
      </p:graphicFrame>
      <p:pic>
        <p:nvPicPr>
          <p:cNvPr id="23" name="Picture 22">
            <a:extLst>
              <a:ext uri="{FF2B5EF4-FFF2-40B4-BE49-F238E27FC236}">
                <a16:creationId xmlns:a16="http://schemas.microsoft.com/office/drawing/2014/main" id="{D2B1E387-8BDB-F6D1-FDC0-B6ECD6BACF1E}"/>
              </a:ext>
              <a:ext uri="{C183D7F6-B498-43B3-948B-1728B52AA6E4}">
                <adec:decorative xmlns:adec="http://schemas.microsoft.com/office/drawing/2017/decorative" val="1"/>
              </a:ext>
            </a:extLst>
          </p:cNvPr>
          <p:cNvPicPr>
            <a:picLocks noChangeAspect="1"/>
          </p:cNvPicPr>
          <p:nvPr/>
        </p:nvPicPr>
        <p:blipFill>
          <a:blip r:embed="rId6" cstate="hqprint">
            <a:extLst>
              <a:ext uri="{28A0092B-C50C-407E-A947-70E740481C1C}">
                <a14:useLocalDpi xmlns:a14="http://schemas.microsoft.com/office/drawing/2010/main"/>
              </a:ext>
            </a:extLst>
          </a:blip>
          <a:srcRect l="270" t="20839" r="5639" b="12368"/>
          <a:stretch>
            <a:fillRect/>
          </a:stretch>
        </p:blipFill>
        <p:spPr>
          <a:xfrm>
            <a:off x="489557" y="1855341"/>
            <a:ext cx="975333" cy="688902"/>
          </a:xfrm>
          <a:prstGeom prst="round2SameRect">
            <a:avLst>
              <a:gd name="adj1" fmla="val 3339"/>
              <a:gd name="adj2" fmla="val 0"/>
            </a:avLst>
          </a:prstGeom>
          <a:effectLst/>
        </p:spPr>
      </p:pic>
      <p:grpSp>
        <p:nvGrpSpPr>
          <p:cNvPr id="6" name="Group 5">
            <a:extLst>
              <a:ext uri="{FF2B5EF4-FFF2-40B4-BE49-F238E27FC236}">
                <a16:creationId xmlns:a16="http://schemas.microsoft.com/office/drawing/2014/main" id="{8C9FBB0D-C035-FC62-B5E8-DC0ED560D577}"/>
              </a:ext>
            </a:extLst>
          </p:cNvPr>
          <p:cNvGrpSpPr/>
          <p:nvPr/>
        </p:nvGrpSpPr>
        <p:grpSpPr>
          <a:xfrm>
            <a:off x="489557" y="2442211"/>
            <a:ext cx="975333" cy="165480"/>
            <a:chOff x="344361" y="2423624"/>
            <a:chExt cx="972601" cy="165017"/>
          </a:xfrm>
        </p:grpSpPr>
        <p:sp>
          <p:nvSpPr>
            <p:cNvPr id="25" name="Rectangle: Rounded Corners 24">
              <a:extLst>
                <a:ext uri="{FF2B5EF4-FFF2-40B4-BE49-F238E27FC236}">
                  <a16:creationId xmlns:a16="http://schemas.microsoft.com/office/drawing/2014/main" id="{4A553B3F-52AD-D0FA-42CB-6CEB3A01696E}"/>
                </a:ext>
              </a:extLst>
            </p:cNvPr>
            <p:cNvSpPr/>
            <p:nvPr/>
          </p:nvSpPr>
          <p:spPr bwMode="auto">
            <a:xfrm>
              <a:off x="344361" y="2423624"/>
              <a:ext cx="972601" cy="165017"/>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26" name="TextBox 25">
              <a:extLst>
                <a:ext uri="{FF2B5EF4-FFF2-40B4-BE49-F238E27FC236}">
                  <a16:creationId xmlns:a16="http://schemas.microsoft.com/office/drawing/2014/main" id="{5617AA04-9C1B-B169-2CEF-E993E47E5C98}"/>
                </a:ext>
              </a:extLst>
            </p:cNvPr>
            <p:cNvSpPr txBox="1"/>
            <p:nvPr/>
          </p:nvSpPr>
          <p:spPr>
            <a:xfrm>
              <a:off x="425903" y="2444577"/>
              <a:ext cx="809516" cy="123111"/>
            </a:xfrm>
            <a:prstGeom prst="rect">
              <a:avLst/>
            </a:prstGeom>
            <a:noFill/>
          </p:spPr>
          <p:txBody>
            <a:bodyPr wrap="non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803"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rPr>
                <a:t>Customer Service</a:t>
              </a:r>
            </a:p>
          </p:txBody>
        </p:sp>
      </p:grpSp>
      <p:pic>
        <p:nvPicPr>
          <p:cNvPr id="36" name="Picture 35">
            <a:extLst>
              <a:ext uri="{FF2B5EF4-FFF2-40B4-BE49-F238E27FC236}">
                <a16:creationId xmlns:a16="http://schemas.microsoft.com/office/drawing/2014/main" id="{AFCB71B6-A68E-82FC-B673-78462412DFF1}"/>
              </a:ext>
              <a:ext uri="{C183D7F6-B498-43B3-948B-1728B52AA6E4}">
                <adec:decorative xmlns:adec="http://schemas.microsoft.com/office/drawing/2017/decorative" val="1"/>
              </a:ext>
            </a:extLst>
          </p:cNvPr>
          <p:cNvPicPr>
            <a:picLocks noChangeAspect="1"/>
          </p:cNvPicPr>
          <p:nvPr/>
        </p:nvPicPr>
        <p:blipFill>
          <a:blip r:embed="rId7" cstate="hqprint">
            <a:extLst>
              <a:ext uri="{28A0092B-C50C-407E-A947-70E740481C1C}">
                <a14:useLocalDpi xmlns:a14="http://schemas.microsoft.com/office/drawing/2010/main"/>
              </a:ext>
            </a:extLst>
          </a:blip>
          <a:srcRect l="2052" t="7616" r="2440" b="24586"/>
          <a:stretch>
            <a:fillRect/>
          </a:stretch>
        </p:blipFill>
        <p:spPr>
          <a:xfrm>
            <a:off x="491259" y="2862932"/>
            <a:ext cx="973631" cy="688902"/>
          </a:xfrm>
          <a:prstGeom prst="round2SameRect">
            <a:avLst>
              <a:gd name="adj1" fmla="val 9725"/>
              <a:gd name="adj2" fmla="val 0"/>
            </a:avLst>
          </a:prstGeom>
          <a:effectLst/>
        </p:spPr>
      </p:pic>
      <p:grpSp>
        <p:nvGrpSpPr>
          <p:cNvPr id="10" name="Group 9">
            <a:extLst>
              <a:ext uri="{FF2B5EF4-FFF2-40B4-BE49-F238E27FC236}">
                <a16:creationId xmlns:a16="http://schemas.microsoft.com/office/drawing/2014/main" id="{94F1F50A-6E79-48F2-18C5-2BEB1CD8AC50}"/>
              </a:ext>
            </a:extLst>
          </p:cNvPr>
          <p:cNvGrpSpPr/>
          <p:nvPr/>
        </p:nvGrpSpPr>
        <p:grpSpPr>
          <a:xfrm>
            <a:off x="489557" y="3510234"/>
            <a:ext cx="975333" cy="165480"/>
            <a:chOff x="344361" y="2423624"/>
            <a:chExt cx="972601" cy="165017"/>
          </a:xfrm>
        </p:grpSpPr>
        <p:sp>
          <p:nvSpPr>
            <p:cNvPr id="12" name="Rectangle: Rounded Corners 11">
              <a:extLst>
                <a:ext uri="{FF2B5EF4-FFF2-40B4-BE49-F238E27FC236}">
                  <a16:creationId xmlns:a16="http://schemas.microsoft.com/office/drawing/2014/main" id="{1AFEDC02-31A9-7907-4D29-08061E118814}"/>
                </a:ext>
              </a:extLst>
            </p:cNvPr>
            <p:cNvSpPr/>
            <p:nvPr/>
          </p:nvSpPr>
          <p:spPr bwMode="auto">
            <a:xfrm>
              <a:off x="344361" y="2423624"/>
              <a:ext cx="972601" cy="165017"/>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13" name="TextBox 12">
              <a:extLst>
                <a:ext uri="{FF2B5EF4-FFF2-40B4-BE49-F238E27FC236}">
                  <a16:creationId xmlns:a16="http://schemas.microsoft.com/office/drawing/2014/main" id="{2C74D14D-DD41-7F8F-F868-FC3104EA1286}"/>
                </a:ext>
              </a:extLst>
            </p:cNvPr>
            <p:cNvSpPr txBox="1"/>
            <p:nvPr/>
          </p:nvSpPr>
          <p:spPr>
            <a:xfrm>
              <a:off x="712840" y="2444577"/>
              <a:ext cx="235642" cy="123111"/>
            </a:xfrm>
            <a:prstGeom prst="rect">
              <a:avLst/>
            </a:prstGeom>
            <a:noFill/>
          </p:spPr>
          <p:txBody>
            <a:bodyPr wrap="non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803"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rPr>
                <a:t>Sales</a:t>
              </a:r>
            </a:p>
          </p:txBody>
        </p:sp>
      </p:grpSp>
      <p:pic>
        <p:nvPicPr>
          <p:cNvPr id="14" name="Picture 13">
            <a:extLst>
              <a:ext uri="{FF2B5EF4-FFF2-40B4-BE49-F238E27FC236}">
                <a16:creationId xmlns:a16="http://schemas.microsoft.com/office/drawing/2014/main" id="{CF6D9678-E449-EE8A-01EC-CA7182C17B81}"/>
              </a:ext>
              <a:ext uri="{C183D7F6-B498-43B3-948B-1728B52AA6E4}">
                <adec:decorative xmlns:adec="http://schemas.microsoft.com/office/drawing/2017/decorative" val="1"/>
              </a:ext>
            </a:extLst>
          </p:cNvPr>
          <p:cNvPicPr>
            <a:picLocks noChangeAspect="1"/>
          </p:cNvPicPr>
          <p:nvPr/>
        </p:nvPicPr>
        <p:blipFill>
          <a:blip r:embed="rId8" cstate="hqprint">
            <a:extLst>
              <a:ext uri="{28A0092B-C50C-407E-A947-70E740481C1C}">
                <a14:useLocalDpi xmlns:a14="http://schemas.microsoft.com/office/drawing/2010/main"/>
              </a:ext>
            </a:extLst>
          </a:blip>
          <a:srcRect l="1010" t="14541" r="1499" b="16437"/>
          <a:stretch>
            <a:fillRect/>
          </a:stretch>
        </p:blipFill>
        <p:spPr>
          <a:xfrm>
            <a:off x="491259" y="4028909"/>
            <a:ext cx="973631" cy="691150"/>
          </a:xfrm>
          <a:prstGeom prst="round2SameRect">
            <a:avLst>
              <a:gd name="adj1" fmla="val 9725"/>
              <a:gd name="adj2" fmla="val 0"/>
            </a:avLst>
          </a:prstGeom>
          <a:effectLst/>
        </p:spPr>
      </p:pic>
      <p:grpSp>
        <p:nvGrpSpPr>
          <p:cNvPr id="15" name="Group 14">
            <a:extLst>
              <a:ext uri="{FF2B5EF4-FFF2-40B4-BE49-F238E27FC236}">
                <a16:creationId xmlns:a16="http://schemas.microsoft.com/office/drawing/2014/main" id="{B4E2B63C-D71C-8F11-5EF2-84BC0BC35B00}"/>
              </a:ext>
            </a:extLst>
          </p:cNvPr>
          <p:cNvGrpSpPr/>
          <p:nvPr/>
        </p:nvGrpSpPr>
        <p:grpSpPr>
          <a:xfrm>
            <a:off x="489557" y="4685033"/>
            <a:ext cx="975333" cy="165480"/>
            <a:chOff x="344361" y="2423624"/>
            <a:chExt cx="972601" cy="165017"/>
          </a:xfrm>
        </p:grpSpPr>
        <p:sp>
          <p:nvSpPr>
            <p:cNvPr id="17" name="Rectangle: Rounded Corners 16">
              <a:extLst>
                <a:ext uri="{FF2B5EF4-FFF2-40B4-BE49-F238E27FC236}">
                  <a16:creationId xmlns:a16="http://schemas.microsoft.com/office/drawing/2014/main" id="{A6813A64-365D-F2A5-E5E4-9D05CD6EE7BC}"/>
                </a:ext>
              </a:extLst>
            </p:cNvPr>
            <p:cNvSpPr/>
            <p:nvPr/>
          </p:nvSpPr>
          <p:spPr bwMode="auto">
            <a:xfrm>
              <a:off x="344361" y="2423624"/>
              <a:ext cx="972601" cy="165017"/>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18" name="TextBox 17">
              <a:extLst>
                <a:ext uri="{FF2B5EF4-FFF2-40B4-BE49-F238E27FC236}">
                  <a16:creationId xmlns:a16="http://schemas.microsoft.com/office/drawing/2014/main" id="{5FA35629-D6BE-C690-C33E-24942FC3014E}"/>
                </a:ext>
              </a:extLst>
            </p:cNvPr>
            <p:cNvSpPr txBox="1"/>
            <p:nvPr/>
          </p:nvSpPr>
          <p:spPr>
            <a:xfrm>
              <a:off x="590212" y="2444577"/>
              <a:ext cx="480901" cy="123111"/>
            </a:xfrm>
            <a:prstGeom prst="rect">
              <a:avLst/>
            </a:prstGeom>
            <a:noFill/>
          </p:spPr>
          <p:txBody>
            <a:bodyPr wrap="non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803"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rPr>
                <a:t>Marketing</a:t>
              </a:r>
            </a:p>
          </p:txBody>
        </p:sp>
      </p:grpSp>
      <p:pic>
        <p:nvPicPr>
          <p:cNvPr id="19" name="Picture 18">
            <a:extLst>
              <a:ext uri="{FF2B5EF4-FFF2-40B4-BE49-F238E27FC236}">
                <a16:creationId xmlns:a16="http://schemas.microsoft.com/office/drawing/2014/main" id="{BF0B6F26-1C16-1707-4769-A65CC915B61F}"/>
              </a:ext>
              <a:ext uri="{C183D7F6-B498-43B3-948B-1728B52AA6E4}">
                <adec:decorative xmlns:adec="http://schemas.microsoft.com/office/drawing/2017/decorative" val="1"/>
              </a:ext>
            </a:extLst>
          </p:cNvPr>
          <p:cNvPicPr>
            <a:picLocks noChangeAspect="1"/>
          </p:cNvPicPr>
          <p:nvPr/>
        </p:nvPicPr>
        <p:blipFill>
          <a:blip r:embed="rId9" cstate="hqprint">
            <a:extLst>
              <a:ext uri="{28A0092B-C50C-407E-A947-70E740481C1C}">
                <a14:useLocalDpi xmlns:a14="http://schemas.microsoft.com/office/drawing/2010/main"/>
              </a:ext>
            </a:extLst>
          </a:blip>
          <a:srcRect l="481" t="3754" r="3685" b="28217"/>
          <a:stretch>
            <a:fillRect/>
          </a:stretch>
        </p:blipFill>
        <p:spPr>
          <a:xfrm>
            <a:off x="487853" y="5282363"/>
            <a:ext cx="973631" cy="691150"/>
          </a:xfrm>
          <a:prstGeom prst="round2SameRect">
            <a:avLst>
              <a:gd name="adj1" fmla="val 9725"/>
              <a:gd name="adj2" fmla="val 0"/>
            </a:avLst>
          </a:prstGeom>
          <a:effectLst/>
        </p:spPr>
      </p:pic>
      <p:grpSp>
        <p:nvGrpSpPr>
          <p:cNvPr id="20" name="Group 19">
            <a:extLst>
              <a:ext uri="{FF2B5EF4-FFF2-40B4-BE49-F238E27FC236}">
                <a16:creationId xmlns:a16="http://schemas.microsoft.com/office/drawing/2014/main" id="{F14DFCFA-3CDD-3CC6-C226-A0A3871BCEE8}"/>
              </a:ext>
            </a:extLst>
          </p:cNvPr>
          <p:cNvGrpSpPr/>
          <p:nvPr/>
        </p:nvGrpSpPr>
        <p:grpSpPr>
          <a:xfrm>
            <a:off x="483557" y="5906517"/>
            <a:ext cx="975333" cy="165480"/>
            <a:chOff x="344361" y="2423624"/>
            <a:chExt cx="972601" cy="165017"/>
          </a:xfrm>
        </p:grpSpPr>
        <p:sp>
          <p:nvSpPr>
            <p:cNvPr id="21" name="Rectangle: Rounded Corners 20">
              <a:extLst>
                <a:ext uri="{FF2B5EF4-FFF2-40B4-BE49-F238E27FC236}">
                  <a16:creationId xmlns:a16="http://schemas.microsoft.com/office/drawing/2014/main" id="{110BC184-32F0-B272-10E8-3F29D87FB455}"/>
                </a:ext>
              </a:extLst>
            </p:cNvPr>
            <p:cNvSpPr/>
            <p:nvPr/>
          </p:nvSpPr>
          <p:spPr bwMode="auto">
            <a:xfrm>
              <a:off x="344361" y="2423624"/>
              <a:ext cx="972601" cy="165017"/>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24" name="TextBox 23">
              <a:extLst>
                <a:ext uri="{FF2B5EF4-FFF2-40B4-BE49-F238E27FC236}">
                  <a16:creationId xmlns:a16="http://schemas.microsoft.com/office/drawing/2014/main" id="{14015783-DA70-53AD-E6D2-E042E44F29BA}"/>
                </a:ext>
              </a:extLst>
            </p:cNvPr>
            <p:cNvSpPr txBox="1"/>
            <p:nvPr/>
          </p:nvSpPr>
          <p:spPr>
            <a:xfrm>
              <a:off x="760932" y="2444577"/>
              <a:ext cx="139462" cy="123111"/>
            </a:xfrm>
            <a:prstGeom prst="rect">
              <a:avLst/>
            </a:prstGeom>
            <a:noFill/>
          </p:spPr>
          <p:txBody>
            <a:bodyPr wrap="non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803"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rPr>
                <a:t>HR</a:t>
              </a:r>
            </a:p>
          </p:txBody>
        </p:sp>
      </p:grpSp>
      <p:grpSp>
        <p:nvGrpSpPr>
          <p:cNvPr id="49" name="Group 48">
            <a:extLst>
              <a:ext uri="{FF2B5EF4-FFF2-40B4-BE49-F238E27FC236}">
                <a16:creationId xmlns:a16="http://schemas.microsoft.com/office/drawing/2014/main" id="{60B41C0E-9D62-B8AF-9684-1BBCC4F63AFD}"/>
              </a:ext>
            </a:extLst>
          </p:cNvPr>
          <p:cNvGrpSpPr/>
          <p:nvPr/>
        </p:nvGrpSpPr>
        <p:grpSpPr>
          <a:xfrm>
            <a:off x="483556" y="6507058"/>
            <a:ext cx="981333" cy="840872"/>
            <a:chOff x="482202" y="6485774"/>
            <a:chExt cx="978584" cy="838517"/>
          </a:xfrm>
        </p:grpSpPr>
        <p:pic>
          <p:nvPicPr>
            <p:cNvPr id="50" name="Picture 49">
              <a:extLst>
                <a:ext uri="{FF2B5EF4-FFF2-40B4-BE49-F238E27FC236}">
                  <a16:creationId xmlns:a16="http://schemas.microsoft.com/office/drawing/2014/main" id="{774BDA4E-75AF-488A-3E55-F179C4461D03}"/>
                </a:ext>
                <a:ext uri="{C183D7F6-B498-43B3-948B-1728B52AA6E4}">
                  <adec:decorative xmlns:adec="http://schemas.microsoft.com/office/drawing/2017/decorative" val="1"/>
                </a:ext>
              </a:extLst>
            </p:cNvPr>
            <p:cNvPicPr>
              <a:picLocks noChangeAspect="1"/>
            </p:cNvPicPr>
            <p:nvPr/>
          </p:nvPicPr>
          <p:blipFill>
            <a:blip r:embed="rId10">
              <a:extLst>
                <a:ext uri="{28A0092B-C50C-407E-A947-70E740481C1C}">
                  <a14:useLocalDpi xmlns:a14="http://schemas.microsoft.com/office/drawing/2010/main" val="0"/>
                </a:ext>
              </a:extLst>
            </a:blip>
            <a:srcRect t="6191" r="398" b="23459"/>
            <a:stretch>
              <a:fillRect/>
            </a:stretch>
          </p:blipFill>
          <p:spPr>
            <a:xfrm>
              <a:off x="489883" y="6485774"/>
              <a:ext cx="970903" cy="685774"/>
            </a:xfrm>
            <a:prstGeom prst="round2SameRect">
              <a:avLst>
                <a:gd name="adj1" fmla="val 9725"/>
                <a:gd name="adj2" fmla="val 0"/>
              </a:avLst>
            </a:prstGeom>
            <a:effectLst/>
          </p:spPr>
        </p:pic>
        <p:grpSp>
          <p:nvGrpSpPr>
            <p:cNvPr id="51" name="Group 50">
              <a:extLst>
                <a:ext uri="{FF2B5EF4-FFF2-40B4-BE49-F238E27FC236}">
                  <a16:creationId xmlns:a16="http://schemas.microsoft.com/office/drawing/2014/main" id="{21595FC3-FE80-33D7-5E39-6F2B24AD9AF9}"/>
                </a:ext>
              </a:extLst>
            </p:cNvPr>
            <p:cNvGrpSpPr/>
            <p:nvPr/>
          </p:nvGrpSpPr>
          <p:grpSpPr>
            <a:xfrm>
              <a:off x="482202" y="7159274"/>
              <a:ext cx="972601" cy="165017"/>
              <a:chOff x="344361" y="2423624"/>
              <a:chExt cx="972601" cy="165017"/>
            </a:xfrm>
          </p:grpSpPr>
          <p:sp>
            <p:nvSpPr>
              <p:cNvPr id="52" name="Rectangle: Rounded Corners 51">
                <a:extLst>
                  <a:ext uri="{FF2B5EF4-FFF2-40B4-BE49-F238E27FC236}">
                    <a16:creationId xmlns:a16="http://schemas.microsoft.com/office/drawing/2014/main" id="{DEA3E23A-6FC6-4673-EC11-38DE518D6532}"/>
                  </a:ext>
                </a:extLst>
              </p:cNvPr>
              <p:cNvSpPr/>
              <p:nvPr/>
            </p:nvSpPr>
            <p:spPr bwMode="auto">
              <a:xfrm>
                <a:off x="344361" y="2423624"/>
                <a:ext cx="972601" cy="165017"/>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53" name="TextBox 52">
                <a:extLst>
                  <a:ext uri="{FF2B5EF4-FFF2-40B4-BE49-F238E27FC236}">
                    <a16:creationId xmlns:a16="http://schemas.microsoft.com/office/drawing/2014/main" id="{A80F2E35-B462-6ADA-2997-72001E7A8E1B}"/>
                  </a:ext>
                </a:extLst>
              </p:cNvPr>
              <p:cNvSpPr txBox="1"/>
              <p:nvPr/>
            </p:nvSpPr>
            <p:spPr>
              <a:xfrm>
                <a:off x="654333" y="2444577"/>
                <a:ext cx="352661" cy="123111"/>
              </a:xfrm>
              <a:prstGeom prst="rect">
                <a:avLst/>
              </a:prstGeom>
              <a:noFill/>
            </p:spPr>
            <p:txBody>
              <a:bodyPr wrap="non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803"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rPr>
                  <a:t>Finance</a:t>
                </a:r>
              </a:p>
            </p:txBody>
          </p:sp>
        </p:grpSp>
      </p:grpSp>
    </p:spTree>
    <p:extLst>
      <p:ext uri="{BB962C8B-B14F-4D97-AF65-F5344CB8AC3E}">
        <p14:creationId xmlns:p14="http://schemas.microsoft.com/office/powerpoint/2010/main" val="21602719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85001EE-ABA6-13EB-F672-F3A185B2096D}"/>
            </a:ext>
          </a:extLst>
        </p:cNvPr>
        <p:cNvGrpSpPr/>
        <p:nvPr/>
      </p:nvGrpSpPr>
      <p:grpSpPr>
        <a:xfrm>
          <a:off x="0" y="0"/>
          <a:ext cx="0" cy="0"/>
          <a:chOff x="0" y="0"/>
          <a:chExt cx="0" cy="0"/>
        </a:xfrm>
      </p:grpSpPr>
      <p:sp>
        <p:nvSpPr>
          <p:cNvPr id="5" name="Rectangle 3468742">
            <a:extLst>
              <a:ext uri="{FF2B5EF4-FFF2-40B4-BE49-F238E27FC236}">
                <a16:creationId xmlns:a16="http://schemas.microsoft.com/office/drawing/2014/main" id="{9963F151-879F-4558-E6B6-4255986112B0}"/>
              </a:ext>
            </a:extLst>
          </p:cNvPr>
          <p:cNvSpPr/>
          <p:nvPr/>
        </p:nvSpPr>
        <p:spPr>
          <a:xfrm>
            <a:off x="0" y="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8" name="Picture 47">
            <a:extLst>
              <a:ext uri="{FF2B5EF4-FFF2-40B4-BE49-F238E27FC236}">
                <a16:creationId xmlns:a16="http://schemas.microsoft.com/office/drawing/2014/main" id="{5F283AE0-4FB1-7607-6FCB-9A85B3D66739}"/>
              </a:ext>
            </a:extLst>
          </p:cNvPr>
          <p:cNvPicPr>
            <a:picLocks noChangeAspect="1"/>
          </p:cNvPicPr>
          <p:nvPr/>
        </p:nvPicPr>
        <p:blipFill>
          <a:blip r:embed="rId3">
            <a:alphaModFix amt="23000"/>
          </a:blip>
          <a:srcRect l="14306" t="29128" r="12293" b="-1677"/>
          <a:stretch>
            <a:fillRect/>
          </a:stretch>
        </p:blipFill>
        <p:spPr>
          <a:xfrm rot="10800000">
            <a:off x="-1" y="5465343"/>
            <a:ext cx="5667375" cy="2563698"/>
          </a:xfrm>
          <a:prstGeom prst="rect">
            <a:avLst/>
          </a:prstGeom>
          <a:effectLst/>
        </p:spPr>
      </p:pic>
      <p:sp>
        <p:nvSpPr>
          <p:cNvPr id="21" name="Rounded Rectangle 50">
            <a:extLst>
              <a:ext uri="{FF2B5EF4-FFF2-40B4-BE49-F238E27FC236}">
                <a16:creationId xmlns:a16="http://schemas.microsoft.com/office/drawing/2014/main" id="{BE731CDE-96E2-991F-CB49-409737097009}"/>
              </a:ext>
            </a:extLst>
          </p:cNvPr>
          <p:cNvSpPr/>
          <p:nvPr/>
        </p:nvSpPr>
        <p:spPr>
          <a:xfrm>
            <a:off x="409575" y="5881020"/>
            <a:ext cx="4848225" cy="1711294"/>
          </a:xfrm>
          <a:prstGeom prst="roundRect">
            <a:avLst>
              <a:gd name="adj" fmla="val 6250"/>
            </a:avLst>
          </a:prstGeom>
          <a:gradFill>
            <a:gsLst>
              <a:gs pos="0">
                <a:srgbClr val="C03BC4"/>
              </a:gs>
              <a:gs pos="100000">
                <a:srgbClr val="0F6CBD"/>
              </a:gs>
            </a:gsLst>
            <a:lin ang="1800000" scaled="0"/>
          </a:gradFill>
          <a:ln w="9525" cap="flat">
            <a:noFill/>
            <a:prstDash val="solid"/>
            <a:miter/>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TextBox 21">
            <a:extLst>
              <a:ext uri="{FF2B5EF4-FFF2-40B4-BE49-F238E27FC236}">
                <a16:creationId xmlns:a16="http://schemas.microsoft.com/office/drawing/2014/main" id="{335D5494-2DDD-FDAC-3E5F-F857B471EF72}"/>
              </a:ext>
            </a:extLst>
          </p:cNvPr>
          <p:cNvSpPr txBox="1"/>
          <p:nvPr/>
        </p:nvSpPr>
        <p:spPr>
          <a:xfrm>
            <a:off x="568927" y="5964204"/>
            <a:ext cx="4529521" cy="1077218"/>
          </a:xfrm>
          <a:prstGeom prst="rect">
            <a:avLst/>
          </a:prstGeom>
          <a:noFill/>
        </p:spPr>
        <p:txBody>
          <a:bodyPr wrap="square" lIns="91440" tIns="45720" rIns="91440" bIns="45720" anchor="t">
            <a:spAutoFit/>
          </a:bodyPr>
          <a:lstStyle/>
          <a:p>
            <a:pPr algn="ctr">
              <a:defRPr/>
            </a:pPr>
            <a:r>
              <a:rPr lang="en-IN" sz="1600" b="1">
                <a:solidFill>
                  <a:schemeClr val="bg1"/>
                </a:solidFill>
                <a:latin typeface="Segoe UI Semibold"/>
                <a:ea typeface="Segoe UI Semibold" panose="020B0502040204020203" pitchFamily="34" charset="0"/>
                <a:cs typeface="Segoe UI Semibold"/>
              </a:rPr>
              <a:t>Take advantage of the limited time offer on Copilot Business + Business Standard bundle</a:t>
            </a:r>
            <a:endParaRPr lang="en-US"/>
          </a:p>
          <a:p>
            <a:pPr algn="ctr">
              <a:defRPr/>
            </a:pPr>
            <a:endParaRPr lang="en-IN" sz="1600" b="1" dirty="0">
              <a:solidFill>
                <a:schemeClr val="bg1"/>
              </a:solidFill>
              <a:latin typeface="Segoe UI Semibold"/>
              <a:ea typeface="Segoe UI Semibold" panose="020B0502040204020203" pitchFamily="34" charset="0"/>
              <a:cs typeface="Segoe UI Semibold"/>
            </a:endParaRPr>
          </a:p>
          <a:p>
            <a:pPr algn="ctr">
              <a:defRPr/>
            </a:pPr>
            <a:endParaRPr lang="en-IN" sz="1600" b="1" dirty="0">
              <a:solidFill>
                <a:prstClr val="white"/>
              </a:solidFill>
              <a:latin typeface="Segoe UI Semibold"/>
              <a:ea typeface="Segoe UI Semibold" panose="020B0502040204020203" pitchFamily="34" charset="0"/>
              <a:cs typeface="Segoe UI Semibold"/>
            </a:endParaRPr>
          </a:p>
        </p:txBody>
      </p:sp>
      <p:sp>
        <p:nvSpPr>
          <p:cNvPr id="44" name="Rectangle: Rounded Corners 43">
            <a:extLst>
              <a:ext uri="{FF2B5EF4-FFF2-40B4-BE49-F238E27FC236}">
                <a16:creationId xmlns:a16="http://schemas.microsoft.com/office/drawing/2014/main" id="{69B98482-7753-BBB7-C99B-D9552B5F399E}"/>
              </a:ext>
            </a:extLst>
          </p:cNvPr>
          <p:cNvSpPr/>
          <p:nvPr/>
        </p:nvSpPr>
        <p:spPr>
          <a:xfrm>
            <a:off x="560460" y="6652800"/>
            <a:ext cx="1169520" cy="794199"/>
          </a:xfrm>
          <a:prstGeom prst="roundRect">
            <a:avLst>
              <a:gd name="adj" fmla="val 857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Rounded Corners 44">
            <a:extLst>
              <a:ext uri="{FF2B5EF4-FFF2-40B4-BE49-F238E27FC236}">
                <a16:creationId xmlns:a16="http://schemas.microsoft.com/office/drawing/2014/main" id="{2295E5EA-B643-9B69-F10B-46AC296BFB7D}"/>
              </a:ext>
            </a:extLst>
          </p:cNvPr>
          <p:cNvSpPr/>
          <p:nvPr/>
        </p:nvSpPr>
        <p:spPr>
          <a:xfrm>
            <a:off x="1868560" y="6652800"/>
            <a:ext cx="1169520" cy="794199"/>
          </a:xfrm>
          <a:prstGeom prst="roundRect">
            <a:avLst>
              <a:gd name="adj" fmla="val 857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Rounded Corners 45">
            <a:extLst>
              <a:ext uri="{FF2B5EF4-FFF2-40B4-BE49-F238E27FC236}">
                <a16:creationId xmlns:a16="http://schemas.microsoft.com/office/drawing/2014/main" id="{92AEE726-8BD2-E597-8C79-A7DCD64A3DC0}"/>
              </a:ext>
            </a:extLst>
          </p:cNvPr>
          <p:cNvSpPr/>
          <p:nvPr/>
        </p:nvSpPr>
        <p:spPr>
          <a:xfrm>
            <a:off x="3176659" y="6652800"/>
            <a:ext cx="1930255" cy="794199"/>
          </a:xfrm>
          <a:prstGeom prst="roundRect">
            <a:avLst>
              <a:gd name="adj" fmla="val 857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Upgrade investment snapshot">
            <a:extLst>
              <a:ext uri="{FF2B5EF4-FFF2-40B4-BE49-F238E27FC236}">
                <a16:creationId xmlns:a16="http://schemas.microsoft.com/office/drawing/2014/main" id="{FBD0EA6D-9670-1F46-2E2E-01AE80EFC1A8}"/>
              </a:ext>
            </a:extLst>
          </p:cNvPr>
          <p:cNvSpPr/>
          <p:nvPr/>
        </p:nvSpPr>
        <p:spPr>
          <a:xfrm>
            <a:off x="409575" y="229393"/>
            <a:ext cx="4534376" cy="292989"/>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lumMod val="95000"/>
                    <a:lumOff val="5000"/>
                  </a:prstClr>
                </a:solidFill>
                <a:effectLst/>
                <a:uLnTx/>
                <a:uFillTx/>
                <a:latin typeface="Segoe UI Semibold" pitchFamily="34" charset="0"/>
                <a:ea typeface="Segoe UI Semibold" pitchFamily="34" charset="-122"/>
                <a:cs typeface="Segoe UI Semibold" pitchFamily="34" charset="-120"/>
              </a:rPr>
              <a:t>Upgrade investment snapshot</a:t>
            </a:r>
            <a:endParaRPr kumimoji="0" lang="en-US" sz="1800" b="0" i="0" u="none" strike="noStrike" kern="1200" cap="none" spc="0" normalizeH="0" baseline="0" noProof="0">
              <a:ln>
                <a:noFill/>
              </a:ln>
              <a:solidFill>
                <a:srgbClr val="8A226F"/>
              </a:solidFill>
              <a:effectLst/>
              <a:uLnTx/>
              <a:uFillTx/>
              <a:latin typeface="Segoe UI Semibold" pitchFamily="34" charset="0"/>
              <a:ea typeface="Segoe UI Semibold" pitchFamily="34" charset="-122"/>
              <a:cs typeface="Segoe UI Semibold" pitchFamily="34" charset="-120"/>
            </a:endParaRPr>
          </a:p>
        </p:txBody>
      </p:sp>
      <p:grpSp>
        <p:nvGrpSpPr>
          <p:cNvPr id="23" name="Group 22">
            <a:extLst>
              <a:ext uri="{FF2B5EF4-FFF2-40B4-BE49-F238E27FC236}">
                <a16:creationId xmlns:a16="http://schemas.microsoft.com/office/drawing/2014/main" id="{89BA25F9-EA52-8013-7E00-650EADAFE30F}"/>
              </a:ext>
            </a:extLst>
          </p:cNvPr>
          <p:cNvGrpSpPr/>
          <p:nvPr/>
        </p:nvGrpSpPr>
        <p:grpSpPr>
          <a:xfrm>
            <a:off x="723138" y="6781298"/>
            <a:ext cx="911808" cy="581563"/>
            <a:chOff x="560824" y="3417674"/>
            <a:chExt cx="911808" cy="581563"/>
          </a:xfrm>
        </p:grpSpPr>
        <p:sp>
          <p:nvSpPr>
            <p:cNvPr id="24" name="Actual cost of the solution per user">
              <a:extLst>
                <a:ext uri="{FF2B5EF4-FFF2-40B4-BE49-F238E27FC236}">
                  <a16:creationId xmlns:a16="http://schemas.microsoft.com/office/drawing/2014/main" id="{18140637-8C41-50B4-1443-148F6C8FDDC7}"/>
                </a:ext>
              </a:extLst>
            </p:cNvPr>
            <p:cNvSpPr/>
            <p:nvPr/>
          </p:nvSpPr>
          <p:spPr>
            <a:xfrm>
              <a:off x="561976" y="3417674"/>
              <a:ext cx="910656" cy="286232"/>
            </a:xfrm>
            <a:prstGeom prst="rect">
              <a:avLst/>
            </a:prstGeom>
            <a:noFill/>
            <a:ln/>
          </p:spPr>
          <p:txBody>
            <a:bodyPr wrap="square" lIns="0" tIns="0" rIns="0" bIns="0" rtlCol="0" anchor="ctr">
              <a:spAutoFit/>
            </a:bodyPr>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t>Actual cost </a:t>
              </a:r>
              <a:b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br>
              <a: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t>per user</a:t>
              </a:r>
              <a:endParaRPr kumimoji="0" lang="en-US" sz="1200" b="0" i="0" u="none" strike="noStrike" kern="1200" cap="none" spc="0" normalizeH="0" baseline="0" noProof="0">
                <a:ln>
                  <a:noFill/>
                </a:ln>
                <a:solidFill>
                  <a:schemeClr val="tx1">
                    <a:lumMod val="95000"/>
                    <a:lumOff val="5000"/>
                  </a:schemeClr>
                </a:solidFill>
                <a:effectLst/>
                <a:uLnTx/>
                <a:uFillTx/>
                <a:latin typeface="Calibri" panose="020F0502020204030204"/>
                <a:ea typeface="+mn-ea"/>
                <a:cs typeface="+mn-cs"/>
              </a:endParaRPr>
            </a:p>
          </p:txBody>
        </p:sp>
        <p:sp>
          <p:nvSpPr>
            <p:cNvPr id="25" name="ADD ACTUAL PRICE">
              <a:extLst>
                <a:ext uri="{FF2B5EF4-FFF2-40B4-BE49-F238E27FC236}">
                  <a16:creationId xmlns:a16="http://schemas.microsoft.com/office/drawing/2014/main" id="{6AA9F7A3-BDDD-D331-5B03-D0CA8027AFDE}"/>
                </a:ext>
              </a:extLst>
            </p:cNvPr>
            <p:cNvSpPr/>
            <p:nvPr/>
          </p:nvSpPr>
          <p:spPr>
            <a:xfrm>
              <a:off x="560824" y="3839321"/>
              <a:ext cx="910656" cy="159916"/>
            </a:xfrm>
            <a:prstGeom prst="rect">
              <a:avLst/>
            </a:prstGeom>
            <a:noFill/>
            <a:ln/>
          </p:spPr>
          <p:txBody>
            <a:bodyPr wrap="square" lIns="0" tIns="0" rIns="0" bIns="0" rtlCol="0" anchor="ctr">
              <a:spAutoFit/>
            </a:bodyPr>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1600" b="1" i="0" u="none" strike="noStrike" kern="1200" cap="none" spc="0" normalizeH="0" baseline="0" noProof="0">
                  <a:ln>
                    <a:noFill/>
                  </a:ln>
                  <a:solidFill>
                    <a:srgbClr val="B740C5"/>
                  </a:solidFill>
                  <a:effectLst/>
                  <a:uLnTx/>
                  <a:uFillTx/>
                  <a:latin typeface="Segoe UI Regular" pitchFamily="34" charset="0"/>
                  <a:ea typeface="Segoe UI Regular"/>
                  <a:cs typeface="Segoe UI Regular" pitchFamily="34" charset="-120"/>
                </a:rPr>
                <a:t>$</a:t>
              </a:r>
              <a:r>
                <a:rPr lang="en-US" sz="1600" b="1">
                  <a:solidFill>
                    <a:srgbClr val="B740C5"/>
                  </a:solidFill>
                  <a:latin typeface="Segoe UI Regular" pitchFamily="34" charset="0"/>
                  <a:ea typeface="Segoe UI Regular"/>
                  <a:cs typeface="Segoe UI Regular" pitchFamily="34" charset="-120"/>
                </a:rPr>
                <a:t>33.5</a:t>
              </a:r>
              <a:endParaRPr kumimoji="0" lang="en-US" sz="1600" b="1" i="0" u="none" strike="noStrike" kern="1200" cap="none" spc="0" normalizeH="0" baseline="0" noProof="0">
                <a:ln>
                  <a:noFill/>
                </a:ln>
                <a:solidFill>
                  <a:srgbClr val="B740C5"/>
                </a:solidFill>
                <a:effectLst/>
                <a:uLnTx/>
                <a:uFillTx/>
                <a:latin typeface="Calibri" panose="020F0502020204030204"/>
                <a:ea typeface="+mn-ea"/>
                <a:cs typeface="+mn-cs"/>
              </a:endParaRPr>
            </a:p>
          </p:txBody>
        </p:sp>
      </p:grpSp>
      <p:grpSp>
        <p:nvGrpSpPr>
          <p:cNvPr id="26" name="Group 25">
            <a:extLst>
              <a:ext uri="{FF2B5EF4-FFF2-40B4-BE49-F238E27FC236}">
                <a16:creationId xmlns:a16="http://schemas.microsoft.com/office/drawing/2014/main" id="{1A4C9618-4186-5389-0B37-64202BD4C492}"/>
              </a:ext>
            </a:extLst>
          </p:cNvPr>
          <p:cNvGrpSpPr/>
          <p:nvPr/>
        </p:nvGrpSpPr>
        <p:grpSpPr>
          <a:xfrm>
            <a:off x="2031335" y="6781298"/>
            <a:ext cx="931078" cy="579078"/>
            <a:chOff x="560825" y="3417674"/>
            <a:chExt cx="1307552" cy="579078"/>
          </a:xfrm>
        </p:grpSpPr>
        <p:sp>
          <p:nvSpPr>
            <p:cNvPr id="27" name="Actual cost of the solution per user">
              <a:extLst>
                <a:ext uri="{FF2B5EF4-FFF2-40B4-BE49-F238E27FC236}">
                  <a16:creationId xmlns:a16="http://schemas.microsoft.com/office/drawing/2014/main" id="{891D069D-7FAA-ABB2-416A-F6629574FCFA}"/>
                </a:ext>
              </a:extLst>
            </p:cNvPr>
            <p:cNvSpPr/>
            <p:nvPr/>
          </p:nvSpPr>
          <p:spPr>
            <a:xfrm>
              <a:off x="561977" y="3417674"/>
              <a:ext cx="1284405" cy="286232"/>
            </a:xfrm>
            <a:prstGeom prst="rect">
              <a:avLst/>
            </a:prstGeom>
            <a:noFill/>
            <a:ln/>
          </p:spPr>
          <p:txBody>
            <a:bodyPr wrap="square" lIns="0" tIns="0" rIns="0" bIns="0" rtlCol="0" anchor="ctr">
              <a:spAutoFit/>
            </a:bodyPr>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t>Cost after </a:t>
              </a:r>
              <a:b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br>
              <a: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t>promo</a:t>
              </a:r>
              <a:endParaRPr kumimoji="0" lang="en-US" sz="1200" b="0" i="0" u="none" strike="noStrike" kern="1200" cap="none" spc="0" normalizeH="0" baseline="0" noProof="0">
                <a:ln>
                  <a:noFill/>
                </a:ln>
                <a:solidFill>
                  <a:schemeClr val="tx1">
                    <a:lumMod val="95000"/>
                    <a:lumOff val="5000"/>
                  </a:schemeClr>
                </a:solidFill>
                <a:effectLst/>
                <a:uLnTx/>
                <a:uFillTx/>
                <a:latin typeface="Calibri" panose="020F0502020204030204"/>
                <a:ea typeface="+mn-ea"/>
                <a:cs typeface="+mn-cs"/>
              </a:endParaRPr>
            </a:p>
          </p:txBody>
        </p:sp>
        <p:sp>
          <p:nvSpPr>
            <p:cNvPr id="28" name="ADD ACTUAL PRICE">
              <a:extLst>
                <a:ext uri="{FF2B5EF4-FFF2-40B4-BE49-F238E27FC236}">
                  <a16:creationId xmlns:a16="http://schemas.microsoft.com/office/drawing/2014/main" id="{DE3C2C00-C8EC-A8DB-0F39-8134BFDBCD32}"/>
                </a:ext>
              </a:extLst>
            </p:cNvPr>
            <p:cNvSpPr/>
            <p:nvPr/>
          </p:nvSpPr>
          <p:spPr>
            <a:xfrm>
              <a:off x="560825" y="3836836"/>
              <a:ext cx="1307552" cy="159916"/>
            </a:xfrm>
            <a:prstGeom prst="rect">
              <a:avLst/>
            </a:prstGeom>
            <a:noFill/>
            <a:ln/>
          </p:spPr>
          <p:txBody>
            <a:bodyPr wrap="square" lIns="0" tIns="0" rIns="0" bIns="0" rtlCol="0" anchor="ctr">
              <a:spAutoFit/>
            </a:bodyPr>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1600" b="1" i="0" u="none" strike="noStrike" kern="1200" cap="none" spc="0" normalizeH="0" baseline="0" noProof="0">
                  <a:ln>
                    <a:noFill/>
                  </a:ln>
                  <a:solidFill>
                    <a:srgbClr val="B740C5"/>
                  </a:solidFill>
                  <a:effectLst/>
                  <a:uLnTx/>
                  <a:uFillTx/>
                  <a:latin typeface="Segoe UI Regular" pitchFamily="34" charset="0"/>
                  <a:ea typeface="Segoe UI Regular"/>
                  <a:cs typeface="Segoe UI Regular" pitchFamily="34" charset="-120"/>
                </a:rPr>
                <a:t>$</a:t>
              </a:r>
              <a:r>
                <a:rPr lang="en-US" sz="1600" b="1">
                  <a:solidFill>
                    <a:srgbClr val="B740C5"/>
                  </a:solidFill>
                  <a:latin typeface="Segoe UI Regular" pitchFamily="34" charset="0"/>
                  <a:ea typeface="Segoe UI Regular"/>
                  <a:cs typeface="Segoe UI Regular" pitchFamily="34" charset="-120"/>
                </a:rPr>
                <a:t>22</a:t>
              </a:r>
              <a:endParaRPr kumimoji="0" lang="en-US" sz="1600" b="1" i="0" u="none" strike="noStrike" kern="1200" cap="none" spc="0" normalizeH="0" baseline="0" noProof="0">
                <a:ln>
                  <a:noFill/>
                </a:ln>
                <a:solidFill>
                  <a:srgbClr val="B740C5"/>
                </a:solidFill>
                <a:effectLst/>
                <a:uLnTx/>
                <a:uFillTx/>
                <a:latin typeface="Calibri" panose="020F0502020204030204"/>
                <a:ea typeface="+mn-ea"/>
                <a:cs typeface="+mn-cs"/>
              </a:endParaRPr>
            </a:p>
          </p:txBody>
        </p:sp>
      </p:grpSp>
      <p:grpSp>
        <p:nvGrpSpPr>
          <p:cNvPr id="30" name="Group 29">
            <a:extLst>
              <a:ext uri="{FF2B5EF4-FFF2-40B4-BE49-F238E27FC236}">
                <a16:creationId xmlns:a16="http://schemas.microsoft.com/office/drawing/2014/main" id="{BCC9252B-0CE4-76BC-E0E4-CA03A147903A}"/>
              </a:ext>
            </a:extLst>
          </p:cNvPr>
          <p:cNvGrpSpPr/>
          <p:nvPr/>
        </p:nvGrpSpPr>
        <p:grpSpPr>
          <a:xfrm>
            <a:off x="3246829" y="6661790"/>
            <a:ext cx="1789913" cy="692605"/>
            <a:chOff x="3196954" y="6537777"/>
            <a:chExt cx="1789913" cy="692605"/>
          </a:xfrm>
        </p:grpSpPr>
        <p:sp>
          <p:nvSpPr>
            <p:cNvPr id="31" name="Actual cost of the solution per user">
              <a:extLst>
                <a:ext uri="{FF2B5EF4-FFF2-40B4-BE49-F238E27FC236}">
                  <a16:creationId xmlns:a16="http://schemas.microsoft.com/office/drawing/2014/main" id="{2B657F8E-3CE2-EC98-0B22-4541E9664A2F}"/>
                </a:ext>
              </a:extLst>
            </p:cNvPr>
            <p:cNvSpPr/>
            <p:nvPr/>
          </p:nvSpPr>
          <p:spPr>
            <a:xfrm>
              <a:off x="3196954" y="7045716"/>
              <a:ext cx="1789913" cy="184666"/>
            </a:xfrm>
            <a:prstGeom prst="rect">
              <a:avLst/>
            </a:prstGeom>
            <a:noFill/>
            <a:ln/>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tx1">
                      <a:lumMod val="95000"/>
                      <a:lumOff val="5000"/>
                    </a:schemeClr>
                  </a:solidFill>
                  <a:effectLst/>
                  <a:uLnTx/>
                  <a:uFillTx/>
                  <a:latin typeface="Segoe UI Semibold" panose="020B0502040204020203" pitchFamily="34" charset="0"/>
                  <a:ea typeface="Segoe UI Semibold" panose="020B0502040204020203" pitchFamily="34" charset="0"/>
                  <a:cs typeface="Segoe UI Semibold" panose="020B0502040204020203" pitchFamily="34" charset="0"/>
                </a:rPr>
                <a:t>Savings from the promo</a:t>
              </a:r>
            </a:p>
          </p:txBody>
        </p:sp>
        <p:sp>
          <p:nvSpPr>
            <p:cNvPr id="32" name="Actual cost of the solution per user">
              <a:extLst>
                <a:ext uri="{FF2B5EF4-FFF2-40B4-BE49-F238E27FC236}">
                  <a16:creationId xmlns:a16="http://schemas.microsoft.com/office/drawing/2014/main" id="{6837BF5B-FED9-3D6F-B84D-871AD3ED8DE7}"/>
                </a:ext>
              </a:extLst>
            </p:cNvPr>
            <p:cNvSpPr/>
            <p:nvPr/>
          </p:nvSpPr>
          <p:spPr>
            <a:xfrm>
              <a:off x="3521650" y="6537777"/>
              <a:ext cx="1117294" cy="565146"/>
            </a:xfrm>
            <a:prstGeom prst="rect">
              <a:avLst/>
            </a:prstGeom>
            <a:noFill/>
            <a:ln/>
          </p:spPr>
          <p:txBody>
            <a:bodyPr wrap="square" lIns="0" tIns="36000" rIns="0" bIns="3600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a:ln>
                    <a:noFill/>
                  </a:ln>
                  <a:solidFill>
                    <a:srgbClr val="B740C5"/>
                  </a:solidFill>
                  <a:effectLst/>
                  <a:uLnTx/>
                  <a:uFillTx/>
                  <a:latin typeface="Segoe UI Bold"/>
                  <a:ea typeface="Segoe UI Semibold" panose="020B0502040204020203" pitchFamily="34" charset="0"/>
                  <a:cs typeface="Segoe UI Bold"/>
                </a:rPr>
                <a:t>~</a:t>
              </a:r>
              <a:r>
                <a:rPr lang="en-US" sz="3200" b="1">
                  <a:solidFill>
                    <a:srgbClr val="B740C5"/>
                  </a:solidFill>
                  <a:latin typeface="Segoe UI Bold"/>
                  <a:ea typeface="Segoe UI Semibold" panose="020B0502040204020203" pitchFamily="34" charset="0"/>
                  <a:cs typeface="Segoe UI Bold"/>
                </a:rPr>
                <a:t>35</a:t>
              </a:r>
              <a:r>
                <a:rPr kumimoji="0" lang="en-US" sz="3200" b="1" i="0" u="none" strike="noStrike" kern="1200" cap="none" spc="0" normalizeH="0" baseline="0" noProof="0">
                  <a:ln>
                    <a:noFill/>
                  </a:ln>
                  <a:solidFill>
                    <a:srgbClr val="B740C5"/>
                  </a:solidFill>
                  <a:effectLst/>
                  <a:uLnTx/>
                  <a:uFillTx/>
                  <a:latin typeface="Segoe UI Bold"/>
                  <a:ea typeface="Segoe UI Semibold" panose="020B0502040204020203" pitchFamily="34" charset="0"/>
                  <a:cs typeface="Segoe UI Bold"/>
                </a:rPr>
                <a:t>%</a:t>
              </a:r>
              <a:endParaRPr kumimoji="0" lang="en-US" sz="1200" b="1" i="0" u="none" strike="noStrike" kern="1200" cap="none" spc="0" normalizeH="0" baseline="0" noProof="0">
                <a:ln>
                  <a:noFill/>
                </a:ln>
                <a:solidFill>
                  <a:srgbClr val="B740C5"/>
                </a:solidFill>
                <a:effectLst/>
                <a:uLnTx/>
                <a:uFillTx/>
                <a:latin typeface="Segoe UI Bold"/>
                <a:ea typeface="Segoe UI Semibold" panose="020B0502040204020203" pitchFamily="34" charset="0"/>
                <a:cs typeface="Segoe UI Bold"/>
              </a:endParaRPr>
            </a:p>
          </p:txBody>
        </p:sp>
      </p:grpSp>
      <p:sp>
        <p:nvSpPr>
          <p:cNvPr id="49" name="Text 8">
            <a:extLst>
              <a:ext uri="{FF2B5EF4-FFF2-40B4-BE49-F238E27FC236}">
                <a16:creationId xmlns:a16="http://schemas.microsoft.com/office/drawing/2014/main" id="{91AFE902-17FD-61F3-E778-58BF18FA2D93}"/>
              </a:ext>
            </a:extLst>
          </p:cNvPr>
          <p:cNvSpPr/>
          <p:nvPr/>
        </p:nvSpPr>
        <p:spPr>
          <a:xfrm>
            <a:off x="409575" y="7653195"/>
            <a:ext cx="4848225" cy="275543"/>
          </a:xfrm>
          <a:prstGeom prst="rect">
            <a:avLst/>
          </a:prstGeom>
          <a:noFill/>
          <a:ln/>
        </p:spPr>
        <p:txBody>
          <a:bodyPr wrap="square" lIns="0" tIns="0" rIns="0" bIns="0" rtlCol="0" anchor="t"/>
          <a:lstStyle/>
          <a:p>
            <a:r>
              <a:rPr lang="en-US" sz="500">
                <a:highlight>
                  <a:srgbClr val="FFFF00"/>
                </a:highlight>
                <a:latin typeface="Segoe UI Semibold" panose="020B0702040204020203" pitchFamily="34" charset="0"/>
                <a:cs typeface="Segoe UI Semibold" panose="020B0702040204020203" pitchFamily="34" charset="0"/>
              </a:rPr>
              <a:t>[NOTE - PLEASE DELETE BEFORE SENDING TO THE CUSTOMER]</a:t>
            </a:r>
          </a:p>
          <a:p>
            <a:r>
              <a:rPr lang="en-US" sz="500">
                <a:highlight>
                  <a:srgbClr val="FFFF00"/>
                </a:highlight>
                <a:latin typeface="Segoe UI" panose="020B0502040204020203" pitchFamily="34" charset="0"/>
                <a:cs typeface="Segoe UI" panose="020B0502040204020203" pitchFamily="34" charset="0"/>
              </a:rPr>
              <a:t>The calculation above is based on active promos, partner MAICPP status, Microsoft Commercial Incentives, and Microsoft list price, and assumes additional information on margins. This is for reference only and subject to change. Please review the calculation, and adjust before sending it to the customer. Microsoft would not be responsible for the content or accuracy of any information/claim made in this document, or for any decisions made based on such information. </a:t>
            </a:r>
          </a:p>
        </p:txBody>
      </p:sp>
      <p:graphicFrame>
        <p:nvGraphicFramePr>
          <p:cNvPr id="2" name="Table 1">
            <a:extLst>
              <a:ext uri="{FF2B5EF4-FFF2-40B4-BE49-F238E27FC236}">
                <a16:creationId xmlns:a16="http://schemas.microsoft.com/office/drawing/2014/main" id="{E18ED55F-C9CB-5C1E-0016-232143374497}"/>
              </a:ext>
            </a:extLst>
          </p:cNvPr>
          <p:cNvGraphicFramePr>
            <a:graphicFrameLocks noGrp="1"/>
          </p:cNvGraphicFramePr>
          <p:nvPr>
            <p:extLst>
              <p:ext uri="{D42A27DB-BD31-4B8C-83A1-F6EECF244321}">
                <p14:modId xmlns:p14="http://schemas.microsoft.com/office/powerpoint/2010/main" val="402185509"/>
              </p:ext>
            </p:extLst>
          </p:nvPr>
        </p:nvGraphicFramePr>
        <p:xfrm>
          <a:off x="409573" y="635244"/>
          <a:ext cx="4848226" cy="5044861"/>
        </p:xfrm>
        <a:graphic>
          <a:graphicData uri="http://schemas.openxmlformats.org/drawingml/2006/table">
            <a:tbl>
              <a:tblPr firstRow="1" bandRow="1">
                <a:tableStyleId>{5C22544A-7EE6-4342-B048-85BDC9FD1C3A}</a:tableStyleId>
              </a:tblPr>
              <a:tblGrid>
                <a:gridCol w="2424113">
                  <a:extLst>
                    <a:ext uri="{9D8B030D-6E8A-4147-A177-3AD203B41FA5}">
                      <a16:colId xmlns:a16="http://schemas.microsoft.com/office/drawing/2014/main" val="4060207558"/>
                    </a:ext>
                  </a:extLst>
                </a:gridCol>
                <a:gridCol w="2424113">
                  <a:extLst>
                    <a:ext uri="{9D8B030D-6E8A-4147-A177-3AD203B41FA5}">
                      <a16:colId xmlns:a16="http://schemas.microsoft.com/office/drawing/2014/main" val="1051174369"/>
                    </a:ext>
                  </a:extLst>
                </a:gridCol>
              </a:tblGrid>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Current SKU</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mpd="sng">
                      <a:noFill/>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a:t>
                      </a:r>
                      <a:r>
                        <a:rPr kumimoji="0" lang="en-US" sz="1200" b="0" i="0" u="none" strike="noStrike" kern="1200" cap="none" spc="0" normalizeH="0" baseline="0" noProof="0" dirty="0" err="1">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start_sku</a:t>
                      </a: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a:t>
                      </a:r>
                      <a:endPar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mpd="sng">
                      <a:noFill/>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81056158"/>
                  </a:ext>
                </a:extLst>
              </a:tr>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 Seats</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{seats}​</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57064573"/>
                  </a:ext>
                </a:extLst>
              </a:tr>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Current investment​</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expiring_arr</a:t>
                      </a: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10304552"/>
                  </a:ext>
                </a:extLst>
              </a:tr>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Upgrade solution​</a:t>
                      </a:r>
                      <a:endPar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1" i="0" u="none" strike="noStrike" kern="1200" cap="none" spc="0" normalizeH="0" baseline="0" noProof="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target_sku</a:t>
                      </a: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81662354"/>
                  </a:ext>
                </a:extLst>
              </a:tr>
              <a:tr h="5137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 Proposed seats for upgrade​</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dirty="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add_proposed_seat</a:t>
                      </a: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52903458"/>
                  </a:ext>
                </a:extLst>
              </a:tr>
              <a:tr h="6600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Actual cost of the solution 
per user</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dirty="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actual_price_per_user</a:t>
                      </a: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91811118"/>
                  </a:ext>
                </a:extLst>
              </a:tr>
              <a:tr h="396220">
                <a:tc>
                  <a:txBody>
                    <a:bodyPr/>
                    <a:lstStyle/>
                    <a:p>
                      <a:pPr>
                        <a:buNone/>
                      </a:pPr>
                      <a:r>
                        <a:rPr lang="en-IN" sz="1200">
                          <a:solidFill>
                            <a:srgbClr val="8A226F"/>
                          </a:solidFill>
                          <a:latin typeface="Segoe UI Semibold" panose="020B0702040204020203" pitchFamily="34" charset="0"/>
                          <a:ea typeface="Segoe UI Regular" pitchFamily="34" charset="-122"/>
                          <a:cs typeface="Segoe UI Semibold" panose="020B0702040204020203" pitchFamily="34" charset="0"/>
                        </a:rPr>
                        <a:t>Savings from promo price</a:t>
                      </a: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nSpc>
                          <a:spcPts val="1050"/>
                        </a:lnSpc>
                      </a:pPr>
                      <a:r>
                        <a:rPr lang="en-US" sz="1200">
                          <a:solidFill>
                            <a:srgbClr val="8A226F"/>
                          </a:solidFill>
                          <a:latin typeface="Segoe UI Semibold" panose="020B0702040204020203" pitchFamily="34" charset="0"/>
                          <a:ea typeface="Segoe UI Regular" pitchFamily="34" charset="-122"/>
                          <a:cs typeface="Segoe UI Semibold" panose="020B0702040204020203" pitchFamily="34" charset="0"/>
                        </a:rPr>
                        <a:t>{</a:t>
                      </a:r>
                      <a:r>
                        <a:rPr lang="en-US" sz="1200" err="1">
                          <a:solidFill>
                            <a:srgbClr val="8A226F"/>
                          </a:solidFill>
                          <a:latin typeface="Segoe UI Semibold" panose="020B0702040204020203" pitchFamily="34" charset="0"/>
                          <a:ea typeface="Segoe UI Regular" pitchFamily="34" charset="-122"/>
                          <a:cs typeface="Segoe UI Semibold" panose="020B0702040204020203" pitchFamily="34" charset="0"/>
                        </a:rPr>
                        <a:t>promo_savings_per_user</a:t>
                      </a:r>
                      <a:r>
                        <a:rPr lang="en-US" sz="1200">
                          <a:solidFill>
                            <a:srgbClr val="8A226F"/>
                          </a:solidFill>
                          <a:latin typeface="Segoe UI Semibold" panose="020B0702040204020203" pitchFamily="34" charset="0"/>
                          <a:ea typeface="Segoe UI Regular" pitchFamily="34" charset="-122"/>
                          <a:cs typeface="Segoe UI Semibold" panose="020B0702040204020203" pitchFamily="34" charset="0"/>
                        </a:rPr>
                        <a:t>}</a:t>
                      </a:r>
                      <a:endParaRPr lang="en-US" sz="1200">
                        <a:solidFill>
                          <a:srgbClr val="8A226F"/>
                        </a:solidFill>
                        <a:latin typeface="Segoe UI Semibold" panose="020B0702040204020203" pitchFamily="34" charset="0"/>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55301172"/>
                  </a:ext>
                </a:extLst>
              </a:tr>
              <a:tr h="660073">
                <a:tc>
                  <a:txBody>
                    <a:bodyPr/>
                    <a:lstStyle/>
                    <a:p>
                      <a:r>
                        <a:rPr lang="en-IN" sz="1200">
                          <a:solidFill>
                            <a:srgbClr val="242424"/>
                          </a:solidFill>
                          <a:latin typeface="Segoe UI" panose="020B0502040204020203" pitchFamily="34" charset="0"/>
                          <a:ea typeface="Segoe UI Regular" pitchFamily="34" charset="-122"/>
                          <a:cs typeface="Segoe UI" panose="020B0502040204020203" pitchFamily="34" charset="0"/>
                        </a:rPr>
                        <a:t>Cost per user after adjusting promo price</a:t>
                      </a: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l">
                        <a:lnSpc>
                          <a:spcPts val="1050"/>
                        </a:lnSpc>
                        <a:buNone/>
                      </a:pPr>
                      <a:r>
                        <a:rPr lang="en-US" sz="1200">
                          <a:solidFill>
                            <a:srgbClr val="000000"/>
                          </a:solidFill>
                          <a:latin typeface="Segoe UI" panose="020B0502040204020203" pitchFamily="34" charset="0"/>
                          <a:ea typeface="Segoe UI Regular" pitchFamily="34" charset="-122"/>
                          <a:cs typeface="Segoe UI" panose="020B0502040204020203" pitchFamily="34" charset="0"/>
                        </a:rPr>
                        <a:t>{</a:t>
                      </a:r>
                      <a:r>
                        <a:rPr lang="en-US" sz="1200" err="1">
                          <a:solidFill>
                            <a:srgbClr val="000000"/>
                          </a:solidFill>
                          <a:latin typeface="Segoe UI" panose="020B0502040204020203" pitchFamily="34" charset="0"/>
                          <a:ea typeface="Segoe UI Regular" pitchFamily="34" charset="-122"/>
                          <a:cs typeface="Segoe UI" panose="020B0502040204020203" pitchFamily="34" charset="0"/>
                        </a:rPr>
                        <a:t>per_user_after_promo_price</a:t>
                      </a:r>
                      <a:r>
                        <a:rPr lang="en-US" sz="1200">
                          <a:solidFill>
                            <a:srgbClr val="000000"/>
                          </a:solidFill>
                          <a:latin typeface="Segoe UI" panose="020B0502040204020203" pitchFamily="34" charset="0"/>
                          <a:ea typeface="Segoe UI Regular" pitchFamily="34" charset="-122"/>
                          <a:cs typeface="Segoe UI" panose="020B0502040204020203" pitchFamily="34" charset="0"/>
                        </a:rPr>
                        <a:t>}</a:t>
                      </a:r>
                      <a:endParaRPr lang="en-US" sz="1200">
                        <a:latin typeface="Segoe UI" panose="020B0502040204020203" pitchFamily="34" charset="0"/>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14654878"/>
                  </a:ext>
                </a:extLst>
              </a:tr>
              <a:tr h="5137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Incremental cost per user​</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a:t>
                      </a:r>
                      <a:r>
                        <a:rPr kumimoji="0" lang="en-US" sz="1200" b="1" i="0" u="none" strike="noStrike" kern="1200" cap="none" spc="0" normalizeH="0" baseline="0" noProof="0" err="1">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incremental_cost_per_user</a:t>
                      </a: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25926240"/>
                  </a:ext>
                </a:extLst>
              </a:tr>
              <a:tr h="7161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Total incremental annual investment for {seats} seats</a:t>
                      </a: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0" i="0" u="none" strike="noStrike" kern="1200" cap="none" spc="0" normalizeH="0" baseline="0" noProof="0" dirty="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overall_incremental_cost</a:t>
                      </a: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6960226"/>
                  </a:ext>
                </a:extLst>
              </a:tr>
            </a:tbl>
          </a:graphicData>
        </a:graphic>
      </p:graphicFrame>
    </p:spTree>
    <p:extLst>
      <p:ext uri="{BB962C8B-B14F-4D97-AF65-F5344CB8AC3E}">
        <p14:creationId xmlns:p14="http://schemas.microsoft.com/office/powerpoint/2010/main" val="22603705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37CBAF6-E5B9-8957-B233-FCF78C789D62}"/>
            </a:ext>
          </a:extLst>
        </p:cNvPr>
        <p:cNvGrpSpPr/>
        <p:nvPr/>
      </p:nvGrpSpPr>
      <p:grpSpPr>
        <a:xfrm>
          <a:off x="0" y="0"/>
          <a:ext cx="0" cy="0"/>
          <a:chOff x="0" y="0"/>
          <a:chExt cx="0" cy="0"/>
        </a:xfrm>
      </p:grpSpPr>
      <p:sp>
        <p:nvSpPr>
          <p:cNvPr id="3" name="Rectangle 3468742">
            <a:extLst>
              <a:ext uri="{FF2B5EF4-FFF2-40B4-BE49-F238E27FC236}">
                <a16:creationId xmlns:a16="http://schemas.microsoft.com/office/drawing/2014/main" id="{AF1BCF53-5C73-1AD6-E844-D11AC1C222B4}"/>
              </a:ext>
            </a:extLst>
          </p:cNvPr>
          <p:cNvSpPr/>
          <p:nvPr/>
        </p:nvSpPr>
        <p:spPr>
          <a:xfrm>
            <a:off x="0" y="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8">
            <a:extLst>
              <a:ext uri="{FF2B5EF4-FFF2-40B4-BE49-F238E27FC236}">
                <a16:creationId xmlns:a16="http://schemas.microsoft.com/office/drawing/2014/main" id="{35D7EAE9-A714-D02B-3F52-A241BD2B192C}"/>
              </a:ext>
            </a:extLst>
          </p:cNvPr>
          <p:cNvSpPr/>
          <p:nvPr/>
        </p:nvSpPr>
        <p:spPr>
          <a:xfrm>
            <a:off x="310621" y="1237368"/>
            <a:ext cx="5105977" cy="3788342"/>
          </a:xfrm>
          <a:prstGeom prst="rect">
            <a:avLst/>
          </a:prstGeom>
          <a:noFill/>
          <a:ln/>
        </p:spPr>
        <p:txBody>
          <a:bodyPr wrap="square" lIns="0" tIns="0" rIns="0" bIns="0" rtlCol="0" anchor="t"/>
          <a:lstStyle/>
          <a:p>
            <a:pPr lvl="0">
              <a:lnSpc>
                <a:spcPts val="1250"/>
              </a:lnSpc>
              <a:defRPr/>
            </a:pPr>
            <a:r>
              <a:rPr lang="en-US" sz="1000" b="1">
                <a:solidFill>
                  <a:srgbClr val="FF0000"/>
                </a:solidFill>
                <a:highlight>
                  <a:srgbClr val="FFFF00"/>
                </a:highlight>
                <a:latin typeface="Segoe UI Regular" pitchFamily="34" charset="0"/>
                <a:ea typeface="Segoe UI Regular" pitchFamily="34" charset="-122"/>
                <a:cs typeface="Segoe UI Regular" pitchFamily="34" charset="-120"/>
              </a:rPr>
              <a:t>[INSTRUCTION FOR THE PARTNER]</a:t>
            </a:r>
            <a:r>
              <a:rPr lang="en-US" sz="1000">
                <a:solidFill>
                  <a:srgbClr val="FF0000"/>
                </a:solidFill>
                <a:latin typeface="Segoe UI Regular" pitchFamily="34" charset="0"/>
                <a:ea typeface="Segoe UI Regular" pitchFamily="34" charset="-122"/>
                <a:cs typeface="Segoe UI Regular" pitchFamily="34" charset="-120"/>
              </a:rPr>
              <a:t> Partner to insert their personalized information on: Value proposition and methodology, experience, Microsoft services, advanced specializations, and past awards.</a:t>
            </a:r>
          </a:p>
          <a:p>
            <a:pPr lvl="0">
              <a:lnSpc>
                <a:spcPts val="1250"/>
              </a:lnSpc>
              <a:defRPr/>
            </a:pPr>
            <a:endParaRPr lang="en-US" sz="1000">
              <a:solidFill>
                <a:srgbClr val="FF0000"/>
              </a:solidFill>
              <a:latin typeface="Segoe UI Regular" pitchFamily="34" charset="0"/>
              <a:ea typeface="Segoe UI Regular" pitchFamily="34" charset="-122"/>
            </a:endParaRPr>
          </a:p>
          <a:p>
            <a:pPr lvl="0">
              <a:lnSpc>
                <a:spcPts val="1250"/>
              </a:lnSpc>
              <a:defRPr/>
            </a:pPr>
            <a:r>
              <a:rPr lang="en-US" sz="1000">
                <a:solidFill>
                  <a:srgbClr val="FF0000"/>
                </a:solidFill>
                <a:latin typeface="Segoe UI Regular" pitchFamily="34" charset="0"/>
                <a:ea typeface="Segoe UI Regular" pitchFamily="34" charset="-122"/>
              </a:rPr>
              <a:t>You can leverage Copilot Chat to customize this section! Add your website URL, upload this flyer on Copilot Chat, and prompt it to write a draft for this section.</a:t>
            </a:r>
            <a:endParaRPr lang="en-US" sz="1000">
              <a:solidFill>
                <a:srgbClr val="FF0000"/>
              </a:solidFill>
            </a:endParaRPr>
          </a:p>
        </p:txBody>
      </p:sp>
      <p:sp>
        <p:nvSpPr>
          <p:cNvPr id="6" name="TextBox 5">
            <a:extLst>
              <a:ext uri="{FF2B5EF4-FFF2-40B4-BE49-F238E27FC236}">
                <a16:creationId xmlns:a16="http://schemas.microsoft.com/office/drawing/2014/main" id="{B1E44A8B-E4D6-DB6E-1500-317A75C1517A}"/>
              </a:ext>
            </a:extLst>
          </p:cNvPr>
          <p:cNvSpPr txBox="1"/>
          <p:nvPr/>
        </p:nvSpPr>
        <p:spPr>
          <a:xfrm>
            <a:off x="216139" y="398146"/>
            <a:ext cx="4440528" cy="711733"/>
          </a:xfrm>
          <a:prstGeom prst="rect">
            <a:avLst/>
          </a:prstGeom>
          <a:noFill/>
        </p:spPr>
        <p:txBody>
          <a:bodyPr wrap="square">
            <a:spAutoFit/>
          </a:bodyPr>
          <a:lstStyle/>
          <a:p>
            <a:pPr lvl="0">
              <a:lnSpc>
                <a:spcPct val="116667"/>
              </a:lnSpc>
              <a:defRPr/>
            </a:pPr>
            <a:r>
              <a:rPr lang="en-US">
                <a:solidFill>
                  <a:srgbClr val="000000"/>
                </a:solidFill>
                <a:latin typeface="Segoe UI Semibold" panose="020B0702040204020203" pitchFamily="34" charset="0"/>
                <a:ea typeface="Inter Semi Bold" pitchFamily="34" charset="-122"/>
                <a:cs typeface="Segoe UI Semibold" panose="020B0702040204020203" pitchFamily="34" charset="0"/>
              </a:rPr>
              <a:t>Accelerate your Secure AI transformation with [PARTNER NAME]</a:t>
            </a:r>
            <a:endParaRPr lang="en-US">
              <a:solidFill>
                <a:prstClr val="black"/>
              </a:solidFill>
              <a:latin typeface="Segoe UI Semibold" panose="020B0702040204020203" pitchFamily="34" charset="0"/>
              <a:cs typeface="Segoe UI Semibold" panose="020B0702040204020203" pitchFamily="34" charset="0"/>
            </a:endParaRPr>
          </a:p>
        </p:txBody>
      </p:sp>
      <p:pic>
        <p:nvPicPr>
          <p:cNvPr id="7" name="Picture 6">
            <a:extLst>
              <a:ext uri="{FF2B5EF4-FFF2-40B4-BE49-F238E27FC236}">
                <a16:creationId xmlns:a16="http://schemas.microsoft.com/office/drawing/2014/main" id="{085EC2C9-4683-D1E8-24E3-12A312A592FE}"/>
              </a:ext>
            </a:extLst>
          </p:cNvPr>
          <p:cNvPicPr>
            <a:picLocks noChangeAspect="1"/>
          </p:cNvPicPr>
          <p:nvPr/>
        </p:nvPicPr>
        <p:blipFill>
          <a:blip r:embed="rId3">
            <a:alphaModFix amt="45000"/>
          </a:blip>
          <a:srcRect l="-1" t="38794" r="10102" b="-27649"/>
          <a:stretch>
            <a:fillRect/>
          </a:stretch>
        </p:blipFill>
        <p:spPr>
          <a:xfrm rot="10800000">
            <a:off x="-1" y="5465343"/>
            <a:ext cx="5667375" cy="2563698"/>
          </a:xfrm>
          <a:prstGeom prst="rect">
            <a:avLst/>
          </a:prstGeom>
          <a:effectLst/>
        </p:spPr>
      </p:pic>
    </p:spTree>
    <p:extLst>
      <p:ext uri="{BB962C8B-B14F-4D97-AF65-F5344CB8AC3E}">
        <p14:creationId xmlns:p14="http://schemas.microsoft.com/office/powerpoint/2010/main" val="2431751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2_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1092</Words>
  <Application>Microsoft Office PowerPoint</Application>
  <PresentationFormat>Custom</PresentationFormat>
  <Paragraphs>192</Paragraphs>
  <Slides>5</Slides>
  <Notes>5</Notes>
  <HiddenSlides>0</HiddenSlides>
  <MMClips>0</MMClips>
  <ScaleCrop>false</ScaleCrop>
  <HeadingPairs>
    <vt:vector size="6" baseType="variant">
      <vt:variant>
        <vt:lpstr>Fonts Used</vt:lpstr>
      </vt:variant>
      <vt:variant>
        <vt:i4>11</vt:i4>
      </vt:variant>
      <vt:variant>
        <vt:lpstr>Theme</vt:lpstr>
      </vt:variant>
      <vt:variant>
        <vt:i4>3</vt:i4>
      </vt:variant>
      <vt:variant>
        <vt:lpstr>Slide Titles</vt:lpstr>
      </vt:variant>
      <vt:variant>
        <vt:i4>5</vt:i4>
      </vt:variant>
    </vt:vector>
  </HeadingPairs>
  <TitlesOfParts>
    <vt:vector size="19" baseType="lpstr">
      <vt:lpstr>Aptos</vt:lpstr>
      <vt:lpstr>Aptos Display</vt:lpstr>
      <vt:lpstr>Arial</vt:lpstr>
      <vt:lpstr>Calibri</vt:lpstr>
      <vt:lpstr>Segoe Sans Display</vt:lpstr>
      <vt:lpstr>Segoe Sans Display Semibold</vt:lpstr>
      <vt:lpstr>Segoe UI</vt:lpstr>
      <vt:lpstr>Segoe UI Bold</vt:lpstr>
      <vt:lpstr>Segoe UI Regular</vt:lpstr>
      <vt:lpstr>Segoe UI Semibold</vt:lpstr>
      <vt:lpstr>Segoe UI Variable Display Semib</vt:lpstr>
      <vt:lpstr>Office Theme</vt:lpstr>
      <vt:lpstr>1_Office Theme</vt:lpstr>
      <vt:lpstr>2_Office Theme</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Vandan Jain</cp:lastModifiedBy>
  <cp:revision>9</cp:revision>
  <dcterms:created xsi:type="dcterms:W3CDTF">2026-02-21T17:45:29Z</dcterms:created>
  <dcterms:modified xsi:type="dcterms:W3CDTF">2026-04-30T10:18:55Z</dcterms:modified>
</cp:coreProperties>
</file>