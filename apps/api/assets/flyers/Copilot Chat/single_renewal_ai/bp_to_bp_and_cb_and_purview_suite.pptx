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2" r:id="rId2"/>
    <p:sldMasterId id="2147483656" r:id="rId3"/>
    <p:sldMasterId id="2147483668" r:id="rId4"/>
  </p:sldMasterIdLst>
  <p:notesMasterIdLst>
    <p:notesMasterId r:id="rId11"/>
  </p:notesMasterIdLst>
  <p:sldIdLst>
    <p:sldId id="2147470025" r:id="rId5"/>
    <p:sldId id="275" r:id="rId6"/>
    <p:sldId id="2147470008" r:id="rId7"/>
    <p:sldId id="274" r:id="rId8"/>
    <p:sldId id="2147470024" r:id="rId9"/>
    <p:sldId id="2147470015" r:id="rId10"/>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41B838-045D-4E0C-BCDE-51967D7D1BC2}" v="2" dt="2026-04-30T10:17:43.6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893"/>
    <p:restoredTop sz="92717" autoAdjust="0"/>
  </p:normalViewPr>
  <p:slideViewPr>
    <p:cSldViewPr snapToGrid="0" snapToObjects="1">
      <p:cViewPr varScale="1">
        <p:scale>
          <a:sx n="92" d="100"/>
          <a:sy n="92" d="100"/>
        </p:scale>
        <p:origin x="2140" y="60"/>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delMainMaster">
      <pc:chgData name="Vandan Jain" userId="4244b45b-25d1-413d-855b-6597e767c081" providerId="ADAL" clId="{67AB2A15-26B8-47FB-BEC6-EFDC03C3B3B6}" dt="2026-04-30T10:17:43.669" v="34"/>
      <pc:docMkLst>
        <pc:docMk/>
      </pc:docMkLst>
      <pc:sldChg chg="add">
        <pc:chgData name="Vandan Jain" userId="4244b45b-25d1-413d-855b-6597e767c081" providerId="ADAL" clId="{67AB2A15-26B8-47FB-BEC6-EFDC03C3B3B6}" dt="2026-04-30T10:17:43.669" v="34"/>
        <pc:sldMkLst>
          <pc:docMk/>
          <pc:sldMk cId="2160271917" sldId="274"/>
        </pc:sldMkLst>
      </pc:sldChg>
      <pc:sldChg chg="add">
        <pc:chgData name="Vandan Jain" userId="4244b45b-25d1-413d-855b-6597e767c081" providerId="ADAL" clId="{67AB2A15-26B8-47FB-BEC6-EFDC03C3B3B6}" dt="2026-04-28T15:59:06.595" v="30"/>
        <pc:sldMkLst>
          <pc:docMk/>
          <pc:sldMk cId="1144813852" sldId="275"/>
        </pc:sldMkLst>
      </pc:sldChg>
      <pc:sldChg chg="add">
        <pc:chgData name="Vandan Jain" userId="4244b45b-25d1-413d-855b-6597e767c081" providerId="ADAL" clId="{67AB2A15-26B8-47FB-BEC6-EFDC03C3B3B6}" dt="2026-04-28T15:59:06.595" v="30"/>
        <pc:sldMkLst>
          <pc:docMk/>
          <pc:sldMk cId="502757189" sldId="21474700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3414673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2"/>
            <a:ext cx="4817268" cy="2792166"/>
          </a:xfrm>
        </p:spPr>
        <p:txBody>
          <a:bodyPr anchor="b"/>
          <a:lstStyle>
            <a:lvl1pPr algn="ctr">
              <a:defRPr sz="3719"/>
            </a:lvl1pPr>
          </a:lstStyle>
          <a:p>
            <a:r>
              <a:rPr lang="en-US"/>
              <a:t>Click to edit Master title style</a:t>
            </a:r>
            <a:endParaRPr lang="en-US" dirty="0"/>
          </a:p>
        </p:txBody>
      </p:sp>
      <p:sp>
        <p:nvSpPr>
          <p:cNvPr id="3" name="Subtitle 2"/>
          <p:cNvSpPr>
            <a:spLocks noGrp="1"/>
          </p:cNvSpPr>
          <p:nvPr>
            <p:ph type="subTitle" idx="1"/>
          </p:nvPr>
        </p:nvSpPr>
        <p:spPr>
          <a:xfrm>
            <a:off x="708422" y="4212384"/>
            <a:ext cx="4250532" cy="1936322"/>
          </a:xfrm>
        </p:spPr>
        <p:txBody>
          <a:bodyPr/>
          <a:lstStyle>
            <a:lvl1pPr marL="0" indent="0" algn="ctr">
              <a:buNone/>
              <a:defRPr sz="1488"/>
            </a:lvl1pPr>
            <a:lvl2pPr marL="283383" indent="0" algn="ctr">
              <a:buNone/>
              <a:defRPr sz="1240"/>
            </a:lvl2pPr>
            <a:lvl3pPr marL="566766" indent="0" algn="ctr">
              <a:buNone/>
              <a:defRPr sz="1116"/>
            </a:lvl3pPr>
            <a:lvl4pPr marL="850150" indent="0" algn="ctr">
              <a:buNone/>
              <a:defRPr sz="991"/>
            </a:lvl4pPr>
            <a:lvl5pPr marL="1133532" indent="0" algn="ctr">
              <a:buNone/>
              <a:defRPr sz="991"/>
            </a:lvl5pPr>
            <a:lvl6pPr marL="1416915" indent="0" algn="ctr">
              <a:buNone/>
              <a:defRPr sz="991"/>
            </a:lvl6pPr>
            <a:lvl7pPr marL="1700298" indent="0" algn="ctr">
              <a:buNone/>
              <a:defRPr sz="991"/>
            </a:lvl7pPr>
            <a:lvl8pPr marL="1983682" indent="0" algn="ctr">
              <a:buNone/>
              <a:defRPr sz="991"/>
            </a:lvl8pPr>
            <a:lvl9pPr marL="2267064" indent="0" algn="ctr">
              <a:buNone/>
              <a:defRPr sz="9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87790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05168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681" y="1999447"/>
            <a:ext cx="4888111" cy="3336117"/>
          </a:xfrm>
        </p:spPr>
        <p:txBody>
          <a:bodyPr anchor="b"/>
          <a:lstStyle>
            <a:lvl1pPr>
              <a:defRPr sz="3719"/>
            </a:lvl1pPr>
          </a:lstStyle>
          <a:p>
            <a:r>
              <a:rPr lang="en-US"/>
              <a:t>Click to edit Master title style</a:t>
            </a:r>
            <a:endParaRPr lang="en-US" dirty="0"/>
          </a:p>
        </p:txBody>
      </p:sp>
      <p:sp>
        <p:nvSpPr>
          <p:cNvPr id="3" name="Text Placeholder 2"/>
          <p:cNvSpPr>
            <a:spLocks noGrp="1"/>
          </p:cNvSpPr>
          <p:nvPr>
            <p:ph type="body" idx="1"/>
          </p:nvPr>
        </p:nvSpPr>
        <p:spPr>
          <a:xfrm>
            <a:off x="386681" y="5367124"/>
            <a:ext cx="4888111" cy="1754386"/>
          </a:xfrm>
        </p:spPr>
        <p:txBody>
          <a:bodyPr/>
          <a:lstStyle>
            <a:lvl1pPr marL="0" indent="0">
              <a:buNone/>
              <a:defRPr sz="1488">
                <a:solidFill>
                  <a:schemeClr val="tx1">
                    <a:tint val="82000"/>
                  </a:schemeClr>
                </a:solidFill>
              </a:defRPr>
            </a:lvl1pPr>
            <a:lvl2pPr marL="283383" indent="0">
              <a:buNone/>
              <a:defRPr sz="1240">
                <a:solidFill>
                  <a:schemeClr val="tx1">
                    <a:tint val="82000"/>
                  </a:schemeClr>
                </a:solidFill>
              </a:defRPr>
            </a:lvl2pPr>
            <a:lvl3pPr marL="566766" indent="0">
              <a:buNone/>
              <a:defRPr sz="1116">
                <a:solidFill>
                  <a:schemeClr val="tx1">
                    <a:tint val="82000"/>
                  </a:schemeClr>
                </a:solidFill>
              </a:defRPr>
            </a:lvl3pPr>
            <a:lvl4pPr marL="850150" indent="0">
              <a:buNone/>
              <a:defRPr sz="991">
                <a:solidFill>
                  <a:schemeClr val="tx1">
                    <a:tint val="82000"/>
                  </a:schemeClr>
                </a:solidFill>
              </a:defRPr>
            </a:lvl4pPr>
            <a:lvl5pPr marL="1133532" indent="0">
              <a:buNone/>
              <a:defRPr sz="991">
                <a:solidFill>
                  <a:schemeClr val="tx1">
                    <a:tint val="82000"/>
                  </a:schemeClr>
                </a:solidFill>
              </a:defRPr>
            </a:lvl5pPr>
            <a:lvl6pPr marL="1416915" indent="0">
              <a:buNone/>
              <a:defRPr sz="991">
                <a:solidFill>
                  <a:schemeClr val="tx1">
                    <a:tint val="82000"/>
                  </a:schemeClr>
                </a:solidFill>
              </a:defRPr>
            </a:lvl6pPr>
            <a:lvl7pPr marL="1700298" indent="0">
              <a:buNone/>
              <a:defRPr sz="991">
                <a:solidFill>
                  <a:schemeClr val="tx1">
                    <a:tint val="82000"/>
                  </a:schemeClr>
                </a:solidFill>
              </a:defRPr>
            </a:lvl7pPr>
            <a:lvl8pPr marL="1983682" indent="0">
              <a:buNone/>
              <a:defRPr sz="991">
                <a:solidFill>
                  <a:schemeClr val="tx1">
                    <a:tint val="82000"/>
                  </a:schemeClr>
                </a:solidFill>
              </a:defRPr>
            </a:lvl8pPr>
            <a:lvl9pPr marL="2267064" indent="0">
              <a:buNone/>
              <a:defRPr sz="99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287739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9633"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69109"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967111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0371" y="426996"/>
            <a:ext cx="4888111" cy="1550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0370" y="1966027"/>
            <a:ext cx="2397565"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4" name="Content Placeholder 3"/>
          <p:cNvSpPr>
            <a:spLocks noGrp="1"/>
          </p:cNvSpPr>
          <p:nvPr>
            <p:ph sz="half" idx="2"/>
          </p:nvPr>
        </p:nvSpPr>
        <p:spPr>
          <a:xfrm>
            <a:off x="390370" y="2929547"/>
            <a:ext cx="2397565"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69110" y="1966027"/>
            <a:ext cx="2409372"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6" name="Content Placeholder 5"/>
          <p:cNvSpPr>
            <a:spLocks noGrp="1"/>
          </p:cNvSpPr>
          <p:nvPr>
            <p:ph sz="quarter" idx="4"/>
          </p:nvPr>
        </p:nvSpPr>
        <p:spPr>
          <a:xfrm>
            <a:off x="2869110" y="2929547"/>
            <a:ext cx="2409372"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30-04-2026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67896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30-04-2026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1238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30-04-2026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424172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Content Placeholder 2"/>
          <p:cNvSpPr>
            <a:spLocks noGrp="1"/>
          </p:cNvSpPr>
          <p:nvPr>
            <p:ph idx="1"/>
          </p:nvPr>
        </p:nvSpPr>
        <p:spPr>
          <a:xfrm>
            <a:off x="2409373" y="1154742"/>
            <a:ext cx="2869108" cy="5699434"/>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201127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9373" y="1154742"/>
            <a:ext cx="2869108" cy="5699434"/>
          </a:xfrm>
        </p:spPr>
        <p:txBody>
          <a:bodyPr anchor="t"/>
          <a:lstStyle>
            <a:lvl1pPr marL="0" indent="0">
              <a:buNone/>
              <a:defRPr sz="1984"/>
            </a:lvl1pPr>
            <a:lvl2pPr marL="283383" indent="0">
              <a:buNone/>
              <a:defRPr sz="1736"/>
            </a:lvl2pPr>
            <a:lvl3pPr marL="566766" indent="0">
              <a:buNone/>
              <a:defRPr sz="1488"/>
            </a:lvl3pPr>
            <a:lvl4pPr marL="850150" indent="0">
              <a:buNone/>
              <a:defRPr sz="1240"/>
            </a:lvl4pPr>
            <a:lvl5pPr marL="1133532" indent="0">
              <a:buNone/>
              <a:defRPr sz="1240"/>
            </a:lvl5pPr>
            <a:lvl6pPr marL="1416915" indent="0">
              <a:buNone/>
              <a:defRPr sz="1240"/>
            </a:lvl6pPr>
            <a:lvl7pPr marL="1700298" indent="0">
              <a:buNone/>
              <a:defRPr sz="1240"/>
            </a:lvl7pPr>
            <a:lvl8pPr marL="1983682" indent="0">
              <a:buNone/>
              <a:defRPr sz="1240"/>
            </a:lvl8pPr>
            <a:lvl9pPr marL="2267064" indent="0">
              <a:buNone/>
              <a:defRPr sz="1240"/>
            </a:lvl9pPr>
          </a:lstStyle>
          <a:p>
            <a:r>
              <a:rPr lang="en-US"/>
              <a:t>Click icon to add picture</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592777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6406960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55715" y="426993"/>
            <a:ext cx="1222028" cy="67966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9633" y="426993"/>
            <a:ext cx="3595241" cy="67966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2558165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566968576"/>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2945956514"/>
      </p:ext>
    </p:extLst>
  </p:cSld>
  <p:clrMap bg1="lt1" tx1="dk1" bg2="lt2" tx2="dk2" accent1="accent1" accent2="accent2" accent3="accent3" accent4="accent4" accent5="accent5" accent6="accent6" hlink="hlink" folHlink="folHlink"/>
  <p:sldLayoutIdLst>
    <p:sldLayoutId id="2147483653"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9633" y="2134967"/>
            <a:ext cx="4888111" cy="50886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632" y="7433400"/>
            <a:ext cx="1275159"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B72F6F66-F0E3-45FA-BF06-9237F73415C1}" type="datetimeFigureOut">
              <a:rPr lang="en-IN" smtClean="0"/>
              <a:t>30-04-2026</a:t>
            </a:fld>
            <a:endParaRPr lang="en-IN"/>
          </a:p>
        </p:txBody>
      </p:sp>
      <p:sp>
        <p:nvSpPr>
          <p:cNvPr id="5" name="Footer Placeholder 4"/>
          <p:cNvSpPr>
            <a:spLocks noGrp="1"/>
          </p:cNvSpPr>
          <p:nvPr>
            <p:ph type="ftr" sz="quarter" idx="3"/>
          </p:nvPr>
        </p:nvSpPr>
        <p:spPr>
          <a:xfrm>
            <a:off x="1877319" y="7433400"/>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002585" y="7433400"/>
            <a:ext cx="1275159"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816310133"/>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txStyles>
    <p:titleStyle>
      <a:lvl1pPr algn="l" defTabSz="697216" rtl="0" eaLnBrk="1" latinLnBrk="0" hangingPunct="1">
        <a:lnSpc>
          <a:spcPct val="90000"/>
        </a:lnSpc>
        <a:spcBef>
          <a:spcPct val="0"/>
        </a:spcBef>
        <a:buNone/>
        <a:defRPr sz="3355" kern="1200">
          <a:solidFill>
            <a:schemeClr val="tx1"/>
          </a:solidFill>
          <a:latin typeface="+mj-lt"/>
          <a:ea typeface="+mj-ea"/>
          <a:cs typeface="+mj-cs"/>
        </a:defRPr>
      </a:lvl1pPr>
    </p:titleStyle>
    <p:bodyStyle>
      <a:lvl1pPr marL="174304" indent="-174304" algn="l" defTabSz="697216" rtl="0" eaLnBrk="1" latinLnBrk="0" hangingPunct="1">
        <a:lnSpc>
          <a:spcPct val="90000"/>
        </a:lnSpc>
        <a:spcBef>
          <a:spcPts val="763"/>
        </a:spcBef>
        <a:buFont typeface="Arial" panose="020B0604020202020204" pitchFamily="34" charset="0"/>
        <a:buChar char="•"/>
        <a:defRPr sz="2135" kern="1200">
          <a:solidFill>
            <a:schemeClr val="tx1"/>
          </a:solidFill>
          <a:latin typeface="+mn-lt"/>
          <a:ea typeface="+mn-ea"/>
          <a:cs typeface="+mn-cs"/>
        </a:defRPr>
      </a:lvl1pPr>
      <a:lvl2pPr marL="522911" indent="-174304" algn="l" defTabSz="697216" rtl="0" eaLnBrk="1" latinLnBrk="0" hangingPunct="1">
        <a:lnSpc>
          <a:spcPct val="90000"/>
        </a:lnSpc>
        <a:spcBef>
          <a:spcPts val="381"/>
        </a:spcBef>
        <a:buFont typeface="Arial" panose="020B0604020202020204" pitchFamily="34" charset="0"/>
        <a:buChar char="•"/>
        <a:defRPr sz="1830" kern="1200">
          <a:solidFill>
            <a:schemeClr val="tx1"/>
          </a:solidFill>
          <a:latin typeface="+mn-lt"/>
          <a:ea typeface="+mn-ea"/>
          <a:cs typeface="+mn-cs"/>
        </a:defRPr>
      </a:lvl2pPr>
      <a:lvl3pPr marL="871519" indent="-174304" algn="l" defTabSz="697216" rtl="0" eaLnBrk="1" latinLnBrk="0" hangingPunct="1">
        <a:lnSpc>
          <a:spcPct val="90000"/>
        </a:lnSpc>
        <a:spcBef>
          <a:spcPts val="381"/>
        </a:spcBef>
        <a:buFont typeface="Arial" panose="020B0604020202020204" pitchFamily="34" charset="0"/>
        <a:buChar char="•"/>
        <a:defRPr sz="1525" kern="1200">
          <a:solidFill>
            <a:schemeClr val="tx1"/>
          </a:solidFill>
          <a:latin typeface="+mn-lt"/>
          <a:ea typeface="+mn-ea"/>
          <a:cs typeface="+mn-cs"/>
        </a:defRPr>
      </a:lvl3pPr>
      <a:lvl4pPr marL="122012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4pPr>
      <a:lvl5pPr marL="156873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5pPr>
      <a:lvl6pPr marL="1917342"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6pPr>
      <a:lvl7pPr marL="2265949"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7pPr>
      <a:lvl8pPr marL="261455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8pPr>
      <a:lvl9pPr marL="296316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9pPr>
    </p:bodyStyle>
    <p:otherStyle>
      <a:defPPr>
        <a:defRPr lang="en-US"/>
      </a:defPPr>
      <a:lvl1pPr marL="0" algn="l" defTabSz="697216" rtl="0" eaLnBrk="1" latinLnBrk="0" hangingPunct="1">
        <a:defRPr sz="1373" kern="1200">
          <a:solidFill>
            <a:schemeClr val="tx1"/>
          </a:solidFill>
          <a:latin typeface="+mn-lt"/>
          <a:ea typeface="+mn-ea"/>
          <a:cs typeface="+mn-cs"/>
        </a:defRPr>
      </a:lvl1pPr>
      <a:lvl2pPr marL="348607" algn="l" defTabSz="697216" rtl="0" eaLnBrk="1" latinLnBrk="0" hangingPunct="1">
        <a:defRPr sz="1373" kern="1200">
          <a:solidFill>
            <a:schemeClr val="tx1"/>
          </a:solidFill>
          <a:latin typeface="+mn-lt"/>
          <a:ea typeface="+mn-ea"/>
          <a:cs typeface="+mn-cs"/>
        </a:defRPr>
      </a:lvl2pPr>
      <a:lvl3pPr marL="697216" algn="l" defTabSz="697216" rtl="0" eaLnBrk="1" latinLnBrk="0" hangingPunct="1">
        <a:defRPr sz="1373" kern="1200">
          <a:solidFill>
            <a:schemeClr val="tx1"/>
          </a:solidFill>
          <a:latin typeface="+mn-lt"/>
          <a:ea typeface="+mn-ea"/>
          <a:cs typeface="+mn-cs"/>
        </a:defRPr>
      </a:lvl3pPr>
      <a:lvl4pPr marL="1045823" algn="l" defTabSz="697216" rtl="0" eaLnBrk="1" latinLnBrk="0" hangingPunct="1">
        <a:defRPr sz="1373" kern="1200">
          <a:solidFill>
            <a:schemeClr val="tx1"/>
          </a:solidFill>
          <a:latin typeface="+mn-lt"/>
          <a:ea typeface="+mn-ea"/>
          <a:cs typeface="+mn-cs"/>
        </a:defRPr>
      </a:lvl4pPr>
      <a:lvl5pPr marL="1394430" algn="l" defTabSz="697216" rtl="0" eaLnBrk="1" latinLnBrk="0" hangingPunct="1">
        <a:defRPr sz="1373" kern="1200">
          <a:solidFill>
            <a:schemeClr val="tx1"/>
          </a:solidFill>
          <a:latin typeface="+mn-lt"/>
          <a:ea typeface="+mn-ea"/>
          <a:cs typeface="+mn-cs"/>
        </a:defRPr>
      </a:lvl5pPr>
      <a:lvl6pPr marL="1743037" algn="l" defTabSz="697216" rtl="0" eaLnBrk="1" latinLnBrk="0" hangingPunct="1">
        <a:defRPr sz="1373" kern="1200">
          <a:solidFill>
            <a:schemeClr val="tx1"/>
          </a:solidFill>
          <a:latin typeface="+mn-lt"/>
          <a:ea typeface="+mn-ea"/>
          <a:cs typeface="+mn-cs"/>
        </a:defRPr>
      </a:lvl6pPr>
      <a:lvl7pPr marL="2091645" algn="l" defTabSz="697216" rtl="0" eaLnBrk="1" latinLnBrk="0" hangingPunct="1">
        <a:defRPr sz="1373" kern="1200">
          <a:solidFill>
            <a:schemeClr val="tx1"/>
          </a:solidFill>
          <a:latin typeface="+mn-lt"/>
          <a:ea typeface="+mn-ea"/>
          <a:cs typeface="+mn-cs"/>
        </a:defRPr>
      </a:lvl7pPr>
      <a:lvl8pPr marL="2440253" algn="l" defTabSz="697216" rtl="0" eaLnBrk="1" latinLnBrk="0" hangingPunct="1">
        <a:defRPr sz="1373" kern="1200">
          <a:solidFill>
            <a:schemeClr val="tx1"/>
          </a:solidFill>
          <a:latin typeface="+mn-lt"/>
          <a:ea typeface="+mn-ea"/>
          <a:cs typeface="+mn-cs"/>
        </a:defRPr>
      </a:lvl8pPr>
      <a:lvl9pPr marL="2788860" algn="l" defTabSz="697216" rtl="0" eaLnBrk="1" latinLnBrk="0" hangingPunct="1">
        <a:defRPr sz="137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4/30/2026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2892339802"/>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hyperlink" Target="https://adoption.microsoft.com/en-us/copilot/frontier-progra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2.png"/><Relationship Id="rId7" Type="http://schemas.openxmlformats.org/officeDocument/2006/relationships/image" Target="../media/image16.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18.png"/><Relationship Id="rId7" Type="http://schemas.openxmlformats.org/officeDocument/2006/relationships/image" Target="../media/image22.jpe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21.jpeg"/><Relationship Id="rId5" Type="http://schemas.openxmlformats.org/officeDocument/2006/relationships/image" Target="../media/image20.svg"/><Relationship Id="rId10" Type="http://schemas.openxmlformats.org/officeDocument/2006/relationships/image" Target="../media/image25.jpeg"/><Relationship Id="rId4" Type="http://schemas.openxmlformats.org/officeDocument/2006/relationships/image" Target="../media/image19.png"/><Relationship Id="rId9" Type="http://schemas.openxmlformats.org/officeDocument/2006/relationships/image" Target="../media/image24.jpe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8"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9"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2"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1860"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3"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9"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710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1393"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71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2"/>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8"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8" y="537529"/>
            <a:ext cx="4107950" cy="6286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760" rtl="0" eaLnBrk="1" fontAlgn="auto" latinLnBrk="0" hangingPunct="1">
              <a:lnSpc>
                <a:spcPct val="100000"/>
              </a:lnSpc>
              <a:spcBef>
                <a:spcPts val="0"/>
              </a:spcBef>
              <a:spcAft>
                <a:spcPts val="0"/>
              </a:spcAft>
              <a:buClrTx/>
              <a:buSzTx/>
              <a:buFontTx/>
              <a:buNone/>
              <a:tabLst/>
              <a:defRPr/>
            </a:pPr>
            <a:r>
              <a:rPr kumimoji="0" lang="en-US" sz="2043" b="0" i="0" u="none" strike="noStrike" kern="1200" cap="none" spc="-23" normalizeH="0" baseline="0" noProof="0" dirty="0">
                <a:ln>
                  <a:noFill/>
                </a:ln>
                <a:solidFill>
                  <a:prstClr val="black"/>
                </a:solidFill>
                <a:effectLst/>
                <a:uLnTx/>
                <a:uFillTx/>
                <a:latin typeface="Segoe Sans Display Semibold" pitchFamily="2" charset="0"/>
                <a:ea typeface="+mn-ea"/>
                <a:cs typeface="Segoe Sans Display Semibold" pitchFamily="2" charset="0"/>
              </a:rPr>
              <a:t>Upgrade your AI experience from Copilot Chat to 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3"/>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270488" y="1235545"/>
            <a:ext cx="5149660" cy="509544"/>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903"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Your employees are already using Copilot Chat, for drafting, brainstorming, summarizing, and getting fast answers from the web. It's now time to level up their AI experience by moving them to Copilot Business - the same Copilot you trust, now grounded in work data, and with advanced AI capabilities.</a:t>
            </a:r>
          </a:p>
        </p:txBody>
      </p:sp>
      <p:sp>
        <p:nvSpPr>
          <p:cNvPr id="34" name="TextBox 33">
            <a:extLst>
              <a:ext uri="{FF2B5EF4-FFF2-40B4-BE49-F238E27FC236}">
                <a16:creationId xmlns:a16="http://schemas.microsoft.com/office/drawing/2014/main" id="{15AFBDD5-E345-8BE7-9EBC-42DAC836805C}"/>
              </a:ext>
            </a:extLst>
          </p:cNvPr>
          <p:cNvSpPr txBox="1"/>
          <p:nvPr/>
        </p:nvSpPr>
        <p:spPr>
          <a:xfrm>
            <a:off x="457734" y="2235330"/>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Access to Work IQ</a:t>
            </a:r>
          </a:p>
        </p:txBody>
      </p:sp>
      <p:sp>
        <p:nvSpPr>
          <p:cNvPr id="44" name="TextBox 43">
            <a:extLst>
              <a:ext uri="{FF2B5EF4-FFF2-40B4-BE49-F238E27FC236}">
                <a16:creationId xmlns:a16="http://schemas.microsoft.com/office/drawing/2014/main" id="{952D3AB5-9E88-5A39-0102-55A67C3D0ADA}"/>
              </a:ext>
            </a:extLst>
          </p:cNvPr>
          <p:cNvSpPr txBox="1"/>
          <p:nvPr/>
        </p:nvSpPr>
        <p:spPr>
          <a:xfrm>
            <a:off x="2985793" y="2235329"/>
            <a:ext cx="2348689" cy="249819"/>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Office and Chat capabilities</a:t>
            </a:r>
            <a:endParaRPr kumimoji="0" lang="en-US" sz="1003" b="0" i="0" u="none" strike="noStrike" kern="1200" cap="none" spc="0" normalizeH="0" baseline="0" noProof="0" dirty="0">
              <a:ln>
                <a:noFill/>
              </a:ln>
              <a:solidFill>
                <a:srgbClr val="FFFFFF"/>
              </a:solidFill>
              <a:effectLst/>
              <a:uLnTx/>
              <a:uFillTx/>
              <a:latin typeface="Segoe UI"/>
              <a:ea typeface="+mn-ea"/>
              <a:cs typeface="+mn-cs"/>
            </a:endParaRPr>
          </a:p>
        </p:txBody>
      </p:sp>
      <p:sp>
        <p:nvSpPr>
          <p:cNvPr id="51" name="TextBox 50">
            <a:extLst>
              <a:ext uri="{FF2B5EF4-FFF2-40B4-BE49-F238E27FC236}">
                <a16:creationId xmlns:a16="http://schemas.microsoft.com/office/drawing/2014/main" id="{4FA72D8D-D486-FB0D-61D6-3E2B1BE707CB}"/>
              </a:ext>
            </a:extLst>
          </p:cNvPr>
          <p:cNvSpPr txBox="1"/>
          <p:nvPr/>
        </p:nvSpPr>
        <p:spPr>
          <a:xfrm>
            <a:off x="565409" y="7142288"/>
            <a:ext cx="1911965"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Copilot for Sales, Service, and Finance directly available in the Copilot Chat interface</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112609" y="7142288"/>
            <a:ext cx="209507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Deep measurement and reporting capabilities designed to help you measure the impact of AI</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56242"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Access to Researcher and Analyst to tackle complex, multi-step tasks, earlier reserved for highly-skilled experts</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848"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a:t>
            </a:r>
          </a:p>
        </p:txBody>
      </p:sp>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15521" t="49370" r="2204" b="9188"/>
          <a:stretch>
            <a:fillRect/>
          </a:stretch>
        </p:blipFill>
        <p:spPr bwMode="auto">
          <a:xfrm>
            <a:off x="2923190" y="6230389"/>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99419"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Model choice</a:t>
            </a: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57734" y="5837872"/>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Role-based AI solutions</a:t>
            </a: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87758" y="5837872"/>
            <a:ext cx="234476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Deep analytics</a:t>
            </a:r>
          </a:p>
        </p:txBody>
      </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8"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2813"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reasoning agents</a:t>
            </a: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3" y="397237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4"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Box 5">
            <a:extLst>
              <a:ext uri="{FF2B5EF4-FFF2-40B4-BE49-F238E27FC236}">
                <a16:creationId xmlns:a16="http://schemas.microsoft.com/office/drawing/2014/main" id="{56EE80D7-F4C0-067F-FBC8-6211170533BB}"/>
              </a:ext>
            </a:extLst>
          </p:cNvPr>
          <p:cNvSpPr txBox="1"/>
          <p:nvPr/>
        </p:nvSpPr>
        <p:spPr>
          <a:xfrm>
            <a:off x="258856" y="1862669"/>
            <a:ext cx="5149660" cy="277933"/>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1204" b="0" i="0" u="none" strike="noStrike" kern="1200" cap="none" spc="0" normalizeH="0" baseline="0" noProof="0" dirty="0">
                <a:ln>
                  <a:noFill/>
                </a:ln>
                <a:solidFill>
                  <a:srgbClr val="A02B93"/>
                </a:solidFill>
                <a:effectLst/>
                <a:uLnTx/>
                <a:uFillTx/>
                <a:latin typeface="Segoe UI Semibold" panose="020B0702040204020203" pitchFamily="34" charset="0"/>
                <a:ea typeface="+mn-ea"/>
                <a:cs typeface="Segoe UI Semibold" panose="020B0702040204020203" pitchFamily="34" charset="0"/>
              </a:rPr>
              <a:t>Six reasons to make the move</a:t>
            </a:r>
          </a:p>
        </p:txBody>
      </p:sp>
      <p:sp>
        <p:nvSpPr>
          <p:cNvPr id="8" name="TextBox 7">
            <a:extLst>
              <a:ext uri="{FF2B5EF4-FFF2-40B4-BE49-F238E27FC236}">
                <a16:creationId xmlns:a16="http://schemas.microsoft.com/office/drawing/2014/main" id="{601FF6E1-F677-B0AD-B5CE-2713575B2F64}"/>
              </a:ext>
            </a:extLst>
          </p:cNvPr>
          <p:cNvSpPr txBox="1"/>
          <p:nvPr/>
        </p:nvSpPr>
        <p:spPr>
          <a:xfrm>
            <a:off x="365497" y="3338808"/>
            <a:ext cx="231178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Intelligence from Microsoft Graph data - files, email, chat, meetings, people, etc. to tune Copilot to your organizational and role context</a:t>
            </a:r>
          </a:p>
        </p:txBody>
      </p:sp>
      <p:pic>
        <p:nvPicPr>
          <p:cNvPr id="11" name="Picture 2" descr="The Researcher agent in Microsoft 365 Copilot with an option to try Claude">
            <a:extLst>
              <a:ext uri="{FF2B5EF4-FFF2-40B4-BE49-F238E27FC236}">
                <a16:creationId xmlns:a16="http://schemas.microsoft.com/office/drawing/2014/main" id="{12B6BA85-63D9-453F-BC90-FCEAC94A933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534" t="18346" r="11032" b="36645"/>
          <a:stretch>
            <a:fillRect/>
          </a:stretch>
        </p:blipFill>
        <p:spPr bwMode="auto">
          <a:xfrm>
            <a:off x="2925493" y="4336164"/>
            <a:ext cx="2472735" cy="778323"/>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D7632BAB-898C-83C9-F667-A36F84928837}"/>
              </a:ext>
            </a:extLst>
          </p:cNvPr>
          <p:cNvGrpSpPr/>
          <p:nvPr/>
        </p:nvGrpSpPr>
        <p:grpSpPr>
          <a:xfrm>
            <a:off x="679074" y="2632120"/>
            <a:ext cx="1702830" cy="656424"/>
            <a:chOff x="740180" y="5452436"/>
            <a:chExt cx="2335309" cy="900239"/>
          </a:xfrm>
        </p:grpSpPr>
        <p:grpSp>
          <p:nvGrpSpPr>
            <p:cNvPr id="23" name="Group 22">
              <a:extLst>
                <a:ext uri="{FF2B5EF4-FFF2-40B4-BE49-F238E27FC236}">
                  <a16:creationId xmlns:a16="http://schemas.microsoft.com/office/drawing/2014/main" id="{1001A125-F400-9F30-B6CD-245AE0680D47}"/>
                </a:ext>
              </a:extLst>
            </p:cNvPr>
            <p:cNvGrpSpPr/>
            <p:nvPr/>
          </p:nvGrpSpPr>
          <p:grpSpPr>
            <a:xfrm>
              <a:off x="740180" y="5452436"/>
              <a:ext cx="864342" cy="900239"/>
              <a:chOff x="939058" y="4083045"/>
              <a:chExt cx="2354831" cy="2452628"/>
            </a:xfrm>
          </p:grpSpPr>
          <p:sp>
            <p:nvSpPr>
              <p:cNvPr id="42" name="Rectangle: Rounded Corners 41">
                <a:extLst>
                  <a:ext uri="{FF2B5EF4-FFF2-40B4-BE49-F238E27FC236}">
                    <a16:creationId xmlns:a16="http://schemas.microsoft.com/office/drawing/2014/main" id="{BA8A16B4-C881-249F-5869-858CFF95C769}"/>
                  </a:ext>
                </a:extLst>
              </p:cNvPr>
              <p:cNvSpPr/>
              <p:nvPr/>
            </p:nvSpPr>
            <p:spPr bwMode="auto">
              <a:xfrm>
                <a:off x="939058" y="4083045"/>
                <a:ext cx="2354831" cy="2354829"/>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971475"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43" name="Picture 10">
                <a:extLst>
                  <a:ext uri="{FF2B5EF4-FFF2-40B4-BE49-F238E27FC236}">
                    <a16:creationId xmlns:a16="http://schemas.microsoft.com/office/drawing/2014/main" id="{EB5A0F39-27D2-6292-0B99-07DC0821A7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Microsoft 365 Copilot UI Icon">
                <a:extLst>
                  <a:ext uri="{FF2B5EF4-FFF2-40B4-BE49-F238E27FC236}">
                    <a16:creationId xmlns:a16="http://schemas.microsoft.com/office/drawing/2014/main" id="{F58020F8-1C61-EA21-8E2E-0E6981BA84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B3D2D29E-49AC-D300-37AF-55A1B68A3FED}"/>
                  </a:ext>
                </a:extLst>
              </p:cNvPr>
              <p:cNvSpPr txBox="1"/>
              <p:nvPr/>
            </p:nvSpPr>
            <p:spPr>
              <a:xfrm>
                <a:off x="1219899" y="5979427"/>
                <a:ext cx="1793148" cy="556246"/>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dirty="0">
                    <a:ln>
                      <a:noFill/>
                    </a:ln>
                    <a:solidFill>
                      <a:srgbClr val="000000"/>
                    </a:solidFill>
                    <a:effectLst/>
                    <a:uLnTx/>
                    <a:uFillTx/>
                    <a:latin typeface="Segoe UI"/>
                    <a:ea typeface="+mn-ea"/>
                    <a:cs typeface="+mn-cs"/>
                  </a:rPr>
                  <a:t>You at work</a:t>
                </a:r>
              </a:p>
            </p:txBody>
          </p:sp>
        </p:grpSp>
        <p:grpSp>
          <p:nvGrpSpPr>
            <p:cNvPr id="24" name="Group 23">
              <a:extLst>
                <a:ext uri="{FF2B5EF4-FFF2-40B4-BE49-F238E27FC236}">
                  <a16:creationId xmlns:a16="http://schemas.microsoft.com/office/drawing/2014/main" id="{5D737107-FDBB-0860-6E3D-6EF35FBB6AE2}"/>
                </a:ext>
              </a:extLst>
            </p:cNvPr>
            <p:cNvGrpSpPr/>
            <p:nvPr/>
          </p:nvGrpSpPr>
          <p:grpSpPr>
            <a:xfrm>
              <a:off x="1604522" y="5574713"/>
              <a:ext cx="907112" cy="624417"/>
              <a:chOff x="1604522" y="5574713"/>
              <a:chExt cx="655735" cy="624417"/>
            </a:xfrm>
          </p:grpSpPr>
          <p:cxnSp>
            <p:nvCxnSpPr>
              <p:cNvPr id="40" name="Straight Connector 39">
                <a:extLst>
                  <a:ext uri="{FF2B5EF4-FFF2-40B4-BE49-F238E27FC236}">
                    <a16:creationId xmlns:a16="http://schemas.microsoft.com/office/drawing/2014/main" id="{0605321B-7907-FA47-F2B4-4B4B2F2643A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CA69B8-3FE4-9FAA-BDA2-56F29DE7547F}"/>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1494CCCB-C2B2-6968-582B-25A3988D7842}"/>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1DFB0DA-ACF5-D5C7-0108-72726B49C86D}"/>
                </a:ext>
              </a:extLst>
            </p:cNvPr>
            <p:cNvGrpSpPr/>
            <p:nvPr/>
          </p:nvGrpSpPr>
          <p:grpSpPr>
            <a:xfrm>
              <a:off x="2346143" y="5458784"/>
              <a:ext cx="729346" cy="244409"/>
              <a:chOff x="2229303" y="5458784"/>
              <a:chExt cx="729346" cy="244409"/>
            </a:xfrm>
          </p:grpSpPr>
          <p:sp>
            <p:nvSpPr>
              <p:cNvPr id="37" name="Rectangle: Rounded Corners 36">
                <a:extLst>
                  <a:ext uri="{FF2B5EF4-FFF2-40B4-BE49-F238E27FC236}">
                    <a16:creationId xmlns:a16="http://schemas.microsoft.com/office/drawing/2014/main" id="{1A71A842-9509-19CE-F0D3-1E72E63FA998}"/>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8" name="Picture 18" descr="A blue and purple clock with a black background&#10;&#10;AI-generated content may be incorrect.">
                <a:extLst>
                  <a:ext uri="{FF2B5EF4-FFF2-40B4-BE49-F238E27FC236}">
                    <a16:creationId xmlns:a16="http://schemas.microsoft.com/office/drawing/2014/main" id="{165FF879-8A1F-AFA8-95EA-0E25650178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D313A686-0094-F175-04CC-760BDE64DB6C}"/>
                  </a:ext>
                </a:extLst>
              </p:cNvPr>
              <p:cNvSpPr txBox="1"/>
              <p:nvPr/>
            </p:nvSpPr>
            <p:spPr>
              <a:xfrm>
                <a:off x="2397169" y="5481150"/>
                <a:ext cx="561480"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Memory​</a:t>
                </a:r>
              </a:p>
            </p:txBody>
          </p:sp>
        </p:grpSp>
        <p:grpSp>
          <p:nvGrpSpPr>
            <p:cNvPr id="27" name="Group 26">
              <a:extLst>
                <a:ext uri="{FF2B5EF4-FFF2-40B4-BE49-F238E27FC236}">
                  <a16:creationId xmlns:a16="http://schemas.microsoft.com/office/drawing/2014/main" id="{CA87A3CF-C88C-5E0E-10B5-FC47946CBD88}"/>
                </a:ext>
              </a:extLst>
            </p:cNvPr>
            <p:cNvGrpSpPr/>
            <p:nvPr/>
          </p:nvGrpSpPr>
          <p:grpSpPr>
            <a:xfrm>
              <a:off x="1830270" y="5767854"/>
              <a:ext cx="788352" cy="246357"/>
              <a:chOff x="1713430" y="5767854"/>
              <a:chExt cx="788352" cy="246357"/>
            </a:xfrm>
          </p:grpSpPr>
          <p:sp>
            <p:nvSpPr>
              <p:cNvPr id="33" name="Rectangle: Rounded Corners 32">
                <a:extLst>
                  <a:ext uri="{FF2B5EF4-FFF2-40B4-BE49-F238E27FC236}">
                    <a16:creationId xmlns:a16="http://schemas.microsoft.com/office/drawing/2014/main" id="{1298C92B-F165-E1E9-B8D1-3DACB6DFD5F6}"/>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5" name="Picture 16">
                <a:extLst>
                  <a:ext uri="{FF2B5EF4-FFF2-40B4-BE49-F238E27FC236}">
                    <a16:creationId xmlns:a16="http://schemas.microsoft.com/office/drawing/2014/main" id="{D5E3F14A-85B7-024E-91BA-4A0C5DAF452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00A0C17-F14E-3277-7772-0DE2DC7BDACA}"/>
                  </a:ext>
                </a:extLst>
              </p:cNvPr>
              <p:cNvSpPr txBox="1"/>
              <p:nvPr/>
            </p:nvSpPr>
            <p:spPr>
              <a:xfrm>
                <a:off x="1909267" y="5794600"/>
                <a:ext cx="592515"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Inference</a:t>
                </a:r>
              </a:p>
            </p:txBody>
          </p:sp>
        </p:grpSp>
        <p:grpSp>
          <p:nvGrpSpPr>
            <p:cNvPr id="28" name="Group 27">
              <a:extLst>
                <a:ext uri="{FF2B5EF4-FFF2-40B4-BE49-F238E27FC236}">
                  <a16:creationId xmlns:a16="http://schemas.microsoft.com/office/drawing/2014/main" id="{98CC4A67-330F-1576-DF83-614A129EB6D6}"/>
                </a:ext>
              </a:extLst>
            </p:cNvPr>
            <p:cNvGrpSpPr/>
            <p:nvPr/>
          </p:nvGrpSpPr>
          <p:grpSpPr>
            <a:xfrm>
              <a:off x="2420356" y="6076925"/>
              <a:ext cx="629238" cy="245504"/>
              <a:chOff x="2303516" y="6076925"/>
              <a:chExt cx="629238" cy="245504"/>
            </a:xfrm>
          </p:grpSpPr>
          <p:sp>
            <p:nvSpPr>
              <p:cNvPr id="29" name="Rectangle: Rounded Corners 28">
                <a:extLst>
                  <a:ext uri="{FF2B5EF4-FFF2-40B4-BE49-F238E27FC236}">
                    <a16:creationId xmlns:a16="http://schemas.microsoft.com/office/drawing/2014/main" id="{367BFF53-095C-8B29-9A84-8237FE70AE6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0" name="Picture 14">
                <a:extLst>
                  <a:ext uri="{FF2B5EF4-FFF2-40B4-BE49-F238E27FC236}">
                    <a16:creationId xmlns:a16="http://schemas.microsoft.com/office/drawing/2014/main" id="{8FE87FC6-312F-3301-AA2E-DFDE303986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A8A9252-340C-9E1B-93E2-4B5949CB47B5}"/>
                  </a:ext>
                </a:extLst>
              </p:cNvPr>
              <p:cNvSpPr txBox="1"/>
              <p:nvPr/>
            </p:nvSpPr>
            <p:spPr>
              <a:xfrm>
                <a:off x="2475886" y="6102818"/>
                <a:ext cx="437832"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Data</a:t>
                </a:r>
              </a:p>
            </p:txBody>
          </p:sp>
        </p:grpSp>
      </p:grpSp>
      <p:pic>
        <p:nvPicPr>
          <p:cNvPr id="55" name="Picture 54">
            <a:extLst>
              <a:ext uri="{FF2B5EF4-FFF2-40B4-BE49-F238E27FC236}">
                <a16:creationId xmlns:a16="http://schemas.microsoft.com/office/drawing/2014/main" id="{837ABC3E-2BEE-C186-F758-4074C5913C4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l="-8102" t="-130" r="-8102" b="-130"/>
          <a:stretch>
            <a:fillRect/>
          </a:stretch>
        </p:blipFill>
        <p:spPr>
          <a:xfrm>
            <a:off x="3315600" y="2568150"/>
            <a:ext cx="1689096" cy="771850"/>
          </a:xfrm>
          <a:prstGeom prst="roundRect">
            <a:avLst>
              <a:gd name="adj" fmla="val 5527"/>
            </a:avLst>
          </a:prstGeom>
          <a:solidFill>
            <a:srgbClr val="FFFFFF"/>
          </a:solidFill>
          <a:ln>
            <a:solidFill>
              <a:schemeClr val="bg1">
                <a:lumMod val="85000"/>
              </a:schemeClr>
            </a:solidFill>
          </a:ln>
          <a:effectLst/>
        </p:spPr>
      </p:pic>
      <p:sp>
        <p:nvSpPr>
          <p:cNvPr id="56" name="TextBox 55">
            <a:extLst>
              <a:ext uri="{FF2B5EF4-FFF2-40B4-BE49-F238E27FC236}">
                <a16:creationId xmlns:a16="http://schemas.microsoft.com/office/drawing/2014/main" id="{1847825C-B731-7DCF-E4D7-2331BF81B1B0}"/>
              </a:ext>
            </a:extLst>
          </p:cNvPr>
          <p:cNvSpPr txBox="1"/>
          <p:nvPr/>
        </p:nvSpPr>
        <p:spPr>
          <a:xfrm>
            <a:off x="2999640" y="3338808"/>
            <a:ext cx="2321017"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Additional functionalities such as Copilot Search, Copilot Notebooks, inbox prioritization, rewriting, PowerPoint narrative builder, etc.</a:t>
            </a:r>
          </a:p>
        </p:txBody>
      </p:sp>
      <p:pic>
        <p:nvPicPr>
          <p:cNvPr id="1025" name="Picture 1024">
            <a:extLst>
              <a:ext uri="{FF2B5EF4-FFF2-40B4-BE49-F238E27FC236}">
                <a16:creationId xmlns:a16="http://schemas.microsoft.com/office/drawing/2014/main" id="{74827F92-2927-96BC-D722-73532613E9B2}"/>
              </a:ext>
            </a:extLst>
          </p:cNvPr>
          <p:cNvPicPr>
            <a:picLocks noChangeAspect="1"/>
          </p:cNvPicPr>
          <p:nvPr/>
        </p:nvPicPr>
        <p:blipFill>
          <a:blip r:embed="rId14"/>
          <a:srcRect t="2996" b="12951"/>
          <a:stretch>
            <a:fillRect/>
          </a:stretch>
        </p:blipFill>
        <p:spPr>
          <a:xfrm>
            <a:off x="527238" y="6170022"/>
            <a:ext cx="1992609" cy="936553"/>
          </a:xfrm>
          <a:prstGeom prst="rect">
            <a:avLst/>
          </a:prstGeom>
          <a:ln>
            <a:solidFill>
              <a:schemeClr val="bg1">
                <a:lumMod val="85000"/>
              </a:schemeClr>
            </a:solidFill>
          </a:ln>
          <a:effectLst>
            <a:outerShdw blurRad="50800" dist="38100" algn="l" rotWithShape="0">
              <a:prstClr val="black">
                <a:alpha val="10000"/>
              </a:prstClr>
            </a:outerShdw>
          </a:effectLst>
        </p:spPr>
      </p:pic>
      <p:pic>
        <p:nvPicPr>
          <p:cNvPr id="1028" name="Picture 1027">
            <a:extLst>
              <a:ext uri="{FF2B5EF4-FFF2-40B4-BE49-F238E27FC236}">
                <a16:creationId xmlns:a16="http://schemas.microsoft.com/office/drawing/2014/main" id="{B5F7891B-4BD4-0460-C0B2-BCEF58C9C10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7730" y="4336211"/>
            <a:ext cx="2181784" cy="808831"/>
          </a:xfrm>
          <a:prstGeom prst="rect">
            <a:avLst/>
          </a:prstGeom>
        </p:spPr>
      </p:pic>
    </p:spTree>
    <p:extLst>
      <p:ext uri="{BB962C8B-B14F-4D97-AF65-F5344CB8AC3E}">
        <p14:creationId xmlns:p14="http://schemas.microsoft.com/office/powerpoint/2010/main" val="50275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marL="0" marR="0" lvl="0" indent="0" algn="l" defTabSz="679815"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marL="0" marR="0" lvl="0" indent="0" algn="ctr" defTabSz="932544" rtl="0" eaLnBrk="1" fontAlgn="auto" latinLnBrk="0" hangingPunct="1">
              <a:lnSpc>
                <a:spcPct val="100000"/>
              </a:lnSpc>
              <a:spcBef>
                <a:spcPct val="20000"/>
              </a:spcBef>
              <a:spcAft>
                <a:spcPts val="0"/>
              </a:spcAft>
              <a:buClrTx/>
              <a:buSzPct val="90000"/>
              <a:buFontTx/>
              <a:buNone/>
              <a:tabLst/>
              <a:defRPr/>
            </a:pPr>
            <a:endParaRPr kumimoji="0" lang="en-US" sz="12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$30 </a:t>
                      </a:r>
                      <a:b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br>
                      <a:r>
                        <a:rPr lang="en-US" sz="800" b="0" i="0" u="none" strike="noStrike" kern="1200" cap="none" spc="0" normalizeH="0" baseline="0" err="1">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pu</a:t>
                      </a: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700" b="0" i="0" u="none" strike="noStrike" kern="1200" cap="none" spc="0" normalizeH="0" baseline="0">
                          <a:ln>
                            <a:noFill/>
                          </a:ln>
                          <a:solidFill>
                            <a:srgbClr val="C03BC4"/>
                          </a:solidFill>
                          <a:effectLst/>
                          <a:uLnTx/>
                          <a:uFillTx/>
                          <a:latin typeface="Segoe UI Semibold" panose="020B0702040204020203" pitchFamily="34" charset="0"/>
                          <a:ea typeface="+mn-ea"/>
                          <a:cs typeface="Segoe UI Semibold" panose="020B0702040204020203" pitchFamily="34" charset="0"/>
                        </a:rPr>
                        <a:t> </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creation</a:t>
                      </a:r>
                      <a:r>
                        <a:rPr lang="en-US" sz="700" b="0">
                          <a:solidFill>
                            <a:schemeClr val="tx2"/>
                          </a:solidFill>
                          <a:latin typeface="Segoe UI" panose="020B0502040204020203" pitchFamily="34" charset="0"/>
                          <a:ea typeface="+mn-ea"/>
                          <a:cs typeface="Segoe UI" panose="020B0502040204020203" pitchFamily="34" charset="0"/>
                        </a:rPr>
                        <a:t> </a:t>
                      </a:r>
                      <a:r>
                        <a:rPr lang="en-US" sz="700" b="0" kern="1200" noProof="0">
                          <a:solidFill>
                            <a:schemeClr val="tx2"/>
                          </a:solidFill>
                          <a:latin typeface="Segoe UI" panose="020B0502040204020203" pitchFamily="34" charset="0"/>
                          <a:ea typeface="+mn-ea"/>
                          <a:cs typeface="Segoe UI" panose="020B0502040204020203" pitchFamily="34" charset="0"/>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9100" y="353708"/>
            <a:ext cx="4912362" cy="276840"/>
          </a:xfrm>
          <a:prstGeom prst="rect">
            <a:avLst/>
          </a:prstGeom>
          <a:noFill/>
          <a:ln/>
        </p:spPr>
        <p:txBody>
          <a:bodyPr wrap="square" lIns="0" tIns="0" rIns="0" bIns="0" rtlCol="0" anchor="t" anchorCtr="0">
            <a:spAutoFit/>
          </a:bodyPr>
          <a:lstStyle/>
          <a:p>
            <a:pPr marL="0" marR="0" lvl="0" indent="0" algn="l" defTabSz="914065"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B740C5"/>
                </a:solidFill>
                <a:effectLst/>
                <a:uLnTx/>
                <a:uFillTx/>
                <a:latin typeface="Segoe UI Semibold"/>
                <a:ea typeface="+mn-ea"/>
                <a:cs typeface="Segoe UI Semibold"/>
              </a:rPr>
              <a:t>Detailed capability comparison</a:t>
            </a: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marL="0" marR="0" lvl="0" indent="0" algn="r" defTabSz="935913"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Included </a:t>
            </a:r>
            <a:r>
              <a:rPr kumimoji="0" lang="en-US" sz="903"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l-GR" sz="9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903" b="0" i="0" u="none" strike="noStrike" kern="1200" cap="none" spc="0" normalizeH="0" baseline="0" noProof="0">
                <a:ln>
                  <a:noFill/>
                </a:ln>
                <a:solidFill>
                  <a:srgbClr val="8661C5"/>
                </a:solidFill>
                <a:effectLst/>
                <a:uLnTx/>
                <a:uFillTx/>
                <a:latin typeface="Segoe UI Semibold" panose="020B0702040204020203" pitchFamily="34" charset="0"/>
                <a:ea typeface="+mn-ea"/>
                <a:cs typeface="Segoe UI Semibold" panose="020B0702040204020203" pitchFamily="34" charset="0"/>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Limited</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8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803" b="0" i="0" u="none" strike="noStrike" kern="1200" cap="none" spc="0" normalizeH="0" baseline="58000" noProof="0">
                <a:ln>
                  <a:noFill/>
                </a:ln>
                <a:solidFill>
                  <a:srgbClr val="C03BC4">
                    <a:lumMod val="75000"/>
                  </a:srgbClr>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Copilot Chat</a:t>
            </a:r>
            <a:r>
              <a:rPr kumimoji="0" lang="en-US" sz="702" b="0" i="0" u="none" strike="noStrike" kern="1200" cap="none" spc="0" normalizeH="0" baseline="3000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1</a:t>
            </a:r>
            <a:endPar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10221" y="798677"/>
            <a:ext cx="554010" cy="108085"/>
          </a:xfrm>
          <a:prstGeom prst="rect">
            <a:avLst/>
          </a:prstGeom>
          <a:noFill/>
        </p:spPr>
        <p:txBody>
          <a:bodyPr wrap="squar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M365 Copilot</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Applies to  customers with 2K or more M365 seats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Lexical search included for Copilot Chat users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Access to brand kits and surveys requires M365 Copilot license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Available via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hlinkClick r:id="rId4"/>
              </a:rPr>
              <a:t>Frontier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program, pricing final upon GA</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Copilot Chat users access Copilot Mode w/web data and open documents only</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For unlicensed users, Copilot Chat in Outlook reasons over organizational data in Outlook, Teams, OneDrive, and SharePoint (limited).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Researcher and Analyst, have combined limit of 25 interactions </a:t>
            </a:r>
            <a:r>
              <a:rPr kumimoji="0" lang="en-US" sz="552" b="0" i="0" u="none" strike="noStrike" kern="1200" cap="none" spc="0" normalizeH="0" baseline="0" noProof="0" err="1">
                <a:ln>
                  <a:noFill/>
                </a:ln>
                <a:solidFill>
                  <a:srgbClr val="091F2C"/>
                </a:solidFill>
                <a:effectLst/>
                <a:uLnTx/>
                <a:uFillTx/>
                <a:latin typeface="Segoe UI" panose="020B0502040204020203" pitchFamily="34" charset="0"/>
                <a:ea typeface="+mn-ea"/>
                <a:cs typeface="Segoe UI" panose="020B0502040204020203" pitchFamily="34" charset="0"/>
              </a:rPr>
              <a:t>pu</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/pm</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1842"/>
            <a:ext cx="5677715" cy="8018207"/>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8" y="565908"/>
            <a:ext cx="4229895"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dirty="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dirty="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dirty="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dirty="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grpSp>
        <p:nvGrpSpPr>
          <p:cNvPr id="4" name="Group 3">
            <a:extLst>
              <a:ext uri="{FF2B5EF4-FFF2-40B4-BE49-F238E27FC236}">
                <a16:creationId xmlns:a16="http://schemas.microsoft.com/office/drawing/2014/main" id="{943FF451-9415-375B-1AD2-577DDF648052}"/>
              </a:ext>
            </a:extLst>
          </p:cNvPr>
          <p:cNvGrpSpPr/>
          <p:nvPr/>
        </p:nvGrpSpPr>
        <p:grpSpPr>
          <a:xfrm>
            <a:off x="262356" y="1691352"/>
            <a:ext cx="1640799" cy="2800463"/>
            <a:chOff x="291976" y="1670703"/>
            <a:chExt cx="1640799" cy="2800463"/>
          </a:xfrm>
        </p:grpSpPr>
        <p:sp>
          <p:nvSpPr>
            <p:cNvPr id="6" name="Rectangle: Rounded Corners 5">
              <a:extLst>
                <a:ext uri="{FF2B5EF4-FFF2-40B4-BE49-F238E27FC236}">
                  <a16:creationId xmlns:a16="http://schemas.microsoft.com/office/drawing/2014/main" id="{1F261787-A532-6E06-5DBB-DC560E196235}"/>
                </a:ext>
              </a:extLst>
            </p:cNvPr>
            <p:cNvSpPr/>
            <p:nvPr/>
          </p:nvSpPr>
          <p:spPr bwMode="auto">
            <a:xfrm>
              <a:off x="291976" y="1670703"/>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2D7F975A-EFFC-ED2A-C751-F90289DD4D12}"/>
                </a:ext>
              </a:extLst>
            </p:cNvPr>
            <p:cNvSpPr/>
            <p:nvPr/>
          </p:nvSpPr>
          <p:spPr bwMode="auto">
            <a:xfrm>
              <a:off x="458914" y="3340813"/>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grpSp>
          <p:nvGrpSpPr>
            <p:cNvPr id="8" name="Group 7">
              <a:extLst>
                <a:ext uri="{FF2B5EF4-FFF2-40B4-BE49-F238E27FC236}">
                  <a16:creationId xmlns:a16="http://schemas.microsoft.com/office/drawing/2014/main" id="{B5803776-5E8B-2132-6273-96CF7F5813DA}"/>
                </a:ext>
              </a:extLst>
            </p:cNvPr>
            <p:cNvGrpSpPr/>
            <p:nvPr/>
          </p:nvGrpSpPr>
          <p:grpSpPr>
            <a:xfrm>
              <a:off x="534483" y="3435981"/>
              <a:ext cx="1177379" cy="390472"/>
              <a:chOff x="534483" y="3435981"/>
              <a:chExt cx="1614691" cy="535504"/>
            </a:xfrm>
          </p:grpSpPr>
          <p:pic>
            <p:nvPicPr>
              <p:cNvPr id="10" name="Picture 9">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4483" y="3435981"/>
                <a:ext cx="529765" cy="535504"/>
              </a:xfrm>
              <a:prstGeom prst="rect">
                <a:avLst/>
              </a:prstGeom>
            </p:spPr>
          </p:pic>
          <p:pic>
            <p:nvPicPr>
              <p:cNvPr id="11"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643870" y="3466181"/>
                <a:ext cx="505304" cy="505304"/>
              </a:xfrm>
              <a:prstGeom prst="rect">
                <a:avLst/>
              </a:prstGeom>
            </p:spPr>
          </p:pic>
          <p:grpSp>
            <p:nvGrpSpPr>
              <p:cNvPr id="12" name="Group 11">
                <a:extLst>
                  <a:ext uri="{FF2B5EF4-FFF2-40B4-BE49-F238E27FC236}">
                    <a16:creationId xmlns:a16="http://schemas.microsoft.com/office/drawing/2014/main" id="{F1199295-2F99-24A2-64CB-B2F820A1503C}"/>
                  </a:ext>
                </a:extLst>
              </p:cNvPr>
              <p:cNvGrpSpPr/>
              <p:nvPr/>
            </p:nvGrpSpPr>
            <p:grpSpPr>
              <a:xfrm>
                <a:off x="1194039" y="3543713"/>
                <a:ext cx="320040" cy="320040"/>
                <a:chOff x="1194039" y="3543713"/>
                <a:chExt cx="479596" cy="479596"/>
              </a:xfrm>
            </p:grpSpPr>
            <p:sp>
              <p:nvSpPr>
                <p:cNvPr id="16" name="Oval 15">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1194039" y="3543713"/>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500" tIns="26250" rIns="52500" bIns="26250" numCol="1" spcCol="0" rtlCol="0" fromWordArt="0" anchor="ctr" anchorCtr="0" forceAA="0" compatLnSpc="1">
                  <a:prstTxWarp prst="textNoShape">
                    <a:avLst/>
                  </a:prstTxWarp>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18"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04758" y="3654432"/>
                  <a:ext cx="258158" cy="258158"/>
                </a:xfrm>
                <a:prstGeom prst="rect">
                  <a:avLst/>
                </a:prstGeom>
                <a:effectLst>
                  <a:outerShdw blurRad="63500" dist="63500" dir="2700000" algn="ctr" rotWithShape="0">
                    <a:schemeClr val="bg1">
                      <a:alpha val="20000"/>
                    </a:schemeClr>
                  </a:outerShdw>
                </a:effectLst>
              </p:spPr>
            </p:pic>
          </p:grpSp>
        </p:grpSp>
        <p:sp>
          <p:nvSpPr>
            <p:cNvPr id="9" name="TextBox 4">
              <a:extLst>
                <a:ext uri="{FF2B5EF4-FFF2-40B4-BE49-F238E27FC236}">
                  <a16:creationId xmlns:a16="http://schemas.microsoft.com/office/drawing/2014/main" id="{40A7A011-A5B1-B465-6A3F-B4941EFA893C}"/>
                </a:ext>
              </a:extLst>
            </p:cNvPr>
            <p:cNvSpPr txBox="1"/>
            <p:nvPr/>
          </p:nvSpPr>
          <p:spPr>
            <a:xfrm>
              <a:off x="395645" y="2076182"/>
              <a:ext cx="1436982" cy="994183"/>
            </a:xfrm>
            <a:prstGeom prst="rect">
              <a:avLst/>
            </a:prstGeom>
            <a:noFill/>
          </p:spPr>
          <p:txBody>
            <a:bodyPr wrap="square" lIns="0" tIns="0" rIns="0" bIns="0" anchor="t">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dirty="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1593" y="-8783"/>
            <a:ext cx="5664190" cy="6840784"/>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704" y="4338221"/>
            <a:ext cx="5672781" cy="367839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1593" y="2255"/>
            <a:ext cx="5664191" cy="139000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US"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879998" y="-8783"/>
            <a:ext cx="4790082" cy="1482784"/>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271927" y="636695"/>
            <a:ext cx="5146766" cy="30881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540" rtl="0" eaLnBrk="1" fontAlgn="auto" latinLnBrk="0" hangingPunct="1">
              <a:lnSpc>
                <a:spcPct val="100000"/>
              </a:lnSpc>
              <a:spcBef>
                <a:spcPts val="0"/>
              </a:spcBef>
              <a:spcAft>
                <a:spcPts val="0"/>
              </a:spcAft>
              <a:buClrTx/>
              <a:buSzTx/>
              <a:buFontTx/>
              <a:buNone/>
              <a:tabLst/>
              <a:defRPr/>
            </a:pPr>
            <a:r>
              <a:rPr kumimoji="0" lang="en-US" sz="2007" b="0" i="0" u="none" strike="noStrike" kern="1200" cap="none" spc="-23" normalizeH="0" baseline="0" noProof="0">
                <a:ln>
                  <a:noFill/>
                </a:ln>
                <a:solidFill>
                  <a:prstClr val="black"/>
                </a:solidFill>
                <a:effectLst/>
                <a:uLnTx/>
                <a:uFillTx/>
                <a:latin typeface="Segoe Sans Display Semibold"/>
                <a:ea typeface="+mn-ea"/>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6616" y="261580"/>
            <a:ext cx="796267" cy="167208"/>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271930" y="1051714"/>
            <a:ext cx="5146767" cy="185184"/>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218" rtl="0" eaLnBrk="1" fontAlgn="auto" latinLnBrk="0" hangingPunct="1">
              <a:lnSpc>
                <a:spcPct val="100000"/>
              </a:lnSpc>
              <a:spcBef>
                <a:spcPts val="0"/>
              </a:spcBef>
              <a:spcAft>
                <a:spcPts val="0"/>
              </a:spcAft>
              <a:buClrTx/>
              <a:buSzTx/>
              <a:buFontTx/>
              <a:buNone/>
              <a:tabLst/>
              <a:defRPr/>
            </a:pPr>
            <a:r>
              <a:rPr kumimoji="0" lang="en-US" sz="1203"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1878331" y="1500662"/>
            <a:ext cx="1636657" cy="266108"/>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8979"/>
            </a:xfrm>
            <a:prstGeom prst="rect">
              <a:avLst/>
            </a:prstGeom>
            <a:grp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Chat</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3607516" y="1500662"/>
            <a:ext cx="1636657" cy="266108"/>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8979"/>
            </a:xfrm>
            <a:prstGeom prst="rect">
              <a:avLst/>
            </a:prstGeom>
            <a:no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Business</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262839" y="1733327"/>
            <a:ext cx="5114487" cy="5931647"/>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395993" y="1838051"/>
          <a:ext cx="4848181" cy="5722050"/>
        </p:xfrm>
        <a:graphic>
          <a:graphicData uri="http://schemas.openxmlformats.org/drawingml/2006/table">
            <a:tbl>
              <a:tblPr firstRow="1" bandRow="1">
                <a:tableStyleId>{5940675A-B579-460E-94D1-54222C63F5DA}</a:tableStyleId>
              </a:tblPr>
              <a:tblGrid>
                <a:gridCol w="1439535">
                  <a:extLst>
                    <a:ext uri="{9D8B030D-6E8A-4147-A177-3AD203B41FA5}">
                      <a16:colId xmlns:a16="http://schemas.microsoft.com/office/drawing/2014/main" val="2609573218"/>
                    </a:ext>
                  </a:extLst>
                </a:gridCol>
                <a:gridCol w="1699120">
                  <a:extLst>
                    <a:ext uri="{9D8B030D-6E8A-4147-A177-3AD203B41FA5}">
                      <a16:colId xmlns:a16="http://schemas.microsoft.com/office/drawing/2014/main" val="2021809884"/>
                    </a:ext>
                  </a:extLst>
                </a:gridCol>
                <a:gridCol w="1709526">
                  <a:extLst>
                    <a:ext uri="{9D8B030D-6E8A-4147-A177-3AD203B41FA5}">
                      <a16:colId xmlns:a16="http://schemas.microsoft.com/office/drawing/2014/main" val="230707671"/>
                    </a:ext>
                  </a:extLst>
                </a:gridCol>
              </a:tblGrid>
              <a:tr h="84256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304339">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217908">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Creates clear reports and presentations from complex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489557" y="1855341"/>
            <a:ext cx="975333" cy="688902"/>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489557" y="2442211"/>
            <a:ext cx="975333" cy="165480"/>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03" y="2444577"/>
              <a:ext cx="809516"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491259" y="2862932"/>
            <a:ext cx="973631" cy="688902"/>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489557" y="3510234"/>
            <a:ext cx="975333" cy="165480"/>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840" y="2444577"/>
              <a:ext cx="23564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491259" y="4028909"/>
            <a:ext cx="973631" cy="69115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489557" y="4685033"/>
            <a:ext cx="975333" cy="165480"/>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212" y="2444577"/>
              <a:ext cx="48090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487853" y="5282363"/>
            <a:ext cx="973631" cy="69115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483557" y="5906517"/>
            <a:ext cx="975333" cy="165480"/>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0932" y="2444577"/>
              <a:ext cx="13946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483556" y="6507058"/>
            <a:ext cx="981333" cy="840872"/>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4333" y="2444577"/>
                <a:ext cx="35266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523220"/>
          </a:xfrm>
          <a:prstGeom prst="rect">
            <a:avLst/>
          </a:prstGeom>
          <a:noFill/>
        </p:spPr>
        <p:txBody>
          <a:bodyPr wrap="square" lIns="91440" tIns="45720" rIns="91440" bIns="45720" anchor="t">
            <a:spAutoFit/>
          </a:bodyPr>
          <a:lstStyle/>
          <a:p>
            <a:pPr algn="ctr">
              <a:defRPr/>
            </a:pPr>
            <a:r>
              <a:rPr kumimoji="0" lang="en-IN" sz="1400" b="1" i="0" u="none" strike="noStrike" kern="1200" cap="none" spc="0" normalizeH="0" baseline="0" noProof="0" dirty="0">
                <a:ln>
                  <a:noFill/>
                </a:ln>
                <a:solidFill>
                  <a:prstClr val="white"/>
                </a:solidFill>
                <a:effectLst/>
                <a:uLnTx/>
                <a:uFillTx/>
                <a:latin typeface="Segoe UI Semibold"/>
                <a:ea typeface="Segoe UI Semibold" panose="020B0502040204020203" pitchFamily="34" charset="0"/>
                <a:cs typeface="Segoe UI Semibold"/>
              </a:rPr>
              <a:t>Take advantage of the limited time offer on </a:t>
            </a:r>
            <a:r>
              <a:rPr lang="en-IN" sz="1400" b="1">
                <a:solidFill>
                  <a:prstClr val="white"/>
                </a:solidFill>
                <a:latin typeface="Segoe UI Semibold"/>
                <a:ea typeface="Segoe UI Semibold" panose="020B0502040204020203" pitchFamily="34" charset="0"/>
                <a:cs typeface="Segoe UI Semibold"/>
              </a:rPr>
              <a:t>Copilot Business, </a:t>
            </a:r>
            <a:r>
              <a:rPr kumimoji="0" lang="en-IN" sz="1400" b="1" i="0" u="none" strike="noStrike" kern="1200" cap="none" spc="0" normalizeH="0" baseline="0" noProof="0">
                <a:ln>
                  <a:noFill/>
                </a:ln>
                <a:solidFill>
                  <a:prstClr val="white"/>
                </a:solidFill>
                <a:effectLst/>
                <a:uLnTx/>
                <a:uFillTx/>
                <a:latin typeface="Segoe UI Semibold"/>
                <a:ea typeface="Segoe UI Semibold" panose="020B0502040204020203" pitchFamily="34" charset="0"/>
                <a:cs typeface="Segoe UI Semibold"/>
              </a:rPr>
              <a:t>Business Premium</a:t>
            </a:r>
            <a:r>
              <a:rPr lang="en-IN" sz="1400" b="1">
                <a:solidFill>
                  <a:prstClr val="white"/>
                </a:solidFill>
                <a:latin typeface="Segoe UI Semibold"/>
                <a:ea typeface="Segoe UI Semibold" panose="020B0502040204020203" pitchFamily="34" charset="0"/>
                <a:cs typeface="Segoe UI Semibold"/>
              </a:rPr>
              <a:t>, and Purview Suite</a:t>
            </a:r>
            <a:endParaRPr lang="en-IN" sz="140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53</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37</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33263" y="6537777"/>
              <a:ext cx="1117294" cy="565146"/>
            </a:xfrm>
            <a:prstGeom prst="rect">
              <a:avLst/>
            </a:prstGeom>
            <a:noFill/>
            <a:ln/>
          </p:spPr>
          <p:txBody>
            <a:bodyPr wrap="non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30</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5A250054-7D7C-2FA3-317D-32D75DB01851}"/>
              </a:ext>
            </a:extLst>
          </p:cNvPr>
          <p:cNvGraphicFramePr>
            <a:graphicFrameLocks noGrp="1"/>
          </p:cNvGraphicFramePr>
          <p:nvPr>
            <p:extLst>
              <p:ext uri="{D42A27DB-BD31-4B8C-83A1-F6EECF244321}">
                <p14:modId xmlns:p14="http://schemas.microsoft.com/office/powerpoint/2010/main" val="1912573490"/>
              </p:ext>
            </p:extLst>
          </p:nvPr>
        </p:nvGraphicFramePr>
        <p:xfrm>
          <a:off x="409573" y="637949"/>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1408803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dirty="0">
              <a:solidFill>
                <a:srgbClr val="FF0000"/>
              </a:solidFill>
              <a:latin typeface="Segoe UI Regular" pitchFamily="34" charset="0"/>
              <a:ea typeface="Segoe UI Regular" pitchFamily="34" charset="-122"/>
            </a:endParaRPr>
          </a:p>
          <a:p>
            <a:pPr lvl="0">
              <a:lnSpc>
                <a:spcPts val="1250"/>
              </a:lnSpc>
              <a:defRPr/>
            </a:pPr>
            <a:r>
              <a:rPr lang="en-US" sz="1000"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dirty="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dirty="0">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dirty="0">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456</TotalTime>
  <Words>1305</Words>
  <Application>Microsoft Office PowerPoint</Application>
  <PresentationFormat>Custom</PresentationFormat>
  <Paragraphs>215</Paragraphs>
  <Slides>6</Slides>
  <Notes>6</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6</vt:i4>
      </vt:variant>
    </vt:vector>
  </HeadingPairs>
  <TitlesOfParts>
    <vt:vector size="23" baseType="lpstr">
      <vt:lpstr>Aptos</vt:lpstr>
      <vt:lpstr>Aptos Display</vt:lpstr>
      <vt:lpstr>Arial</vt:lpstr>
      <vt:lpstr>Calibri</vt:lpstr>
      <vt:lpstr>Segoe Sans Display</vt:lpstr>
      <vt:lpstr>Segoe Sans Display Semibold</vt:lpstr>
      <vt:lpstr>Segoe Sans Display Semilight</vt:lpstr>
      <vt:lpstr>Segoe UI</vt:lpstr>
      <vt:lpstr>Segoe UI Bold</vt:lpstr>
      <vt:lpstr>Segoe UI Regular</vt:lpstr>
      <vt:lpstr>Segoe UI Semibold</vt:lpstr>
      <vt:lpstr>Segoe UI Variable Display Semib</vt:lpstr>
      <vt:lpstr>Wingdings</vt:lpstr>
      <vt:lpstr>Office Theme</vt:lpstr>
      <vt:lpstr>3_CSP Template Diamond 06/23</vt:lpstr>
      <vt:lpstr>1_Office Theme</vt:lpstr>
      <vt:lpstr>2_Office Theme</vt:lpstr>
      <vt:lpstr>PowerPoint Presentation</vt:lpstr>
      <vt:lpstr>PowerPoint Presentation</vt:lpstr>
      <vt:lpstr>Microsoft Purview Suite for Microsoft 365 Business Premium</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32</cp:revision>
  <dcterms:created xsi:type="dcterms:W3CDTF">2026-02-21T17:45:29Z</dcterms:created>
  <dcterms:modified xsi:type="dcterms:W3CDTF">2026-04-30T10:17:48Z</dcterms:modified>
</cp:coreProperties>
</file>